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B1E3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502920" cy="64008"/>
          </a:xfrm>
          <a:prstGeom prst="rect">
            <a:avLst/>
          </a:prstGeom>
          <a:solidFill>
            <a:srgbClr val="7FB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6766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FD3E8"/>
                </a:solidFill>
                <a:latin typeface="Helvetica Neue"/>
                <a:ea typeface="PingFang SC"/>
                <a:cs typeface="Helvetica Neue"/>
              </a:rPr>
              <a:t>宇树科技（688836.SH）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经营与财务表现分析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0EA"/>
                </a:solidFill>
                <a:latin typeface="Helvetica Neue"/>
                <a:ea typeface="PingFang SC"/>
                <a:cs typeface="Helvetica Neue"/>
              </a:rPr>
              <a:t>高增长换挡期：人形切换、扣非盈利与费用扩张的赛跑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6D8"/>
                </a:solidFill>
                <a:latin typeface="Helvetica Neue"/>
                <a:ea typeface="PingFang SC"/>
                <a:cs typeface="Helvetica Neue"/>
              </a:rPr>
              <a:t>内部汇报  |  资料截止 2026-08-30  |  金额单位：人民币万元（图表换算为亿元）  |  A=已实现，E=预测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9383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业务与产品结构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主营定位 · 产品/量价/地区结构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157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3246119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00983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收入与盈利变化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增长换挡 · 扣非盈利 · 2026H1 · 现金流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40873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617719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72583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研发与竞争力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研发投入 · 五项竞争优势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54589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929383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增长变量与风险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事实与计划分列 · 六项主要风险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7157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246119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00983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结论与资料来源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核心判断 · 口径说明 · 来源清单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40873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来源：本汇报数据均取自上交所披露文件及公司公开资料，详见末页来源清单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核心判断：高增长仍在，但进入“收入快、扣非承压”的换挡期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两年营收 CAGR 约 226.8%，增速逐期回落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2023→2025 营收 1.59→16.99 亿元；同比由 2025 全年 +332.6% 回落至 2026H1 +48.5%。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715768"/>
            <a:ext cx="1033272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898648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9864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人形取代四足成为第一大产品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人形收入占主营 1.88%→51.78%，销量 5→5,215 台，单价 59.34→16.64 万元，量增价减。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831336"/>
            <a:ext cx="1033272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14216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14216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盈利质量看扣非：2025 扣非 5.91 亿、扣非净利率 34.8%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归母仅 2.78 亿，差额 -3.13 亿为股份支付等非经常损失；主营毛利率升至 60.13%。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946904"/>
            <a:ext cx="1033272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129784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9784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B84C3A"/>
                </a:solidFill>
                <a:latin typeface="Helvetica Neue"/>
                <a:ea typeface="PingFang SC"/>
                <a:cs typeface="Helvetica Neue"/>
              </a:rPr>
              <a:t>2026 利润端承压，费用扩张是主因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2026H1 扣非 2.44 亿、同比 -19.34%；研发与销售费用快速增加，CFO 同比 -32.53%。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来源：上市保荐书（注册稿）、上市公告书（底稿 S2/S5）；CAGR、占比、净利率由原始数据现算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公司速览：全球通用机器人龙头，2026-08-19 登陆科创板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4864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主营业务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高性能通用人形机器人、四足机器人、机器人组件及具身智能模型的研发、生产与销售，覆盖“本体—核心零部件—具身智能模型”全栈。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产品矩阵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人形：H1/G1 等系列，价格带下探至 10 万元级；四足：Go2/B2 等系列，为当前收入基本盘；另对外销售机器人组件。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治理结构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设置表决权差异安排，实控人王兴兴发行后持股 21.44%；按“预计市值≥100 亿元”科创板标准上市。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783080"/>
            <a:ext cx="5239512" cy="41605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73152" cy="416052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39128" y="199339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本次发行关键数据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487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发行价格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87168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150.80 元/股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30358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发行数量 / 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035808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4,044.6434 万股 / 发行后 10.00%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35844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募资总额 / 净额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584448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60.99 / 59.17 亿元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41330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发行价对应市值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33088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609.93 亿元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68172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发行市盈率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681728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219.23 倍（媒体口径，待核）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2303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上市前最近一轮估值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30368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2025-06 Pre-IPO 投后 127 亿元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来源：发行公告/上市公告书/上市保荐书（底稿 S2/S5/S6）；发行市盈率需以发行公告原文核验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E5252-E91A-E73B-C610-95334B4ED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C8B414-DC7C-C26F-430B-9F76A45A76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5C223-A28D-1829-A319-386484F98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7015BB-9CE5-4D74-BE12-559A71FA9E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55F5C-2DF8-6C64-7DAF-A11B624F3B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D363E3-9DB9-D188-C5E3-9758D62A3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F3232-5E54-6F19-3E55-0F0F083BC5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4A7E8E-FC85-698C-5956-2276088DA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6A3BC-928B-611B-D6BD-C0D3F287A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55304B-D17A-79DF-CA0B-82BD0DFC8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1H2026: FORECAST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2026H1 收入略超业绩预告上限，扣非落在区间内但同比 -19.34%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6629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指标（万元）</a:t>
                      </a:r>
                    </a:p>
                  </a:txBody>
                  <a:tcPr marT="38100" marB="38100" anchor="ctr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预测下限(E)</a:t>
                      </a:r>
                    </a:p>
                  </a:txBody>
                  <a:tcPr marT="38100" marB="38100" anchor="ctr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预测上限(E)</a:t>
                      </a:r>
                    </a:p>
                  </a:txBody>
                  <a:tcPr marT="38100" marB="38100" anchor="ctr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实际(A)</a:t>
                      </a:r>
                    </a:p>
                  </a:txBody>
                  <a:tcPr marT="38100" marB="38100" anchor="ctr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对照</a:t>
                      </a:r>
                    </a:p>
                  </a:txBody>
                  <a:tcPr marT="38100" marB="38100" anchor="ctr">
                    <a:solidFill>
                      <a:srgbClr val="13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营业收入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105,200.00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112,800.00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115,224.56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略超上限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归母净利润</a:t>
                      </a:r>
                    </a:p>
                  </a:txBody>
                  <a:tcPr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25,800.00</a:t>
                      </a:r>
                    </a:p>
                  </a:txBody>
                  <a:tcPr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30,600.00</a:t>
                      </a:r>
                    </a:p>
                  </a:txBody>
                  <a:tcPr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27,399.99</a:t>
                      </a:r>
                    </a:p>
                  </a:txBody>
                  <a:tcPr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区间内</a:t>
                      </a:r>
                    </a:p>
                  </a:txBody>
                  <a:tcPr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扣非归母净利润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23,600.00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28,300.00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24,393.03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区间内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表1  2026H1 业绩预告（2026-05 上会稿，预测）与上市公告书实际对照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1488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2" y="2103120"/>
            <a:ext cx="3858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收入端超预期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实际 11.52 亿元，高于预测上限 11.28 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3081528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9832" y="3035808"/>
            <a:ext cx="3858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利润端同比承压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扣非 2.44 亿、同比 -19.34%（2026Q1 曾 -52.55%）。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4014216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2" y="3968496"/>
            <a:ext cx="3858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费用是主因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上半年研发费用同比 +0.82 亿；销售费用 1.64 亿（品牌推广+扩编）。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946904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2" y="4901184"/>
            <a:ext cx="3858768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归母扭亏含低基数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上年同期 -3,202.45 万，含约 3.49 亿股份支付。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来源：上会稿业绩预告（E）与 2026-08-17 上市公告书（A，未经审计）；预测不作为已实现事实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69BB8-309D-37E1-E1FE-2E68F129A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2F81D8-A755-37BC-28A0-83272445C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D4B7A-E005-3D99-A5E8-238AFA6A2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C1D0E-1724-6A42-E1CB-B29DDE30AC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五项竞争优势：技术垂直整合 × 出货规模 × 财务弹性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10512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全栈自研支撑高毛利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主营毛利率 60.13%，电机/控制器/感知算法/整机/具身模型垂直自研，为降价与再投入留出空间。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706624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06624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出货规模全球领先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人形确认收入 5,215 台、公司称纯人形出货超 5,500 台全球第一；四足三年超 3.3 万台。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456432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60273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02736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产销衔接顺畅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年前三季度人形产销率超 95%，基本满产满销，需求支撑现有产能。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352544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49884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98848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价格带下探拓宽市场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人形单价降至 16.64 万元、G1 进入 10 万元级，扩大装机与开发者生态。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248656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394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报表稳健、弹药充足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负债率 18.82%、CFO 6.70 亿；IPO 募资净额 59.17 亿元，支撑研发与制造投入。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来源：上市保荐书/招股说明书/发行公告（底稿 S1/S2/S6）；同业量化对比数据不足，不作扩展结论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GROWTH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增长变量：已兑现的事实与待验证的计划分列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92807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已兑现的事实（A）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人形放量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占主营 51.78%、销量 5,215 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012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境内市场反超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境内占比升至 56.35%，境外绝对额仍增至 7.32 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51376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场景结构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四足场景较均衡；人形 2025 1-9M 科研教育占 73.6%。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9262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资金到位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IPO 募资净额 59.17 亿元，相对原拟投项目超募。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22392" cy="457200"/>
          </a:xfrm>
          <a:prstGeom prst="rect">
            <a:avLst/>
          </a:prstGeom>
          <a:solidFill>
            <a:srgbClr val="3E5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7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待验证的计划 / 变量（E）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5422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场景拓宽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人形由科研教育向行业应用（当前仅约 9.01%）渗透的速度。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10128"/>
            <a:ext cx="5422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募投研发转化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模型/本体/新产品约 35.77 亿投入能否转化为产品力。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51376"/>
            <a:ext cx="5422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制造基地产能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达产规划人形 7.5 万、四足 11.5 万台/年——为规划，非已实现产能或产量。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992624"/>
            <a:ext cx="5422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海外扩张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渠道与本地化进展，及关税/汇率影响。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来源：招股说明书/上市保荐书（底稿 S1/S2/S7）；规划与预测均不作为已实现事实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六项主要风险：场景集中、价格下行与费用扩张最值得盯紧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611880" cy="635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36118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B84C3A"/>
                </a:solidFill>
                <a:latin typeface="Helvetica Neue"/>
                <a:ea typeface="PingFang SC"/>
                <a:cs typeface="Helvetica Neue"/>
              </a:rPr>
              <a:t>01  商业化场景集中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 2025 1-9M 约 73.6% 收入来自科研教育，行业应用仅约 9.01%。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828800"/>
            <a:ext cx="3611880" cy="635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24528" y="1938528"/>
            <a:ext cx="36118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B84C3A"/>
                </a:solidFill>
                <a:latin typeface="Helvetica Neue"/>
                <a:ea typeface="PingFang SC"/>
                <a:cs typeface="Helvetica Neue"/>
              </a:rPr>
              <a:t>02  价格下行 / 竞争加剧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两类产品单价逐年下行，价格战或进一步压缩单价与毛利。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6136" y="182880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46136" y="1938528"/>
            <a:ext cx="36118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03  股份支付扰动表观利润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非经常性净损失 -3.13 亿，后续股权激励或继续扰动归母。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133088"/>
            <a:ext cx="36118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04  费用扩张压制扣非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2026H1 扣非同比 -19.34%、CFO 同比 -32.53%，费用刚性下利润率承压。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402336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24528" y="4133088"/>
            <a:ext cx="36118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05  高估值波动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发行市值 609.93 亿、媒体口径 PE 219.23 倍（待核），对业绩兑现高度敏感。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6136" y="402336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46136" y="4133088"/>
            <a:ext cx="361188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06  外包/供应链与外销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劳务外包费用升至 6,802.65 万；境外占比 43.65%，汇率与供应链风险并存。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来源：招股说明书/上市保荐书/上市公告书（底稿 S1/S2/S5）；暖赤为当前最需盯紧的两项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7FB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结论：成长仍在，重心从“增速”转向“盈利质量兑现”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DE6F0"/>
                </a:solidFill>
                <a:latin typeface="Helvetica Neue"/>
                <a:ea typeface="PingFang SC"/>
                <a:cs typeface="Helvetica Neue"/>
              </a:rPr>
              <a:t>产品：完成四足→人形的结构切换，人形是下一阶段核心弹性；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DE6F0"/>
                </a:solidFill>
                <a:latin typeface="Helvetica Neue"/>
                <a:ea typeface="PingFang SC"/>
                <a:cs typeface="Helvetica Neue"/>
              </a:rPr>
              <a:t>盈利：扣非盈利能力强（2025 扣非净利率 34.8%、毛利率 60.13%），但费用扩张使 2026 扣非承压；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DE6F0"/>
                </a:solidFill>
                <a:latin typeface="Helvetica Neue"/>
                <a:ea typeface="PingFang SC"/>
                <a:cs typeface="Helvetica Neue"/>
              </a:rPr>
              <a:t>跟踪：人形行业场景渗透、募投与制造基地达产进度（规划非已实现）、扣非利润率能否企稳。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资料来源与口径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CFDF"/>
                </a:solidFill>
                <a:latin typeface="Helvetica Neue"/>
                <a:ea typeface="PingFang SC"/>
                <a:cs typeface="Helvetica Neue"/>
              </a:rPr>
              <a:t>S1 招股说明书（注册稿，上交所 auditId=2178）；S2 上市保荐书（注册稿）；S3 审核落实函回复；S4 招股意向书；S5 上市公告书；S6 发行/投资风险公告；S7 浦银国际、S8 兴业证券、S9 国信证券研报转引；S10 东方财富/证券时报数据中心（交叉核对）；S11 公司官网。
口径：金额除注明外为万元（图表换算亿元）；A=已实现（2023–2025 经审计、2026Q1 经审阅、2026H1 上市公告书披露且未经审计），E=预测；年度采用注册稿口径；资料截止 2026-08-30，其后行情不纳入。本页及全文不构成投资建议。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FB0C4"/>
                </a:solidFill>
                <a:latin typeface="Helvetica Neue"/>
                <a:ea typeface="PingFang SC"/>
                <a:cs typeface="Helvetica Neue"/>
              </a:rPr>
              <a:t>宇树科技 688836.SH  |  内部汇报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904</Words>
  <Application>Microsoft Macintosh PowerPoint</Application>
  <PresentationFormat>宽屏</PresentationFormat>
  <Paragraphs>159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蘑菇 蘑菇</cp:lastModifiedBy>
  <cp:revision>2</cp:revision>
  <dcterms:created xsi:type="dcterms:W3CDTF">2013-01-27T09:14:16Z</dcterms:created>
  <dcterms:modified xsi:type="dcterms:W3CDTF">2026-09-04T07:20:21Z</dcterms:modified>
  <cp:category/>
</cp:coreProperties>
</file>