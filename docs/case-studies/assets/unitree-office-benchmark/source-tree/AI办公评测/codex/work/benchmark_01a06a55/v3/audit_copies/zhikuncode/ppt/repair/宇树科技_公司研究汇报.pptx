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四足机器人</c:v>
                </c:pt>
              </c:strCache>
            </c:strRef>
          </c:tx>
          <c:spPr>
            <a:solidFill>
              <a:srgbClr val="0A1F4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11900</c:v>
                </c:pt>
                <c:pt idx="1">
                  <c:v>23100</c:v>
                </c:pt>
                <c:pt idx="2">
                  <c:v>69800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人形机器人</c:v>
                </c:pt>
              </c:strCache>
            </c:strRef>
          </c:tx>
          <c:spPr>
            <a:solidFill>
              <a:srgbClr val="19C2F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296.71</c:v>
                </c:pt>
                <c:pt idx="1">
                  <c:v>10700</c:v>
                </c:pt>
                <c:pt idx="2">
                  <c:v>86800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组件及其他(倒算)</c:v>
                </c:pt>
              </c:strCache>
            </c:strRef>
          </c:tx>
          <c:spPr>
            <a:solidFill>
              <a:srgbClr val="8FA3B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3500</c:v>
                </c:pt>
                <c:pt idx="1">
                  <c:v>5000</c:v>
                </c:pt>
                <c:pt idx="2">
                  <c:v>11100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  <a:latin typeface="微软雅黑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50">
                <a:solidFill>
                  <a:srgbClr val="6B7A90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00">
                <a:solidFill>
                  <a:srgbClr val="6B7A90"/>
                </a:solidFill>
                <a:latin typeface="微软雅黑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50">
              <a:solidFill>
                <a:srgbClr val="23324D"/>
              </a:solidFill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营业收入</c:v>
                </c:pt>
              </c:strCache>
            </c:strRef>
          </c:tx>
          <c:spPr>
            <a:solidFill>
              <a:srgbClr val="0A1F44"/>
            </a:solidFill>
            <a:ln>
              <a:noFill/>
            </a:ln>
          </c:spPr>
          <c:dPt>
            <c:idx val="4"/>
            <c:spPr>
              <a:solidFill>
                <a:srgbClr val="9EDFFF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2026H1(半年)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12300</c:v>
                </c:pt>
                <c:pt idx="1">
                  <c:v>15913.44</c:v>
                </c:pt>
                <c:pt idx="2">
                  <c:v>39276.6</c:v>
                </c:pt>
                <c:pt idx="3">
                  <c:v>169926.93</c:v>
                </c:pt>
                <c:pt idx="4">
                  <c:v>115200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50" b="1">
                  <a:solidFill>
                    <a:srgbClr val="0A1F44"/>
                  </a:solidFill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50">
                <a:solidFill>
                  <a:srgbClr val="6B7A90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00">
                <a:solidFill>
                  <a:srgbClr val="6B7A90"/>
                </a:solidFill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归母净利润</c:v>
                </c:pt>
              </c:strCache>
            </c:strRef>
          </c:tx>
          <c:spPr>
            <a:solidFill>
              <a:srgbClr val="0A1F4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-2210.05</c:v>
                </c:pt>
                <c:pt idx="1">
                  <c:v>-1114.51</c:v>
                </c:pt>
                <c:pt idx="2">
                  <c:v>9547.47</c:v>
                </c:pt>
                <c:pt idx="3">
                  <c:v>27821.05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扣非归母净利润</c:v>
                </c:pt>
              </c:strCache>
            </c:strRef>
          </c:tx>
          <c:spPr>
            <a:solidFill>
              <a:srgbClr val="17B89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-807</c:v>
                </c:pt>
                <c:pt idx="1">
                  <c:v>-1801.91</c:v>
                </c:pt>
                <c:pt idx="2">
                  <c:v>7847.65</c:v>
                </c:pt>
                <c:pt idx="3">
                  <c:v>59075.28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50" b="0">
                  <a:solidFill>
                    <a:srgbClr val="23324D"/>
                  </a:solidFill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50">
                <a:solidFill>
                  <a:srgbClr val="6B7A90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00">
                <a:solidFill>
                  <a:srgbClr val="6B7A90"/>
                </a:solidFill>
                <a:latin typeface="微软雅黑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50">
              <a:solidFill>
                <a:srgbClr val="23324D"/>
              </a:solidFill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主营毛利率</c:v>
                </c:pt>
              </c:strCache>
            </c:strRef>
          </c:tx>
          <c:spPr>
            <a:ln w="34925">
              <a:solidFill>
                <a:srgbClr val="17B890"/>
              </a:solidFill>
            </a:ln>
          </c:spPr>
          <c:marker>
            <c:symbol val="circle"/>
            <c:size val="6"/>
            <c:spPr>
              <a:solidFill>
                <a:srgbClr val="17B890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44.22</c:v>
                </c:pt>
                <c:pt idx="1">
                  <c:v>56.74</c:v>
                </c:pt>
                <c:pt idx="2">
                  <c:v>60.13</c:v>
                </c:pt>
              </c:numCache>
            </c:numRef>
          </c:val>
          <c:smooth val="0"/>
        </c:ser>
        <c:dLbls>
          <c:numFmt formatCode="0.00&quot;%&quot;" sourceLinked="0"/>
          <c:txPr>
            <a:bodyPr/>
            <a:lstStyle/>
            <a:p>
              <a:pPr>
                <a:defRPr sz="1000" b="1">
                  <a:solidFill>
                    <a:srgbClr val="17B890"/>
                  </a:solidFill>
                  <a:latin typeface="微软雅黑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50">
                <a:solidFill>
                  <a:srgbClr val="6B7A90"/>
                </a:solidFill>
                <a:latin typeface="微软雅黑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0.0"/>
          <c:min val="30.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00">
                <a:solidFill>
                  <a:srgbClr val="6B7A90"/>
                </a:solidFill>
                <a:latin typeface="微软雅黑"/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经营现金流净额</c:v>
                </c:pt>
              </c:strCache>
            </c:strRef>
          </c:tx>
          <c:spPr>
            <a:solidFill>
              <a:srgbClr val="0A1F44"/>
            </a:solidFill>
            <a:ln>
              <a:noFill/>
            </a:ln>
          </c:spPr>
          <c:dPt>
            <c:idx val="0"/>
            <c:spPr>
              <a:solidFill>
                <a:srgbClr val="8FA3BF"/>
              </a:solidFill>
              <a:ln>
                <a:noFill/>
              </a:ln>
            </c:spPr>
          </c:dPt>
          <c:dPt>
            <c:idx val="1"/>
            <c:spPr>
              <a:solidFill>
                <a:srgbClr val="8FA3BF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-3019.73</c:v>
                </c:pt>
                <c:pt idx="1">
                  <c:v>494.25</c:v>
                </c:pt>
                <c:pt idx="2">
                  <c:v>19200</c:v>
                </c:pt>
                <c:pt idx="3">
                  <c:v>67000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50" b="1">
                  <a:solidFill>
                    <a:srgbClr val="0A1F44"/>
                  </a:solidFill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50">
                <a:solidFill>
                  <a:srgbClr val="6B7A90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00">
                <a:solidFill>
                  <a:srgbClr val="6B7A90"/>
                </a:solidFill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研发费用</c:v>
                </c:pt>
              </c:strCache>
            </c:strRef>
          </c:tx>
          <c:spPr>
            <a:solidFill>
              <a:srgbClr val="0A1F4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2998.48</c:v>
                </c:pt>
                <c:pt idx="1">
                  <c:v>4995.18</c:v>
                </c:pt>
                <c:pt idx="2">
                  <c:v>7001.7</c:v>
                </c:pt>
                <c:pt idx="3">
                  <c:v>14500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50" b="1">
                  <a:solidFill>
                    <a:srgbClr val="0A1F44"/>
                  </a:solidFill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50">
                <a:solidFill>
                  <a:srgbClr val="6B7A90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00">
                <a:solidFill>
                  <a:srgbClr val="6B7A90"/>
                </a:solidFill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研发费用率</c:v>
                </c:pt>
              </c:strCache>
            </c:strRef>
          </c:tx>
          <c:spPr>
            <a:ln w="34925">
              <a:solidFill>
                <a:srgbClr val="E8543F"/>
              </a:solidFill>
            </a:ln>
          </c:spPr>
          <c:marker>
            <c:symbol val="circle"/>
            <c:size val="6"/>
            <c:spPr>
              <a:solidFill>
                <a:srgbClr val="E8543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24.39</c:v>
                </c:pt>
                <c:pt idx="1">
                  <c:v>31.39</c:v>
                </c:pt>
                <c:pt idx="2">
                  <c:v>17.84</c:v>
                </c:pt>
                <c:pt idx="3">
                  <c:v>8.53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9M2025同业均值27.92%</c:v>
                </c:pt>
              </c:strCache>
            </c:strRef>
          </c:tx>
          <c:spPr>
            <a:ln w="22225">
              <a:solidFill>
                <a:srgbClr val="8FA3BF"/>
              </a:solidFill>
              <a:prstDash val="dash"/>
            </a:ln>
          </c:spP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27.92</c:v>
                </c:pt>
                <c:pt idx="1">
                  <c:v>27.92</c:v>
                </c:pt>
                <c:pt idx="2">
                  <c:v>27.92</c:v>
                </c:pt>
                <c:pt idx="3">
                  <c:v>27.92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sz="850" b="0">
                  <a:solidFill>
                    <a:srgbClr val="E8543F"/>
                  </a:solidFill>
                  <a:latin typeface="微软雅黑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50">
                <a:solidFill>
                  <a:srgbClr val="6B7A90"/>
                </a:solidFill>
                <a:latin typeface="微软雅黑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.0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00">
                <a:solidFill>
                  <a:srgbClr val="6B7A90"/>
                </a:solidFill>
                <a:latin typeface="微软雅黑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23324D"/>
              </a:solidFill>
              <a:latin typeface="微软雅黑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人形机器人下游</c:v>
                </c:pt>
              </c:strCache>
            </c:strRef>
          </c:tx>
          <c:dPt>
            <c:idx val="0"/>
            <c:spPr>
              <a:solidFill>
                <a:srgbClr val="0A1F44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9C2FF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8543F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科研教育</c:v>
                </c:pt>
                <c:pt idx="1">
                  <c:v>商业消费</c:v>
                </c:pt>
                <c:pt idx="2">
                  <c:v>行业应用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73.6</c:v>
                </c:pt>
                <c:pt idx="1">
                  <c:v>17.39</c:v>
                </c:pt>
                <c:pt idx="2">
                  <c:v>9.01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900" b="1">
                  <a:solidFill>
                    <a:srgbClr val="23324D"/>
                  </a:solidFill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23324D"/>
              </a:solidFill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四足机器人下游</c:v>
                </c:pt>
              </c:strCache>
            </c:strRef>
          </c:tx>
          <c:dPt>
            <c:idx val="0"/>
            <c:spPr>
              <a:solidFill>
                <a:srgbClr val="0A1F44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9C2FF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8543F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科研教育</c:v>
                </c:pt>
                <c:pt idx="1">
                  <c:v>商业消费</c:v>
                </c:pt>
                <c:pt idx="2">
                  <c:v>行业应用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31.58</c:v>
                </c:pt>
                <c:pt idx="1">
                  <c:v>42.3</c:v>
                </c:pt>
                <c:pt idx="2">
                  <c:v>26.12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900" b="1">
                  <a:solidFill>
                    <a:srgbClr val="23324D"/>
                  </a:solidFill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23324D"/>
              </a:solidFill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境外收入占比</c:v>
                </c:pt>
              </c:strCache>
            </c:strRef>
          </c:tx>
          <c:spPr>
            <a:solidFill>
              <a:srgbClr val="0A1F44"/>
            </a:solidFill>
            <a:ln>
              <a:noFill/>
            </a:ln>
          </c:spPr>
          <c:dPt>
            <c:idx val="3"/>
            <c:spPr>
              <a:solidFill>
                <a:srgbClr val="19C2FF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9M2025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57.21</c:v>
                </c:pt>
                <c:pt idx="1">
                  <c:v>55.63</c:v>
                </c:pt>
                <c:pt idx="2">
                  <c:v>55.7</c:v>
                </c:pt>
                <c:pt idx="3">
                  <c:v>39.2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950" b="1">
                  <a:solidFill>
                    <a:srgbClr val="0A1F44"/>
                  </a:solidFill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50">
                <a:solidFill>
                  <a:srgbClr val="6B7A90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00">
                <a:solidFill>
                  <a:srgbClr val="6B7A90"/>
                </a:solidFill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总市值</c:v>
                </c:pt>
              </c:strCache>
            </c:strRef>
          </c:tx>
          <c:spPr>
            <a:ln w="34925">
              <a:solidFill>
                <a:srgbClr val="0A1F44"/>
              </a:solidFill>
            </a:ln>
          </c:spPr>
          <c:marker>
            <c:symbol val="circle"/>
            <c:size val="6"/>
            <c:spPr>
              <a:solidFill>
                <a:srgbClr val="0A1F44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发行价</c:v>
                </c:pt>
                <c:pt idx="1">
                  <c:v>首日收盘</c:v>
                </c:pt>
                <c:pt idx="2">
                  <c:v>08-20</c:v>
                </c:pt>
                <c:pt idx="3">
                  <c:v>08-24</c:v>
                </c:pt>
                <c:pt idx="4">
                  <c:v>08-26</c:v>
                </c:pt>
                <c:pt idx="5">
                  <c:v>08-31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609.93</c:v>
                </c:pt>
                <c:pt idx="1">
                  <c:v>3417.72</c:v>
                </c:pt>
                <c:pt idx="2">
                  <c:v>2779</c:v>
                </c:pt>
                <c:pt idx="3">
                  <c:v>2439</c:v>
                </c:pt>
                <c:pt idx="4">
                  <c:v>2393</c:v>
                </c:pt>
                <c:pt idx="5">
                  <c:v>2285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50" b="1">
                  <a:solidFill>
                    <a:srgbClr val="0A1F44"/>
                  </a:solidFill>
                  <a:latin typeface="微软雅黑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50">
                <a:solidFill>
                  <a:srgbClr val="6B7A90"/>
                </a:solidFill>
                <a:latin typeface="微软雅黑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00">
                <a:solidFill>
                  <a:srgbClr val="6B7A90"/>
                </a:solidFill>
                <a:latin typeface="微软雅黑"/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481328"/>
            <a:ext cx="1097280" cy="41148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ver_title"/>
          <p:cNvSpPr txBox="1"/>
          <p:nvPr/>
        </p:nvSpPr>
        <p:spPr>
          <a:xfrm>
            <a:off x="658368" y="1755648"/>
            <a:ext cx="74066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宇树科技（688836.SH）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公司研究汇报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56432"/>
            <a:ext cx="6949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D6E4F5"/>
                </a:solidFill>
                <a:latin typeface="微软雅黑"/>
                <a:ea typeface="微软雅黑"/>
                <a:cs typeface="微软雅黑"/>
              </a:rPr>
              <a:t>科创板“人形机器人第一股”：</a:t>
            </a:r>
          </a:p>
          <a:p>
            <a:pPr algn="l"/>
            <a:r>
              <a:rPr sz="1600" b="0" i="0">
                <a:solidFill>
                  <a:srgbClr val="D6E4F5"/>
                </a:solidFill>
                <a:latin typeface="微软雅黑"/>
                <a:ea typeface="微软雅黑"/>
                <a:cs typeface="微软雅黑"/>
              </a:rPr>
              <a:t>爆发式增长与高光估值下的冷思考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498848"/>
            <a:ext cx="7680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BD4"/>
                </a:solidFill>
                <a:latin typeface="微软雅黑"/>
                <a:ea typeface="微软雅黑"/>
                <a:cs typeface="微软雅黑"/>
              </a:rPr>
              <a:t>资料截止：2026年8月30日 ｜ 内部汇报材料 ｜ 数据口径：招股说明书注册稿/上市公告书</a:t>
            </a:r>
          </a:p>
        </p:txBody>
      </p:sp>
      <p:sp>
        <p:nvSpPr>
          <p:cNvPr id="7" name="footer_source"/>
          <p:cNvSpPr txBox="1"/>
          <p:nvPr/>
        </p:nvSpPr>
        <p:spPr>
          <a:xfrm>
            <a:off x="658368" y="6382512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FA3BF"/>
                </a:solidFill>
                <a:latin typeface="微软雅黑"/>
                <a:ea typeface="微软雅黑"/>
                <a:cs typeface="微软雅黑"/>
              </a:rPr>
              <a:t>资料来源：招股说明书（注册稿）、上市公告书（2026-08-18）、上海证券交易所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638251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FA3BF"/>
                </a:solidFill>
                <a:latin typeface="微软雅黑"/>
                <a:ea typeface="微软雅黑"/>
                <a:cs typeface="微软雅黑"/>
              </a:rPr>
              <a:t>封面图片由AI生成，仅作装饰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C2FF"/>
                </a:solidFill>
                <a:latin typeface="微软雅黑"/>
                <a:ea typeface="微软雅黑"/>
                <a:cs typeface="微软雅黑"/>
              </a:rPr>
              <a:t>01 核心观点 · SUMMARY</a:t>
            </a:r>
          </a:p>
        </p:txBody>
      </p:sp>
      <p:sp>
        <p:nvSpPr>
          <p:cNvPr id="4" name="action_title"/>
          <p:cNvSpPr txBox="1"/>
          <p:nvPr/>
        </p:nvSpPr>
        <p:spPr>
          <a:xfrm>
            <a:off x="502920" y="548640"/>
            <a:ext cx="111858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五句话看懂宇树：爆发增长、结构切换、盈利兑现、高光估值、风险并存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335024"/>
            <a:ext cx="1097280" cy="29260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85855" cy="950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_source"/>
          <p:cNvSpPr txBox="1"/>
          <p:nvPr/>
        </p:nvSpPr>
        <p:spPr>
          <a:xfrm>
            <a:off x="502920" y="6574536"/>
            <a:ext cx="6812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资料来源：招股说明书（注册稿）、上市公告书（2026-08-18）、上海证券交易所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360920" y="6574536"/>
            <a:ext cx="4325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资料截止：2026-08-30 ｜ 第2页 ｜ 内部汇报材料·不构成投资建议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17904"/>
            <a:ext cx="11185855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27631"/>
            <a:ext cx="45720" cy="676656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" y="1792224"/>
            <a:ext cx="347472" cy="347472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636776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爆发式增长：</a:t>
            </a:r>
            <a:r>
              <a:rPr sz="11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2025年营收169,926.93万元（+332.64%），2023–2025 CAGR约226.8%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96312"/>
            <a:ext cx="11185855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06040"/>
            <a:ext cx="45720" cy="676656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6384" y="2770632"/>
            <a:ext cx="347472" cy="347472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615184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结构切换：</a:t>
            </a:r>
            <a:r>
              <a:rPr sz="11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人形机器人收入占比1.88%→51.78%，跃居第一大产品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74720"/>
            <a:ext cx="11185855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84448"/>
            <a:ext cx="45720" cy="676656"/>
          </a:xfrm>
          <a:prstGeom prst="rect">
            <a:avLst/>
          </a:prstGeom>
          <a:solidFill>
            <a:srgbClr val="17B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6384" y="3749039"/>
            <a:ext cx="347472" cy="347472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593591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盈利兑现：</a:t>
            </a:r>
            <a:r>
              <a:rPr sz="11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2024年扭亏，2025年扣非59,075.28万元、主营毛利率60.13%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53128"/>
            <a:ext cx="11185855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562856"/>
            <a:ext cx="45720" cy="676656"/>
          </a:xfrm>
          <a:prstGeom prst="rect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6384" y="4727448"/>
            <a:ext cx="347472" cy="347472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572000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隐忧并存：</a:t>
            </a:r>
            <a:r>
              <a:rPr sz="11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2026H1扣非-19.34%“增收不增利”，科教客户占比73.6%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431536"/>
            <a:ext cx="11185855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541264"/>
            <a:ext cx="45720" cy="676656"/>
          </a:xfrm>
          <a:prstGeom prst="rect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6384" y="5705856"/>
            <a:ext cx="347472" cy="347472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550408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高光估值：</a:t>
            </a:r>
            <a:r>
              <a:rPr sz="11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发行PE 219.23倍，首日+460.34%后回落近半（二级市场数据）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C2FF"/>
                </a:solidFill>
                <a:latin typeface="微软雅黑"/>
                <a:ea typeface="微软雅黑"/>
                <a:cs typeface="微软雅黑"/>
              </a:rPr>
              <a:t>02 公司概况 · PROFILE &amp; IPO</a:t>
            </a:r>
          </a:p>
        </p:txBody>
      </p:sp>
      <p:sp>
        <p:nvSpPr>
          <p:cNvPr id="4" name="action_title"/>
          <p:cNvSpPr txBox="1"/>
          <p:nvPr/>
        </p:nvSpPr>
        <p:spPr>
          <a:xfrm>
            <a:off x="502920" y="548640"/>
            <a:ext cx="111858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成立十年登陆科创板：104天过会注册，发行市值609.93亿元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335024"/>
            <a:ext cx="1097280" cy="29260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85855" cy="950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_source"/>
          <p:cNvSpPr txBox="1"/>
          <p:nvPr/>
        </p:nvSpPr>
        <p:spPr>
          <a:xfrm>
            <a:off x="502920" y="6574536"/>
            <a:ext cx="6812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资料来源：上市公告书、上交所公告（2026-08）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360920" y="6574536"/>
            <a:ext cx="4325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资料截止：2026-08-30 ｜ 第3页 ｜ 内部汇报材料·不构成投资建议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17904"/>
            <a:ext cx="4709160" cy="11155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45919"/>
            <a:ext cx="45720" cy="859536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36776"/>
            <a:ext cx="4343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成立日期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83664"/>
            <a:ext cx="4343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2016-08-26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13432"/>
            <a:ext cx="4343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2026年8月上市，创业整十年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61488"/>
            <a:ext cx="4709160" cy="11155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889504"/>
            <a:ext cx="45720" cy="859536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80360"/>
            <a:ext cx="4343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实际控制人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27248"/>
            <a:ext cx="4343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王兴兴 · 表决权65.31%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57016"/>
            <a:ext cx="4343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发行后口径（直接21.4395%+一致行动安排）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05072"/>
            <a:ext cx="4709160" cy="11155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133087"/>
            <a:ext cx="45720" cy="859536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23944"/>
            <a:ext cx="4343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员工规模（2025-09-30）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70832"/>
            <a:ext cx="4343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480人 · 研发175人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4343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研发人员占比36.46%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248656"/>
            <a:ext cx="4709160" cy="11155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376672"/>
            <a:ext cx="45720" cy="859536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67528"/>
            <a:ext cx="4343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专利（截至2026-01-31）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14416"/>
            <a:ext cx="4343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262项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044184"/>
            <a:ext cx="4343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含境内发明专利20项（路演口径）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148132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IPO历程：受理至注册生效仅104天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2395728"/>
            <a:ext cx="5440680" cy="20116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20740" y="2337206"/>
            <a:ext cx="137160" cy="137160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58968" y="2011680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2025-07-08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8968" y="2560320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辅导备案</a:t>
            </a:r>
          </a:p>
        </p:txBody>
      </p:sp>
      <p:sp>
        <p:nvSpPr>
          <p:cNvPr id="34" name="Oval 33"/>
          <p:cNvSpPr/>
          <p:nvPr/>
        </p:nvSpPr>
        <p:spPr>
          <a:xfrm>
            <a:off x="6990588" y="2337206"/>
            <a:ext cx="137160" cy="137160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2011680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2026-03-20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8816" y="2560320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受理</a:t>
            </a:r>
          </a:p>
        </p:txBody>
      </p:sp>
      <p:sp>
        <p:nvSpPr>
          <p:cNvPr id="37" name="Oval 36"/>
          <p:cNvSpPr/>
          <p:nvPr/>
        </p:nvSpPr>
        <p:spPr>
          <a:xfrm>
            <a:off x="8060436" y="2337206"/>
            <a:ext cx="137160" cy="137160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98664" y="2011680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2026-06-01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98664" y="2560320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过会</a:t>
            </a:r>
          </a:p>
        </p:txBody>
      </p:sp>
      <p:sp>
        <p:nvSpPr>
          <p:cNvPr id="40" name="Oval 39"/>
          <p:cNvSpPr/>
          <p:nvPr/>
        </p:nvSpPr>
        <p:spPr>
          <a:xfrm>
            <a:off x="9130284" y="2337206"/>
            <a:ext cx="137160" cy="137160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68512" y="2011680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2026-07-02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68512" y="2560320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注册生效</a:t>
            </a:r>
          </a:p>
        </p:txBody>
      </p:sp>
      <p:sp>
        <p:nvSpPr>
          <p:cNvPr id="43" name="Oval 42"/>
          <p:cNvSpPr/>
          <p:nvPr/>
        </p:nvSpPr>
        <p:spPr>
          <a:xfrm>
            <a:off x="10177272" y="2314346"/>
            <a:ext cx="182880" cy="182880"/>
          </a:xfrm>
          <a:prstGeom prst="ellipse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38360" y="2011680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2026-08-19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2560320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上市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301752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发行要素（上市公告书/发行公告）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560" y="33649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发行价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79" y="3364992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150.80元/股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23560" y="3707891"/>
            <a:ext cx="6062472" cy="7315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23560" y="378561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新发股份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79" y="3785616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4,044.6434万股（占发行后10%）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23560" y="4128516"/>
            <a:ext cx="6062472" cy="7315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23560" y="420624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募资总额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6679" y="4206240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609,932.22万元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23560" y="4549140"/>
            <a:ext cx="6062472" cy="7315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23560" y="462686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发行市盈率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79" y="46268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219.23倍（行业均值38.56倍）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23560" y="4969764"/>
            <a:ext cx="6062472" cy="7315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23560" y="504748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网上中签率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26679" y="504748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0.01809759%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23560" y="5390388"/>
            <a:ext cx="6062472" cy="7315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23560" y="5504688"/>
            <a:ext cx="6062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代码688836（-W表决权差异）；发行后总股本40,446.4340万股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C2FF"/>
                </a:solidFill>
                <a:latin typeface="微软雅黑"/>
                <a:ea typeface="微软雅黑"/>
                <a:cs typeface="微软雅黑"/>
              </a:rPr>
              <a:t>03 产品结构 · REVENUE MIX</a:t>
            </a:r>
          </a:p>
        </p:txBody>
      </p:sp>
      <p:sp>
        <p:nvSpPr>
          <p:cNvPr id="4" name="action_title"/>
          <p:cNvSpPr txBox="1"/>
          <p:nvPr/>
        </p:nvSpPr>
        <p:spPr>
          <a:xfrm>
            <a:off x="502920" y="548640"/>
            <a:ext cx="111858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人形机器人两年内从1.9%跃升至51.8%，接棒四足成为第一大收入来源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335024"/>
            <a:ext cx="1097280" cy="29260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85855" cy="950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_source"/>
          <p:cNvSpPr txBox="1"/>
          <p:nvPr/>
        </p:nvSpPr>
        <p:spPr>
          <a:xfrm>
            <a:off x="502920" y="6574536"/>
            <a:ext cx="6812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资料来源：招股说明书（注册稿）、中新经纬（2026-07-02）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360920" y="6574536"/>
            <a:ext cx="4325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资料截止：2026-08-30 ｜ 第4页 ｜ 内部汇报材料·不构成投资建议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分产品收入（万元，注册稿口径）</a:t>
            </a:r>
          </a:p>
        </p:txBody>
      </p:sp>
      <p:graphicFrame>
        <p:nvGraphicFramePr>
          <p:cNvPr id="10" name="chart_mix"/>
          <p:cNvGraphicFramePr>
            <a:graphicFrameLocks noGrp="1"/>
          </p:cNvGraphicFramePr>
          <p:nvPr/>
        </p:nvGraphicFramePr>
        <p:xfrm>
          <a:off x="502920" y="1783080"/>
          <a:ext cx="65836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0" y="1783080"/>
            <a:ext cx="4370832" cy="11338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79792" y="1783080"/>
            <a:ext cx="4041648" cy="38404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929384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人形机器人收入占比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21284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1.88% → 27.68% → 51.78%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624328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2023 → 2024 → 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063239"/>
            <a:ext cx="4370832" cy="11338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79792" y="3063239"/>
            <a:ext cx="4041648" cy="3840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3209544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四足机器人收入占比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493007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75.78% → 59.47% → 41.62%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904487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2023 → 2024 → 2025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343400"/>
            <a:ext cx="4370832" cy="11338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79792" y="4343400"/>
            <a:ext cx="4041648" cy="38404"/>
          </a:xfrm>
          <a:prstGeom prst="rect">
            <a:avLst/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4489704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组件及其他占比（倒算）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77316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≈22.3% → ≈12.9% → ≈6.6%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5184648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2023 → 2024 → 2025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5623560"/>
            <a:ext cx="4370832" cy="841248"/>
          </a:xfrm>
          <a:prstGeom prst="roundRect">
            <a:avLst>
              <a:gd name="adj" fmla="val 5500"/>
            </a:avLst>
          </a:prstGeom>
          <a:solidFill>
            <a:srgbClr val="EFF4FA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5715000"/>
            <a:ext cx="40233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注：组件及其他收入、主营合计均为倒算值（待核验）；9M2025人形占比51.53%（申报稿）。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C2FF"/>
                </a:solidFill>
                <a:latin typeface="微软雅黑"/>
                <a:ea typeface="微软雅黑"/>
                <a:cs typeface="微软雅黑"/>
              </a:rPr>
              <a:t>04 收入增长 · GROWTH</a:t>
            </a:r>
          </a:p>
        </p:txBody>
      </p:sp>
      <p:sp>
        <p:nvSpPr>
          <p:cNvPr id="4" name="action_title"/>
          <p:cNvSpPr txBox="1"/>
          <p:nvPr/>
        </p:nvSpPr>
        <p:spPr>
          <a:xfrm>
            <a:off x="502920" y="548640"/>
            <a:ext cx="111858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营收三年增长近13倍：2025年+332.6%，2026H1增速回落至+48.5%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335024"/>
            <a:ext cx="1097280" cy="29260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85855" cy="950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_source"/>
          <p:cNvSpPr txBox="1"/>
          <p:nvPr/>
        </p:nvSpPr>
        <p:spPr>
          <a:xfrm>
            <a:off x="502920" y="6574536"/>
            <a:ext cx="6812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资料来源：招股说明书、上市公告书（2026-08-18）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360920" y="6574536"/>
            <a:ext cx="4325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资料截止：2026-08-30 ｜ 第5页 ｜ 内部汇报材料·不构成投资建议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营业收入（万元，2022–2025年度 + 2026H1）</a:t>
            </a:r>
          </a:p>
        </p:txBody>
      </p:sp>
      <p:graphicFrame>
        <p:nvGraphicFramePr>
          <p:cNvPr id="10" name="chart_revenue"/>
          <p:cNvGraphicFramePr>
            <a:graphicFrameLocks noGrp="1"/>
          </p:cNvGraphicFramePr>
          <p:nvPr/>
        </p:nvGraphicFramePr>
        <p:xfrm>
          <a:off x="502920" y="1783080"/>
          <a:ext cx="81381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532120" y="205740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E3F6FF"/>
          </a:solidFill>
          <a:ln w="12700">
            <a:solidFill>
              <a:srgbClr val="1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2023–2025 CAGR ≈ 226.8%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783080"/>
            <a:ext cx="2770632" cy="3246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79992" y="1783080"/>
            <a:ext cx="2441448" cy="38404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938528"/>
            <a:ext cx="23317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口径注释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· 2022/2024为约数（申报稿/倒算）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· 2024申报稿审计值39,237.06万元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· 2026H1约11.52亿（+48.54%），取自上市公告书</a:t>
            </a:r>
          </a:p>
          <a:p>
            <a:pPr algn="l"/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· 2026H1为半年数据（浅色柱），与全年不可直接比较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C2FF"/>
                </a:solidFill>
                <a:latin typeface="微软雅黑"/>
                <a:ea typeface="微软雅黑"/>
                <a:cs typeface="微软雅黑"/>
              </a:rPr>
              <a:t>05 盈利变化 · PROFITABILITY</a:t>
            </a:r>
          </a:p>
        </p:txBody>
      </p:sp>
      <p:sp>
        <p:nvSpPr>
          <p:cNvPr id="4" name="action_title"/>
          <p:cNvSpPr txBox="1"/>
          <p:nvPr/>
        </p:nvSpPr>
        <p:spPr>
          <a:xfrm>
            <a:off x="502920" y="548640"/>
            <a:ext cx="111858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2024年扭亏、2025年扣非5.9亿：剔除一次性股份支付后盈利成色更足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335024"/>
            <a:ext cx="1097280" cy="29260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85855" cy="950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_source"/>
          <p:cNvSpPr txBox="1"/>
          <p:nvPr/>
        </p:nvSpPr>
        <p:spPr>
          <a:xfrm>
            <a:off x="502920" y="6574536"/>
            <a:ext cx="6812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资料来源：招股说明书（注册稿/申报稿）、上市公告书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360920" y="6574536"/>
            <a:ext cx="4325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资料截止：2026-08-30 ｜ 第6页 ｜ 内部汇报材料·不构成投资建议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7406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归母净利润 vs 扣非归母净利润（万元，2022–2025）</a:t>
            </a:r>
          </a:p>
        </p:txBody>
      </p:sp>
      <p:graphicFrame>
        <p:nvGraphicFramePr>
          <p:cNvPr id="10" name="chart_profit"/>
          <p:cNvGraphicFramePr>
            <a:graphicFrameLocks noGrp="1"/>
          </p:cNvGraphicFramePr>
          <p:nvPr/>
        </p:nvGraphicFramePr>
        <p:xfrm>
          <a:off x="502920" y="1783080"/>
          <a:ext cx="745236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83879" y="1783080"/>
            <a:ext cx="3502152" cy="18836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48471" y="1783080"/>
            <a:ext cx="3172968" cy="38404"/>
          </a:xfrm>
          <a:prstGeom prst="rect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3063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8543F"/>
                </a:solidFill>
                <a:latin typeface="微软雅黑"/>
                <a:ea typeface="微软雅黑"/>
                <a:cs typeface="微软雅黑"/>
              </a:rPr>
              <a:t>为何2025年归母＜扣非？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一次性股份支付34,906.55万元计入管理费用，致归母低于扣非约31,254万元（非经常性）。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803904"/>
            <a:ext cx="3502152" cy="18653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48471" y="3803904"/>
            <a:ext cx="3172968" cy="38404"/>
          </a:xfrm>
          <a:prstGeom prst="rect">
            <a:avLst/>
          </a:prstGeom>
          <a:solidFill>
            <a:srgbClr val="17B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941063"/>
            <a:ext cx="3063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7B890"/>
                </a:solidFill>
                <a:latin typeface="微软雅黑"/>
                <a:ea typeface="微软雅黑"/>
                <a:cs typeface="微软雅黑"/>
              </a:rPr>
              <a:t>盈利成色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2025年扣非净利率约34.8%；2024年归母9,547.47万元实现扭亏；2022年扣非约-807万元（约数）。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833872"/>
            <a:ext cx="11185855" cy="502920"/>
          </a:xfrm>
          <a:prstGeom prst="roundRect">
            <a:avLst>
              <a:gd name="adj" fmla="val 18000"/>
            </a:avLst>
          </a:prstGeom>
          <a:solidFill>
            <a:srgbClr val="FD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7784" y="5907024"/>
            <a:ext cx="45720" cy="356616"/>
          </a:xfrm>
          <a:prstGeom prst="rect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879592"/>
            <a:ext cx="1085667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53A28"/>
                </a:solidFill>
                <a:latin typeface="微软雅黑"/>
                <a:ea typeface="微软雅黑"/>
                <a:cs typeface="微软雅黑"/>
              </a:rPr>
              <a:t>⚠ 2026Q1扣非-52.55%、2026H1扣非-19.34%（上市公告书）——费用高速扩张，规模扩张期利润承压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C2FF"/>
                </a:solidFill>
                <a:latin typeface="微软雅黑"/>
                <a:ea typeface="微软雅黑"/>
                <a:cs typeface="微软雅黑"/>
              </a:rPr>
              <a:t>06 盈利质量 · EARNINGS QUALITY</a:t>
            </a:r>
          </a:p>
        </p:txBody>
      </p:sp>
      <p:sp>
        <p:nvSpPr>
          <p:cNvPr id="4" name="action_title"/>
          <p:cNvSpPr txBox="1"/>
          <p:nvPr/>
        </p:nvSpPr>
        <p:spPr>
          <a:xfrm>
            <a:off x="502920" y="548640"/>
            <a:ext cx="111858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毛利率升至60.1%、经营现金流6.7亿超扣非净利，盈利含金量高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335024"/>
            <a:ext cx="1097280" cy="29260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85855" cy="950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_source"/>
          <p:cNvSpPr txBox="1"/>
          <p:nvPr/>
        </p:nvSpPr>
        <p:spPr>
          <a:xfrm>
            <a:off x="502920" y="6574536"/>
            <a:ext cx="6812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资料来源：招股说明书、金融时报（2026-05-26）、长江商报（2026-03-23）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360920" y="6574536"/>
            <a:ext cx="4325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资料截止：2026-08-30 ｜ 第7页 ｜ 内部汇报材料·不构成投资建议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主营业务毛利率（%，2023–2025）</a:t>
            </a:r>
          </a:p>
        </p:txBody>
      </p:sp>
      <p:graphicFrame>
        <p:nvGraphicFramePr>
          <p:cNvPr id="10" name="chart_margin"/>
          <p:cNvGraphicFramePr>
            <a:graphicFrameLocks noGrp="1"/>
          </p:cNvGraphicFramePr>
          <p:nvPr/>
        </p:nvGraphicFramePr>
        <p:xfrm>
          <a:off x="502920" y="1783080"/>
          <a:ext cx="5394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72200" y="1481328"/>
            <a:ext cx="5513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经营活动现金流净额（万元，2022–2025）</a:t>
            </a:r>
          </a:p>
        </p:txBody>
      </p:sp>
      <p:graphicFrame>
        <p:nvGraphicFramePr>
          <p:cNvPr id="12" name="chart_cashflow"/>
          <p:cNvGraphicFramePr>
            <a:graphicFrameLocks noGrp="1"/>
          </p:cNvGraphicFramePr>
          <p:nvPr/>
        </p:nvGraphicFramePr>
        <p:xfrm>
          <a:off x="6172200" y="1783080"/>
          <a:ext cx="5513832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72200" y="5961888"/>
            <a:ext cx="55138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注：2022/2023为单一来源（待核验，灰蓝色柱）；2024/2025为披露约数（1.92亿/6.70亿）。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C2FF"/>
                </a:solidFill>
                <a:latin typeface="微软雅黑"/>
                <a:ea typeface="微软雅黑"/>
                <a:cs typeface="微软雅黑"/>
              </a:rPr>
              <a:t>07 研发投入 · R&amp;D</a:t>
            </a:r>
          </a:p>
        </p:txBody>
      </p:sp>
      <p:sp>
        <p:nvSpPr>
          <p:cNvPr id="4" name="action_title"/>
          <p:cNvSpPr txBox="1"/>
          <p:nvPr/>
        </p:nvSpPr>
        <p:spPr>
          <a:xfrm>
            <a:off x="502920" y="548640"/>
            <a:ext cx="111858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研发费率8.5%低于同业均值，但绝对额三年近5倍增长、募投85%加码研发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335024"/>
            <a:ext cx="1097280" cy="29260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85855" cy="950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_source"/>
          <p:cNvSpPr txBox="1"/>
          <p:nvPr/>
        </p:nvSpPr>
        <p:spPr>
          <a:xfrm>
            <a:off x="502920" y="6574536"/>
            <a:ext cx="6812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资料来源：招股说明书、长江商报、金融时报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360920" y="6574536"/>
            <a:ext cx="4325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资料截止：2026-08-30 ｜ 第8页 ｜ 内部汇报材料·不构成投资建议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研发费用（万元，2022–2025）</a:t>
            </a:r>
          </a:p>
        </p:txBody>
      </p:sp>
      <p:graphicFrame>
        <p:nvGraphicFramePr>
          <p:cNvPr id="10" name="chart_rd_exp"/>
          <p:cNvGraphicFramePr>
            <a:graphicFrameLocks noGrp="1"/>
          </p:cNvGraphicFramePr>
          <p:nvPr/>
        </p:nvGraphicFramePr>
        <p:xfrm>
          <a:off x="502920" y="1755648"/>
          <a:ext cx="5212080" cy="34015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89320" y="1463040"/>
            <a:ext cx="5696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研发费用率（%）与同业均值（9M2025）</a:t>
            </a:r>
          </a:p>
        </p:txBody>
      </p:sp>
      <p:graphicFrame>
        <p:nvGraphicFramePr>
          <p:cNvPr id="12" name="chart_rd_ratio"/>
          <p:cNvGraphicFramePr>
            <a:graphicFrameLocks noGrp="1"/>
          </p:cNvGraphicFramePr>
          <p:nvPr/>
        </p:nvGraphicFramePr>
        <p:xfrm>
          <a:off x="5989320" y="1755648"/>
          <a:ext cx="5696712" cy="340156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5248656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募投项目投向（万元，合计420,171.12，约85%投向研发）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559552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智能机器人模型研发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5573268"/>
            <a:ext cx="5989320" cy="182880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5559552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202,245.93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792724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机器人本体研发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5806440"/>
            <a:ext cx="3286383" cy="182880"/>
          </a:xfrm>
          <a:prstGeom prst="roundRect">
            <a:avLst>
              <a:gd name="adj" fmla="val 50000"/>
            </a:avLst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1103" y="5792724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110,973.80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025896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制造基地（年产7.5万台人形+11.5万台四足）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6039612"/>
            <a:ext cx="1848253" cy="182880"/>
          </a:xfrm>
          <a:prstGeom prst="roundRect">
            <a:avLst>
              <a:gd name="adj" fmla="val 50000"/>
            </a:avLst>
          </a:prstGeom>
          <a:solidFill>
            <a:srgbClr val="17B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22973" y="6025896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62,411.39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259068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新型产品开发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6272783"/>
            <a:ext cx="1319009" cy="182880"/>
          </a:xfrm>
          <a:prstGeom prst="roundRect">
            <a:avLst>
              <a:gd name="adj" fmla="val 50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3729" y="6259068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44,540.00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C2FF"/>
                </a:solidFill>
                <a:latin typeface="微软雅黑"/>
                <a:ea typeface="微软雅黑"/>
                <a:cs typeface="微软雅黑"/>
              </a:rPr>
              <a:t>08 竞争优势 · MOAT</a:t>
            </a:r>
          </a:p>
        </p:txBody>
      </p:sp>
      <p:sp>
        <p:nvSpPr>
          <p:cNvPr id="4" name="action_title"/>
          <p:cNvSpPr txBox="1"/>
          <p:nvPr/>
        </p:nvSpPr>
        <p:spPr>
          <a:xfrm>
            <a:off x="502920" y="548640"/>
            <a:ext cx="111858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全栈自研+规模量产：四足份额60–70%，人形出货全球第一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335024"/>
            <a:ext cx="1097280" cy="29260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85855" cy="950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_source"/>
          <p:cNvSpPr txBox="1"/>
          <p:nvPr/>
        </p:nvSpPr>
        <p:spPr>
          <a:xfrm>
            <a:off x="502920" y="6574536"/>
            <a:ext cx="6812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资料来源：国新办见面会（2025-07-15）、赛迪顾问、公司官方公告（2026-08）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360920" y="6574536"/>
            <a:ext cx="4325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资料截止：2026-08-30 ｜ 第9页 ｜ 内部汇报材料·不构成投资建议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2670048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691640"/>
            <a:ext cx="2340864" cy="38404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03120"/>
            <a:ext cx="22677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60–70%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090672"/>
            <a:ext cx="22677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四足机器人全球销量份额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767328"/>
            <a:ext cx="2267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王兴兴国新办表态（2025-07-15），管理层口径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691640"/>
            <a:ext cx="2670048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2152" y="1691640"/>
            <a:ext cx="2340864" cy="38404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2103120"/>
            <a:ext cx="22677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5,500+台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3090672"/>
            <a:ext cx="22677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人形2025年出货全球第一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767328"/>
            <a:ext cx="2267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份额32.4%（赛迪顾问，机构数据）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691640"/>
            <a:ext cx="2670048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6792" y="1691640"/>
            <a:ext cx="2340864" cy="38404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103120"/>
            <a:ext cx="22677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≈18,000台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090672"/>
            <a:ext cx="22677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纯双足人形累计下线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767328"/>
            <a:ext cx="2267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截至2026-07，公司官方口径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691640"/>
            <a:ext cx="2670048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71432" y="1691640"/>
            <a:ext cx="2340864" cy="38404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08008" y="2103120"/>
            <a:ext cx="22677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59.34→16.76万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3090672"/>
            <a:ext cx="22677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人形平均单价（万元/台）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3767328"/>
            <a:ext cx="2267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2023→9M2025，全栈自研以价换量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074920"/>
            <a:ext cx="11185855" cy="658368"/>
          </a:xfrm>
          <a:prstGeom prst="roundRect">
            <a:avLst>
              <a:gd name="adj" fmla="val 16000"/>
            </a:avLst>
          </a:prstGeom>
          <a:solidFill>
            <a:srgbClr val="E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7784" y="5166360"/>
            <a:ext cx="45720" cy="475488"/>
          </a:xfrm>
          <a:prstGeom prst="rect">
            <a:avLst/>
          </a:prstGeom>
          <a:solidFill>
            <a:srgbClr val="17B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38928"/>
            <a:ext cx="10789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E7A62"/>
                </a:solidFill>
                <a:latin typeface="微软雅黑"/>
                <a:ea typeface="微软雅黑"/>
                <a:cs typeface="微软雅黑"/>
              </a:rPr>
              <a:t>2025年归母净利润与经营现金流双为正（扣非5.91亿、经营现金流6.70亿），区别于多数未盈利同业。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C2FF"/>
                </a:solidFill>
                <a:latin typeface="微软雅黑"/>
                <a:ea typeface="微软雅黑"/>
                <a:cs typeface="微软雅黑"/>
              </a:rPr>
              <a:t>09 商业化结构 · COMMERCIALIZATION</a:t>
            </a:r>
          </a:p>
        </p:txBody>
      </p:sp>
      <p:sp>
        <p:nvSpPr>
          <p:cNvPr id="4" name="action_title"/>
          <p:cNvSpPr txBox="1"/>
          <p:nvPr/>
        </p:nvSpPr>
        <p:spPr>
          <a:xfrm>
            <a:off x="502920" y="548640"/>
            <a:ext cx="111858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人形73.6%销往科研教育、工业场景仅9.0%，境外占比降至39.2%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335024"/>
            <a:ext cx="1097280" cy="29260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85855" cy="950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_source"/>
          <p:cNvSpPr txBox="1"/>
          <p:nvPr/>
        </p:nvSpPr>
        <p:spPr>
          <a:xfrm>
            <a:off x="502920" y="6574536"/>
            <a:ext cx="6812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资料来源：招股说明书（申报稿）、潮新闻（2026-03-20）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360920" y="6574536"/>
            <a:ext cx="4325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资料截止：2026-08-30 ｜ 第10页 ｜ 内部汇报材料·不构成投资建议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下游应用结构（9M2025，申报稿，占各自收入比）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8308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人形机器人下游</a:t>
            </a:r>
          </a:p>
        </p:txBody>
      </p:sp>
      <p:graphicFrame>
        <p:nvGraphicFramePr>
          <p:cNvPr id="11" name="chart_pie_humanoid"/>
          <p:cNvGraphicFramePr>
            <a:graphicFrameLocks noGrp="1"/>
          </p:cNvGraphicFramePr>
          <p:nvPr/>
        </p:nvGraphicFramePr>
        <p:xfrm>
          <a:off x="411480" y="2057400"/>
          <a:ext cx="292608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474720" y="178308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四足机器人下游</a:t>
            </a:r>
          </a:p>
        </p:txBody>
      </p:sp>
      <p:graphicFrame>
        <p:nvGraphicFramePr>
          <p:cNvPr id="13" name="chart_pie_quadruped"/>
          <p:cNvGraphicFramePr>
            <a:graphicFrameLocks noGrp="1"/>
          </p:cNvGraphicFramePr>
          <p:nvPr/>
        </p:nvGraphicFramePr>
        <p:xfrm>
          <a:off x="3474720" y="2057400"/>
          <a:ext cx="2926080" cy="2880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074920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注：四足商业消费占比42.30%首超科研教育31.58%。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463040"/>
            <a:ext cx="4965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境外收入占比（%，申报稿口径）</a:t>
            </a:r>
          </a:p>
        </p:txBody>
      </p:sp>
      <p:graphicFrame>
        <p:nvGraphicFramePr>
          <p:cNvPr id="16" name="chart_overseas"/>
          <p:cNvGraphicFramePr>
            <a:graphicFrameLocks noGrp="1"/>
          </p:cNvGraphicFramePr>
          <p:nvPr/>
        </p:nvGraphicFramePr>
        <p:xfrm>
          <a:off x="6720840" y="2057400"/>
          <a:ext cx="4965192" cy="3246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5650992"/>
            <a:ext cx="11185855" cy="566928"/>
          </a:xfrm>
          <a:prstGeom prst="roundRect">
            <a:avLst>
              <a:gd name="adj" fmla="val 18000"/>
            </a:avLst>
          </a:prstGeom>
          <a:solidFill>
            <a:srgbClr val="FD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7784" y="5724144"/>
            <a:ext cx="45720" cy="420623"/>
          </a:xfrm>
          <a:prstGeom prst="rect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696712"/>
            <a:ext cx="1085667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53A28"/>
                </a:solidFill>
                <a:latin typeface="微软雅黑"/>
                <a:ea typeface="微软雅黑"/>
                <a:cs typeface="微软雅黑"/>
              </a:rPr>
              <a:t>⚠ 真实生产场景（智能制造/巡检）9M2025收入仅1,570万元、占主营2.64%（单一来源，待核验）；9M2025境外占比39.20%系国内放量摊薄。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C2FF"/>
                </a:solidFill>
                <a:latin typeface="微软雅黑"/>
                <a:ea typeface="微软雅黑"/>
                <a:cs typeface="微软雅黑"/>
              </a:rPr>
              <a:t>10 增长变量 · GROWTH DRIVERS</a:t>
            </a:r>
          </a:p>
        </p:txBody>
      </p:sp>
      <p:sp>
        <p:nvSpPr>
          <p:cNvPr id="4" name="action_title"/>
          <p:cNvSpPr txBox="1"/>
          <p:nvPr/>
        </p:nvSpPr>
        <p:spPr>
          <a:xfrm>
            <a:off x="502920" y="548640"/>
            <a:ext cx="111858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四大变量决定增长持续性：产能、场景、海外、大模型（含前瞻表述，非业绩指引）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335024"/>
            <a:ext cx="1097280" cy="29260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85855" cy="950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_source"/>
          <p:cNvSpPr txBox="1"/>
          <p:nvPr/>
        </p:nvSpPr>
        <p:spPr>
          <a:xfrm>
            <a:off x="502920" y="6574536"/>
            <a:ext cx="6812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资料来源：招股说明书、管理层公开表态（已标注）、媒体报道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360920" y="6574536"/>
            <a:ext cx="4325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资料截止：2026-08-30 ｜ 第11页 ｜ 内部汇报材料·不构成投资建议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2670048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627632"/>
            <a:ext cx="2340864" cy="38404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847088"/>
            <a:ext cx="22677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① 产能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286000"/>
            <a:ext cx="2267712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募投制造基地规划产能：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年产7.5万台人形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11.5万台四足（招股书）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若顺利达产，可支撑放量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627632"/>
            <a:ext cx="2670048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2152" y="1627632"/>
            <a:ext cx="2340864" cy="38404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847088"/>
            <a:ext cx="22677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② 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286000"/>
            <a:ext cx="2267712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科研教育→工业/消费渗透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节奏仍待观察：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当前行业应用占比仅9.01%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真实生产场景尚在早期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27632"/>
            <a:ext cx="2670048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36792" y="1627632"/>
            <a:ext cx="2340864" cy="38404"/>
          </a:xfrm>
          <a:prstGeom prst="rect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847088"/>
            <a:ext cx="22677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③ 海外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286000"/>
            <a:ext cx="2267712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2026-07-28美国FCC禁令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（限新型号进口）带来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海外扩张不确定性；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管理层称出口占比约40–50%（表态）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627632"/>
            <a:ext cx="2670048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71432" y="1627632"/>
            <a:ext cx="2340864" cy="38404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1847088"/>
            <a:ext cx="22677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④ 大模型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2286000"/>
            <a:ext cx="2267712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募投押注WMA/VLA路线；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“ChatGPT时刻快则2–3年、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慢则5–10年”（王兴兴表态）；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“2026年出货至少翻一番”（表态，非业绩指引）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注：本页含前瞻/表态性表述，均为条件式措辞，不构成业绩指引或投资建议。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C2FF"/>
                </a:solidFill>
                <a:latin typeface="微软雅黑"/>
                <a:ea typeface="微软雅黑"/>
                <a:cs typeface="微软雅黑"/>
              </a:rPr>
              <a:t>11 市场表现与估值 · VALUATION</a:t>
            </a:r>
          </a:p>
        </p:txBody>
      </p:sp>
      <p:sp>
        <p:nvSpPr>
          <p:cNvPr id="4" name="action_title"/>
          <p:cNvSpPr txBox="1"/>
          <p:nvPr/>
        </p:nvSpPr>
        <p:spPr>
          <a:xfrm>
            <a:off x="502920" y="548640"/>
            <a:ext cx="111858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首日+460%后回落近半：8月底市值约2,285亿元，仍对应2025年归母PE约821倍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335024"/>
            <a:ext cx="1097280" cy="29260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85855" cy="950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_source"/>
          <p:cNvSpPr txBox="1"/>
          <p:nvPr/>
        </p:nvSpPr>
        <p:spPr>
          <a:xfrm>
            <a:off x="502920" y="6574536"/>
            <a:ext cx="6812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资料来源：上交所、发行结果公告（2026-08-14）、二级市场数据（截至2026-08-31）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360920" y="6574536"/>
            <a:ext cx="4325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资料截止：2026-08-30 ｜ 第12页 ｜ 内部汇报材料·不构成投资建议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市值轨迹（亿元，二级市场数据）</a:t>
            </a:r>
          </a:p>
        </p:txBody>
      </p:sp>
      <p:graphicFrame>
        <p:nvGraphicFramePr>
          <p:cNvPr id="10" name="chart_mktcap"/>
          <p:cNvGraphicFramePr>
            <a:graphicFrameLocks noGrp="1"/>
          </p:cNvGraphicFramePr>
          <p:nvPr/>
        </p:nvGraphicFramePr>
        <p:xfrm>
          <a:off x="502920" y="1783080"/>
          <a:ext cx="694944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85216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注：市值=收盘价×总股本40,446.434万股；08-31收盘564.90元略晚于8-30截止日，作补充标注。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83080"/>
            <a:ext cx="3959352" cy="13898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91271" y="1783080"/>
            <a:ext cx="3630168" cy="38404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901952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219.23×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350008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发行市盈率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633472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行业均值38.56倍（发行公告），发行价150.80元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319272"/>
            <a:ext cx="3959352" cy="13898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91271" y="3319272"/>
            <a:ext cx="3630168" cy="38404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438144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7.44%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886200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上市初流通盘占比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169663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流通股仅3,008.772万股，波动或被放大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4855464"/>
            <a:ext cx="3959352" cy="13898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91271" y="4855464"/>
            <a:ext cx="3630168" cy="38404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4974336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506–559亿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422392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机构目标市值（中信）【机构观点】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5705855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野村目标价370元、建银国际269元，与现价分歧大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C2FF"/>
                </a:solidFill>
                <a:latin typeface="微软雅黑"/>
                <a:ea typeface="微软雅黑"/>
                <a:cs typeface="微软雅黑"/>
              </a:rPr>
              <a:t>12 主要风险 · RISKS</a:t>
            </a:r>
          </a:p>
        </p:txBody>
      </p:sp>
      <p:sp>
        <p:nvSpPr>
          <p:cNvPr id="4" name="action_title"/>
          <p:cNvSpPr txBox="1"/>
          <p:nvPr/>
        </p:nvSpPr>
        <p:spPr>
          <a:xfrm>
            <a:off x="502920" y="548640"/>
            <a:ext cx="111858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六大风险：估值消化、盈利承压、客户集中、地缘、竞争与解禁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335024"/>
            <a:ext cx="1097280" cy="29260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85855" cy="950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_source"/>
          <p:cNvSpPr txBox="1"/>
          <p:nvPr/>
        </p:nvSpPr>
        <p:spPr>
          <a:xfrm>
            <a:off x="502920" y="6574536"/>
            <a:ext cx="6812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资料来源：招股说明书、上市公告书、媒体报道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360920" y="6574536"/>
            <a:ext cx="4325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资料截止：2026-08-30 ｜ 第13页 ｜ 内部汇报材料·不构成投资建议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72768"/>
            <a:ext cx="3648456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572768"/>
            <a:ext cx="3319272" cy="38404"/>
          </a:xfrm>
          <a:prstGeom prst="rect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373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① 高估值消化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39696"/>
            <a:ext cx="3246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发行PE 219.23倍；8月底市值对应2025年归母PE约821倍，依赖高增长持续兑现。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572768"/>
            <a:ext cx="3648456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1572768"/>
            <a:ext cx="3319272" cy="38404"/>
          </a:xfrm>
          <a:prstGeom prst="rect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7373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② 增收不增利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139696"/>
            <a:ext cx="3246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2026H1扣非-19.34%；研发+152%、销售+250%（费用增速待核验），利润承压。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9288" y="1572768"/>
            <a:ext cx="3648456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572768"/>
            <a:ext cx="3319272" cy="38404"/>
          </a:xfrm>
          <a:prstGeom prst="rect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17373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③ 客户集中科教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139696"/>
            <a:ext cx="3246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人形73.6%销往科研教育，对科研采购预算波动敏感。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41648"/>
            <a:ext cx="3648456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" y="4041648"/>
            <a:ext cx="3319272" cy="38404"/>
          </a:xfrm>
          <a:prstGeom prst="rect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20624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④ 地缘风险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608576"/>
            <a:ext cx="3246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FCC禁令（限新型号）、涉军清单；美国收入占比13.3%（待核验）。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61104" y="4041648"/>
            <a:ext cx="3648456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25696" y="4041648"/>
            <a:ext cx="3319272" cy="38404"/>
          </a:xfrm>
          <a:prstGeom prst="rect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420624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⑤ 竞争加剧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4608576"/>
            <a:ext cx="3246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2026H1第三方口径智元出货反超（机构口径差异，待核验）。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9288" y="4041648"/>
            <a:ext cx="3648456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4041648"/>
            <a:ext cx="3319272" cy="38404"/>
          </a:xfrm>
          <a:prstGeom prst="rect">
            <a:avLst/>
          </a:prstGeom>
          <a:solidFill>
            <a:srgbClr val="E85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0456" y="420624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⑥ 流动性与解禁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4608576"/>
            <a:ext cx="3246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流通盘仅7.44%波动大；2027年起限售解禁；正式半年报未披露存数据缺口。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C2FF"/>
                </a:solidFill>
                <a:latin typeface="微软雅黑"/>
                <a:ea typeface="微软雅黑"/>
                <a:cs typeface="微软雅黑"/>
              </a:rPr>
              <a:t>13 口径说明 · DATA NOTES</a:t>
            </a:r>
          </a:p>
        </p:txBody>
      </p:sp>
      <p:sp>
        <p:nvSpPr>
          <p:cNvPr id="4" name="action_title"/>
          <p:cNvSpPr txBox="1"/>
          <p:nvPr/>
        </p:nvSpPr>
        <p:spPr>
          <a:xfrm>
            <a:off x="502920" y="548640"/>
            <a:ext cx="111858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数据口径：注册稿为准；七类事项仍需人工核验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335024"/>
            <a:ext cx="1097280" cy="29260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85855" cy="9509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_source"/>
          <p:cNvSpPr txBox="1"/>
          <p:nvPr/>
        </p:nvSpPr>
        <p:spPr>
          <a:xfrm>
            <a:off x="502920" y="6574536"/>
            <a:ext cx="6812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资料来源：上交所688836公告列表（2026-08-30核验）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360920" y="6574536"/>
            <a:ext cx="4325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资料截止：2026-08-30 ｜ 第14页 ｜ 内部汇报材料·不构成投资建议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4526280" cy="4434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554480"/>
            <a:ext cx="4197096" cy="38404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55648"/>
            <a:ext cx="40233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口径说明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· 金额单位：人民币万元（市值另注亿元）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· 以招股说明书注册稿/上市公告书为主口径，申报稿数据作补充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· 2026H1数据取自上市公告书；正式半年报截至2026-08-30未披露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· 公司无少数股东权益，净利润=归母净利润</a:t>
            </a:r>
          </a:p>
          <a:p>
            <a:pPr algn="l"/>
            <a:r>
              <a:rPr sz="1000" b="0" i="0">
                <a:solidFill>
                  <a:srgbClr val="23324D"/>
                </a:solidFill>
                <a:latin typeface="微软雅黑"/>
                <a:ea typeface="微软雅黑"/>
                <a:cs typeface="微软雅黑"/>
              </a:rPr>
              <a:t>· ⚠=单一来源/倒算/约数；🔮=第三方预测，不写成事实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481328"/>
            <a:ext cx="6336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A1F44"/>
                </a:solidFill>
                <a:latin typeface="微软雅黑"/>
                <a:ea typeface="微软雅黑"/>
                <a:cs typeface="微软雅黑"/>
              </a:rPr>
              <a:t>待核验清单（7项）</a:t>
            </a:r>
          </a:p>
        </p:txBody>
      </p:sp>
      <p:graphicFrame>
        <p:nvGraphicFramePr>
          <p:cNvPr id="13" name="table_todo"/>
          <p:cNvGraphicFramePr>
            <a:graphicFrameLocks noGrp="1"/>
          </p:cNvGraphicFramePr>
          <p:nvPr/>
        </p:nvGraphicFramePr>
        <p:xfrm>
          <a:off x="5349240" y="1783080"/>
          <a:ext cx="6336792" cy="416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3246120"/>
                <a:gridCol w="2679192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待核验事项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当前采用值/说明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0A1F44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9C2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3324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2024年营收注册稿精确值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B7A9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暂用约39,276.6（倒算）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9C2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3324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2025年末资产负债明细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B7A9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总资产321,500等（申报稿口径）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1F5FB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9C2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3324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2025全年分地区收入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B7A9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73,200一说自相矛盾，未纳入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9C2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3324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美国收入占比13.3%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B7A9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单一来源（招股意向书风险章节）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1F5FB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9C2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3324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2025年费用明细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B7A9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研发费用14,500（约）等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9C2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3324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人形2025销量5,215台 vs 出货5,500台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B7A9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采用官方出货量口径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1F5FB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9C2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3324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正式半年报与定期报告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6B7A9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截至2026-08-30未披露</a:t>
                      </a:r>
                    </a:p>
                  </a:txBody>
                  <a:tcPr anchor="ctr" marL="73152" marR="54864" marT="18288" marB="18288">
                    <a:lnL w="9525" cap="flat" cmpd="sng" algn="ctr">
                      <a:solidFill>
                        <a:srgbClr val="D8E0EA"/>
                      </a:solidFill>
                    </a:lnL>
                    <a:lnR w="9525" cap="flat" cmpd="sng" algn="ctr">
                      <a:solidFill>
                        <a:srgbClr val="D8E0EA"/>
                      </a:solidFill>
                    </a:lnR>
                    <a:lnT w="9525" cap="flat" cmpd="sng" algn="ctr">
                      <a:solidFill>
                        <a:srgbClr val="D8E0EA"/>
                      </a:solidFill>
                    </a:lnT>
                    <a:lnB w="9525" cap="flat" cmpd="sng" algn="ctr">
                      <a:solidFill>
                        <a:srgbClr val="D8E0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_title"/>
          <p:cNvSpPr txBox="1"/>
          <p:nvPr/>
        </p:nvSpPr>
        <p:spPr>
          <a:xfrm>
            <a:off x="1371600" y="2148840"/>
            <a:ext cx="94484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谢谢审阅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63240"/>
            <a:ext cx="94484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D6E4F5"/>
                </a:solidFill>
                <a:latin typeface="微软雅黑"/>
                <a:ea typeface="微软雅黑"/>
                <a:cs typeface="微软雅黑"/>
              </a:rPr>
              <a:t>本材料基于公开信息整理，不构成投资建议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38190" y="3703320"/>
            <a:ext cx="914400" cy="32004"/>
          </a:xfrm>
          <a:prstGeom prst="rect">
            <a:avLst/>
          </a:prstGeom>
          <a:solidFill>
            <a:srgbClr val="1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_source"/>
          <p:cNvSpPr txBox="1"/>
          <p:nvPr/>
        </p:nvSpPr>
        <p:spPr>
          <a:xfrm>
            <a:off x="1371600" y="3977639"/>
            <a:ext cx="9448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9C2FF"/>
                </a:solidFill>
                <a:latin typeface="微软雅黑"/>
                <a:ea typeface="微软雅黑"/>
                <a:cs typeface="微软雅黑"/>
              </a:rPr>
              <a:t>核心资料来源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70832"/>
            <a:ext cx="944849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上海证券交易所688836公告列表（2026-08-30核验）</a:t>
            </a:r>
          </a:p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招股说明书（注册稿/申报稿）、上市公告书（2026-08-18）</a:t>
            </a:r>
          </a:p>
          <a:p>
            <a:pPr algn="ctr"/>
            <a:r>
              <a:rPr sz="105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新华社、证券时报、第一财经、长江商报等公开报道（2026-03至2026-08）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638251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FA3BF"/>
                </a:solidFill>
                <a:latin typeface="微软雅黑"/>
                <a:ea typeface="微软雅黑"/>
                <a:cs typeface="微软雅黑"/>
              </a:rPr>
              <a:t>封底图片由AI生成，仅作装饰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