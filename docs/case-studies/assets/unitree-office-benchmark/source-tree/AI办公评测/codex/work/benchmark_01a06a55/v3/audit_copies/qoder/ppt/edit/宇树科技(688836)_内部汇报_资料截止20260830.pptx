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四足机器人</c:v>
                </c:pt>
              </c:strCache>
            </c:strRef>
          </c:tx>
          <c:spPr>
            <a:solidFill>
              <a:srgbClr val="5B8DC7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2023年度</c:v>
                </c:pt>
                <c:pt idx="1">
                  <c:v>2024年度</c:v>
                </c:pt>
                <c:pt idx="2">
                  <c:v>2025年度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0.7578</c:v>
                </c:pt>
                <c:pt idx="1">
                  <c:v>0.5947</c:v>
                </c:pt>
                <c:pt idx="2">
                  <c:v>0.4162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人形机器人</c:v>
                </c:pt>
              </c:strCache>
            </c:strRef>
          </c:tx>
          <c:spPr>
            <a:solidFill>
              <a:srgbClr val="1F386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2023年度</c:v>
                </c:pt>
                <c:pt idx="1">
                  <c:v>2024年度</c:v>
                </c:pt>
                <c:pt idx="2">
                  <c:v>2025年度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0.0188</c:v>
                </c:pt>
                <c:pt idx="1">
                  <c:v>0.2768</c:v>
                </c:pt>
                <c:pt idx="2">
                  <c:v>0.5178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机器人组件</c:v>
                </c:pt>
              </c:strCache>
            </c:strRef>
          </c:tx>
          <c:spPr>
            <a:solidFill>
              <a:srgbClr val="7FB2E5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2023年度</c:v>
                </c:pt>
                <c:pt idx="1">
                  <c:v>2024年度</c:v>
                </c:pt>
                <c:pt idx="2">
                  <c:v>2025年度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0.1709</c:v>
                </c:pt>
                <c:pt idx="1">
                  <c:v>0.1149</c:v>
                </c:pt>
                <c:pt idx="2">
                  <c:v>0.0619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5A667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2023年度</c:v>
                </c:pt>
                <c:pt idx="1">
                  <c:v>2024年度</c:v>
                </c:pt>
                <c:pt idx="2">
                  <c:v>2025年度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0.0525</c:v>
                </c:pt>
                <c:pt idx="1">
                  <c:v>0.0137</c:v>
                </c:pt>
                <c:pt idx="2">
                  <c:v>0.0041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 w="12700">
            <a:solidFill>
              <a:srgbClr val="DAE2EC"/>
            </a:solidFill>
          </a:ln>
        </c:spPr>
        <c:txPr>
          <a:bodyPr/>
          <a:lstStyle/>
          <a:p>
            <a:pPr>
              <a:defRPr sz="1000">
                <a:solidFill>
                  <a:srgbClr val="5A6673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AE2EC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3"/>
                </a:solidFill>
                <a:latin typeface="微软雅黑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A6673"/>
              </a:solidFill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人形机器人销量(台)</c:v>
                </c:pt>
              </c:strCache>
            </c:strRef>
          </c:tx>
          <c:spPr>
            <a:solidFill>
              <a:srgbClr val="2E75B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2023年</c:v>
                </c:pt>
                <c:pt idx="1">
                  <c:v>2024年</c:v>
                </c:pt>
                <c:pt idx="2">
                  <c:v>2025年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412</c:v>
                </c:pt>
                <c:pt idx="2">
                  <c:v>5215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50" b="1">
                  <a:solidFill>
                    <a:srgbClr val="1F3864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v>人形平均单价(万元/台)</c:v>
          </c:tx>
          <c:spPr>
            <a:ln w="30480" cap="rnd">
              <a:solidFill>
                <a:srgbClr val="E0A83C"/>
              </a:solidFill>
              <a:round/>
            </a:ln>
          </c:spPr>
          <c:marker>
            <c:symbol val="circle"/>
            <c:size val="7"/>
            <c:spPr>
              <a:solidFill>
                <a:srgbClr val="E0A83C"/>
              </a:solidFill>
              <a:ln w="12700">
                <a:solidFill>
                  <a:srgbClr val="FFFFFF"/>
                </a:solidFill>
              </a:ln>
            </c:spPr>
          </c:marker>
          <c:dLbls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50" b="1">
                    <a:solidFill>
                      <a:srgbClr val="E0A83C"/>
                    </a:solidFill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3"/>
              <c:pt idx="0">
                <c:v>2023年</c:v>
              </c:pt>
              <c:pt idx="1">
                <c:v>2024年</c:v>
              </c:pt>
              <c:pt idx="2">
                <c:v>2025年</c:v>
              </c:pt>
            </c:strLit>
          </c:cat>
          <c:val>
            <c:numLit>
              <c:formatCode>0.0</c:formatCode>
              <c:ptCount val="3"/>
              <c:pt idx="0">
                <c:v>59.34</c:v>
              </c:pt>
              <c:pt idx="1">
                <c:v>26.04</c:v>
              </c:pt>
              <c:pt idx="2">
                <c:v>16.64</c:v>
              </c:pt>
            </c:numLit>
          </c:val>
          <c:smooth val="0"/>
        </c:ser>
        <c:marker val="1"/>
        <c:axId val="-2068027336"/>
        <c:axId val="-2113993663"/>
      </c:line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 w="12700">
            <a:solidFill>
              <a:srgbClr val="DAE2EC"/>
            </a:solidFill>
          </a:ln>
        </c:spPr>
        <c:txPr>
          <a:bodyPr/>
          <a:lstStyle/>
          <a:p>
            <a:pPr>
              <a:defRPr sz="1000">
                <a:solidFill>
                  <a:srgbClr val="5A6673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AE2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3"/>
                </a:solidFill>
                <a:latin typeface="微软雅黑"/>
              </a:defRPr>
            </a:pPr>
          </a:p>
        </c:txPr>
        <c:crossAx val="-2068027336"/>
        <c:crosses val="autoZero"/>
      </c:valAx>
      <c:valAx>
        <c:axId val="-2113993663"/>
        <c:scaling>
          <c:orientation val="minMax"/>
        </c:scaling>
        <c:delete val="0"/>
        <c:axPos val="r"/>
        <c:numFmt formatCode="0.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900">
                <a:solidFill>
                  <a:srgbClr val="E0A83C"/>
                </a:solidFill>
              </a:defRPr>
            </a:pPr>
            <a:endParaRPr lang="zh-CN"/>
          </a:p>
        </c:txPr>
        <c:crossAx val="-2068027336"/>
        <c:crosses val="max"/>
        <c:crossBetween val="between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境内销售</c:v>
                </c:pt>
              </c:strCache>
            </c:strRef>
          </c:tx>
          <c:spPr>
            <a:solidFill>
              <a:srgbClr val="1F386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2023年度</c:v>
                </c:pt>
                <c:pt idx="1">
                  <c:v>2024年度</c:v>
                </c:pt>
                <c:pt idx="2">
                  <c:v>2025年度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6989.41</c:v>
                </c:pt>
                <c:pt idx="1">
                  <c:v>17156.55</c:v>
                </c:pt>
                <c:pt idx="2">
                  <c:v>94445.56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境外销售</c:v>
                </c:pt>
              </c:strCache>
            </c:strRef>
          </c:tx>
          <c:spPr>
            <a:solidFill>
              <a:srgbClr val="7FB2E5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2023年度</c:v>
                </c:pt>
                <c:pt idx="1">
                  <c:v>2024年度</c:v>
                </c:pt>
                <c:pt idx="2">
                  <c:v>2025年度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8764.24</c:v>
                </c:pt>
                <c:pt idx="1">
                  <c:v>21610.74</c:v>
                </c:pt>
                <c:pt idx="2">
                  <c:v>73165.53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 w="12700">
            <a:solidFill>
              <a:srgbClr val="DAE2EC"/>
            </a:solidFill>
          </a:ln>
        </c:spPr>
        <c:txPr>
          <a:bodyPr/>
          <a:lstStyle/>
          <a:p>
            <a:pPr>
              <a:defRPr sz="1000">
                <a:solidFill>
                  <a:srgbClr val="5A6673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AE2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3"/>
                </a:solidFill>
                <a:latin typeface="微软雅黑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A6673"/>
              </a:solidFill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营业收入(万元)</c:v>
                </c:pt>
              </c:strCache>
            </c:strRef>
          </c:tx>
          <c:spPr>
            <a:solidFill>
              <a:srgbClr val="1F386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2023年度</c:v>
                </c:pt>
                <c:pt idx="1">
                  <c:v>2024年度</c:v>
                </c:pt>
                <c:pt idx="2">
                  <c:v>2025年度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15913.44</c:v>
                </c:pt>
                <c:pt idx="1">
                  <c:v>39277.07</c:v>
                </c:pt>
                <c:pt idx="2">
                  <c:v>169926.93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50" b="1">
                  <a:solidFill>
                    <a:srgbClr val="1F3864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v>同比增速</c:v>
          </c:tx>
          <c:spPr>
            <a:ln w="30480" cap="rnd">
              <a:solidFill>
                <a:srgbClr val="E0A83C"/>
              </a:solidFill>
              <a:round/>
            </a:ln>
          </c:spPr>
          <c:marker>
            <c:symbol val="circle"/>
            <c:size val="7"/>
            <c:spPr>
              <a:solidFill>
                <a:srgbClr val="E0A83C"/>
              </a:solidFill>
              <a:ln w="12700">
                <a:solidFill>
                  <a:srgbClr val="FFFFFF"/>
                </a:solidFill>
              </a:ln>
            </c:spPr>
          </c:marker>
          <c:dLbls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50" b="1">
                    <a:solidFill>
                      <a:srgbClr val="E0A83C"/>
                    </a:solidFill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3"/>
              <c:pt idx="0">
                <c:v>2023年度</c:v>
              </c:pt>
              <c:pt idx="1">
                <c:v>2024年度</c:v>
              </c:pt>
              <c:pt idx="2">
                <c:v>2025年度</c:v>
              </c:pt>
            </c:strLit>
          </c:cat>
          <c:val>
            <c:numLit>
              <c:formatCode>0.0%</c:formatCode>
              <c:ptCount val="3"/>
              <c:pt idx="1">
                <c:v>1.46817</c:v>
              </c:pt>
              <c:pt idx="2">
                <c:v>3.326365</c:v>
              </c:pt>
            </c:numLit>
          </c:val>
          <c:smooth val="0"/>
        </c:ser>
        <c:marker val="1"/>
        <c:axId val="-2068027336"/>
        <c:axId val="-2113993663"/>
      </c:line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 w="12700">
            <a:solidFill>
              <a:srgbClr val="DAE2EC"/>
            </a:solidFill>
          </a:ln>
        </c:spPr>
        <c:txPr>
          <a:bodyPr/>
          <a:lstStyle/>
          <a:p>
            <a:pPr>
              <a:defRPr sz="1000">
                <a:solidFill>
                  <a:srgbClr val="5A6673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AE2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3"/>
                </a:solidFill>
                <a:latin typeface="微软雅黑"/>
              </a:defRPr>
            </a:pPr>
          </a:p>
        </c:txPr>
        <c:crossAx val="-2068027336"/>
        <c:crosses val="autoZero"/>
      </c:valAx>
      <c:valAx>
        <c:axId val="-2113993663"/>
        <c:scaling>
          <c:orientation val="minMax"/>
        </c:scaling>
        <c:delete val="0"/>
        <c:axPos val="r"/>
        <c:numFmt formatCode="0.0%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900">
                <a:solidFill>
                  <a:srgbClr val="E0A83C"/>
                </a:solidFill>
              </a:defRPr>
            </a:pPr>
            <a:endParaRPr lang="zh-CN"/>
          </a:p>
        </c:txPr>
        <c:crossAx val="-2068027336"/>
        <c:crosses val="max"/>
        <c:crossBetween val="between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宇树科技综合毛利率</c:v>
                </c:pt>
              </c:strCache>
            </c:strRef>
          </c:tx>
          <c:spPr>
            <a:ln w="38100">
              <a:solidFill>
                <a:srgbClr val="1F3864"/>
              </a:solidFill>
            </a:ln>
          </c:spPr>
          <c:marker>
            <c:symbol val="circle"/>
            <c:size val="7"/>
            <c:spPr>
              <a:solidFill>
                <a:srgbClr val="1F386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2023年度</c:v>
                </c:pt>
                <c:pt idx="1">
                  <c:v>2024年度</c:v>
                </c:pt>
                <c:pt idx="2">
                  <c:v>2025年度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0.4475</c:v>
                </c:pt>
                <c:pt idx="1">
                  <c:v>0.5722</c:v>
                </c:pt>
                <c:pt idx="2">
                  <c:v>0.6044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可比公司平均值</c:v>
                </c:pt>
              </c:strCache>
            </c:strRef>
          </c:tx>
          <c:spPr>
            <a:ln w="38100">
              <a:solidFill>
                <a:srgbClr val="E0A83C"/>
              </a:solidFill>
            </a:ln>
          </c:spPr>
          <c:marker>
            <c:symbol val="circle"/>
            <c:size val="7"/>
            <c:spPr>
              <a:solidFill>
                <a:srgbClr val="E0A83C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2023年度</c:v>
                </c:pt>
                <c:pt idx="1">
                  <c:v>2024年度</c:v>
                </c:pt>
                <c:pt idx="2">
                  <c:v>2025年度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0.4098</c:v>
                </c:pt>
                <c:pt idx="1">
                  <c:v>0.3992</c:v>
                </c:pt>
                <c:pt idx="2">
                  <c:v>0.4444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 w="12700">
            <a:solidFill>
              <a:srgbClr val="DAE2EC"/>
            </a:solidFill>
          </a:ln>
        </c:spPr>
        <c:txPr>
          <a:bodyPr/>
          <a:lstStyle/>
          <a:p>
            <a:pPr>
              <a:defRPr sz="1000">
                <a:solidFill>
                  <a:srgbClr val="5A6673"/>
                </a:solidFill>
                <a:latin typeface="微软雅黑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65"/>
          <c:min val="0.3"/>
        </c:scaling>
        <c:delete val="0"/>
        <c:axPos val="l"/>
        <c:majorGridlines>
          <c:spPr>
            <a:ln w="6350">
              <a:solidFill>
                <a:srgbClr val="DAE2EC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3"/>
                </a:solidFill>
                <a:latin typeface="微软雅黑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5A6673"/>
              </a:solidFill>
              <a:latin typeface="微软雅黑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归母净利润</c:v>
                </c:pt>
              </c:strCache>
            </c:strRef>
          </c:tx>
          <c:spPr>
            <a:solidFill>
              <a:srgbClr val="7FB2E5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2023年度</c:v>
                </c:pt>
                <c:pt idx="1">
                  <c:v>2024年度</c:v>
                </c:pt>
                <c:pt idx="2">
                  <c:v>2025年度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-1114.51</c:v>
                </c:pt>
                <c:pt idx="1">
                  <c:v>9547.47</c:v>
                </c:pt>
                <c:pt idx="2">
                  <c:v>27821.05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扣非归母净利润</c:v>
                </c:pt>
              </c:strCache>
            </c:strRef>
          </c:tx>
          <c:spPr>
            <a:solidFill>
              <a:srgbClr val="1F386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2023年度</c:v>
                </c:pt>
                <c:pt idx="1">
                  <c:v>2024年度</c:v>
                </c:pt>
                <c:pt idx="2">
                  <c:v>2025年度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-1801.91</c:v>
                </c:pt>
                <c:pt idx="1">
                  <c:v>7847.65</c:v>
                </c:pt>
                <c:pt idx="2">
                  <c:v>59075.28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 w="12700">
            <a:solidFill>
              <a:srgbClr val="DAE2EC"/>
            </a:solidFill>
          </a:ln>
        </c:spPr>
        <c:txPr>
          <a:bodyPr/>
          <a:lstStyle/>
          <a:p>
            <a:pPr>
              <a:defRPr sz="1000">
                <a:solidFill>
                  <a:srgbClr val="5A6673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AE2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3"/>
                </a:solidFill>
                <a:latin typeface="微软雅黑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A6673"/>
              </a:solidFill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2026H1 同比增速</c:v>
                </c:pt>
              </c:strCache>
            </c:strRef>
          </c:tx>
          <c:spPr>
            <a:solidFill>
              <a:srgbClr val="C0392B"/>
            </a:solidFill>
            <a:ln>
              <a:noFill/>
            </a:ln>
          </c:spPr>
          <c:dPt>
            <c:idx val="0"/>
            <c:spPr>
              <a:solidFill>
                <a:srgbClr val="2E9E6B"/>
              </a:solidFill>
            </c:spPr>
          </c:dPt>
          <c:dPt>
            <c:idx val="1"/>
            <c:spPr>
              <a:solidFill>
                <a:srgbClr val="C0392B"/>
              </a:solidFill>
            </c:spPr>
          </c:dPt>
          <c:dPt>
            <c:idx val="2"/>
            <c:spPr>
              <a:solidFill>
                <a:srgbClr val="C0392B"/>
              </a:solidFill>
            </c:spPr>
          </c:dPt>
          <c:cat>
            <c:strRef>
              <c:f>Sheet1!$A$2:$A$4</c:f>
              <c:strCache>
                <c:ptCount val="3"/>
                <c:pt idx="0">
                  <c:v>营业总收入</c:v>
                </c:pt>
                <c:pt idx="1">
                  <c:v>扣非归母净利润</c:v>
                </c:pt>
                <c:pt idx="2">
                  <c:v>经营活动现金流净额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0.48539</c:v>
                </c:pt>
                <c:pt idx="1">
                  <c:v>-0.193442</c:v>
                </c:pt>
                <c:pt idx="2">
                  <c:v>-0.325322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50" b="1">
                  <a:solidFill>
                    <a:srgbClr val="5A6673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in"/>
        <c:minorTickMark val="none"/>
        <c:tickLblPos val="nextTo"/>
        <c:spPr>
          <a:ln w="12700">
            <a:solidFill>
              <a:srgbClr val="DAE2EC"/>
            </a:solidFill>
          </a:ln>
        </c:spPr>
        <c:txPr>
          <a:bodyPr/>
          <a:lstStyle/>
          <a:p>
            <a:pPr>
              <a:defRPr sz="1100">
                <a:solidFill>
                  <a:srgbClr val="5A6673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DAE2EC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3"/>
                </a:solidFill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研发费用(万元)</c:v>
                </c:pt>
              </c:strCache>
            </c:strRef>
          </c:tx>
          <c:spPr>
            <a:solidFill>
              <a:srgbClr val="17A29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2023年度</c:v>
                </c:pt>
                <c:pt idx="1">
                  <c:v>2024年度</c:v>
                </c:pt>
                <c:pt idx="2">
                  <c:v>2025年度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4995.18</c:v>
                </c:pt>
                <c:pt idx="1">
                  <c:v>7001.7</c:v>
                </c:pt>
                <c:pt idx="2">
                  <c:v>14496.56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50" b="1">
                  <a:solidFill>
                    <a:srgbClr val="1F3864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v>研发费用率</c:v>
          </c:tx>
          <c:spPr>
            <a:ln w="30480" cap="rnd">
              <a:solidFill>
                <a:srgbClr val="E0A83C"/>
              </a:solidFill>
              <a:round/>
            </a:ln>
          </c:spPr>
          <c:marker>
            <c:symbol val="circle"/>
            <c:size val="7"/>
            <c:spPr>
              <a:solidFill>
                <a:srgbClr val="E0A83C"/>
              </a:solidFill>
              <a:ln w="12700">
                <a:solidFill>
                  <a:srgbClr val="FFFFFF"/>
                </a:solidFill>
              </a:ln>
            </c:spPr>
          </c:marker>
          <c:dLbls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50" b="1">
                    <a:solidFill>
                      <a:srgbClr val="E0A83C"/>
                    </a:solidFill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3"/>
              <c:pt idx="0">
                <c:v>2023年度</c:v>
              </c:pt>
              <c:pt idx="1">
                <c:v>2024年度</c:v>
              </c:pt>
              <c:pt idx="2">
                <c:v>2025年度</c:v>
              </c:pt>
            </c:strLit>
          </c:cat>
          <c:val>
            <c:numLit>
              <c:formatCode>0.0%</c:formatCode>
              <c:ptCount val="3"/>
              <c:pt idx="0">
                <c:v>0.313897</c:v>
              </c:pt>
              <c:pt idx="1">
                <c:v>0.178264</c:v>
              </c:pt>
              <c:pt idx="2">
                <c:v>0.085311</c:v>
              </c:pt>
            </c:numLit>
          </c:val>
          <c:smooth val="0"/>
        </c:ser>
        <c:marker val="1"/>
        <c:axId val="-2068027336"/>
        <c:axId val="-2113993663"/>
      </c:line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 w="12700">
            <a:solidFill>
              <a:srgbClr val="DAE2EC"/>
            </a:solidFill>
          </a:ln>
        </c:spPr>
        <c:txPr>
          <a:bodyPr/>
          <a:lstStyle/>
          <a:p>
            <a:pPr>
              <a:defRPr sz="1000">
                <a:solidFill>
                  <a:srgbClr val="5A6673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AE2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3"/>
                </a:solidFill>
                <a:latin typeface="微软雅黑"/>
              </a:defRPr>
            </a:pPr>
          </a:p>
        </c:txPr>
        <c:crossAx val="-2068027336"/>
        <c:crosses val="autoZero"/>
      </c:valAx>
      <c:valAx>
        <c:axId val="-2113993663"/>
        <c:scaling>
          <c:orientation val="minMax"/>
        </c:scaling>
        <c:delete val="0"/>
        <c:axPos val="r"/>
        <c:numFmt formatCode="0.0%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900">
                <a:solidFill>
                  <a:srgbClr val="E0A83C"/>
                </a:solidFill>
              </a:defRPr>
            </a:pPr>
            <a:endParaRPr lang="zh-CN"/>
          </a:p>
        </c:txPr>
        <c:crossAx val="-2068027336"/>
        <c:crosses val="max"/>
        <c:crossBetween val="between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营业收入(万元)</c:v>
                </c:pt>
              </c:strCache>
            </c:strRef>
          </c:tx>
          <c:spPr>
            <a:solidFill>
              <a:srgbClr val="5B8DC7"/>
            </a:solidFill>
            <a:ln>
              <a:noFill/>
            </a:ln>
          </c:spPr>
          <c:dPt>
            <c:idx val="0"/>
            <c:spPr>
              <a:solidFill>
                <a:srgbClr val="5B8DC7"/>
              </a:solidFill>
            </c:spPr>
          </c:dPt>
          <c:dPt>
            <c:idx val="1"/>
            <c:spPr>
              <a:solidFill>
                <a:srgbClr val="5B8DC7"/>
              </a:solidFill>
            </c:spPr>
          </c:dPt>
          <c:dPt>
            <c:idx val="2"/>
            <c:spPr>
              <a:solidFill>
                <a:srgbClr val="5B8DC7"/>
              </a:solidFill>
            </c:spPr>
          </c:dPt>
          <c:dPt>
            <c:idx val="3"/>
            <c:spPr>
              <a:solidFill>
                <a:srgbClr val="5B8DC7"/>
              </a:solidFill>
            </c:spPr>
          </c:dPt>
          <c:dPt>
            <c:idx val="4"/>
            <c:spPr>
              <a:solidFill>
                <a:srgbClr val="1F3864"/>
              </a:solidFill>
            </c:spPr>
          </c:dPt>
          <c:cat>
            <c:strRef>
              <c:f>Sheet1!$A$2:$A$6</c:f>
              <c:strCache>
                <c:ptCount val="5"/>
                <c:pt idx="0">
                  <c:v>优必选</c:v>
                </c:pt>
                <c:pt idx="1">
                  <c:v>越疆</c:v>
                </c:pt>
                <c:pt idx="2">
                  <c:v>云深处</c:v>
                </c:pt>
                <c:pt idx="3">
                  <c:v>乐聚智能</c:v>
                </c:pt>
                <c:pt idx="4">
                  <c:v>宇树科技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200099.9</c:v>
                </c:pt>
                <c:pt idx="1">
                  <c:v>49348.3</c:v>
                </c:pt>
                <c:pt idx="2">
                  <c:v>33749.06</c:v>
                </c:pt>
                <c:pt idx="3">
                  <c:v>25818.79</c:v>
                </c:pt>
                <c:pt idx="4">
                  <c:v>169926.93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50" b="1">
                  <a:solidFill>
                    <a:srgbClr val="5A6673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in"/>
        <c:minorTickMark val="none"/>
        <c:tickLblPos val="nextTo"/>
        <c:spPr>
          <a:ln w="12700">
            <a:solidFill>
              <a:srgbClr val="DAE2EC"/>
            </a:solidFill>
          </a:ln>
        </c:spPr>
        <c:txPr>
          <a:bodyPr/>
          <a:lstStyle/>
          <a:p>
            <a:pPr>
              <a:defRPr sz="1100">
                <a:solidFill>
                  <a:srgbClr val="5A6673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DAE2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3"/>
                </a:solidFill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发行市盈率(倍)</c:v>
                </c:pt>
              </c:strCache>
            </c:strRef>
          </c:tx>
          <c:spPr>
            <a:solidFill>
              <a:srgbClr val="2E75B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扣非后/发行前</c:v>
                </c:pt>
                <c:pt idx="1">
                  <c:v>扣非前/发行前</c:v>
                </c:pt>
                <c:pt idx="2">
                  <c:v>扣非后/发行后</c:v>
                </c:pt>
                <c:pt idx="3">
                  <c:v>扣非前/发行后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92.92</c:v>
                </c:pt>
                <c:pt idx="1">
                  <c:v>197.31</c:v>
                </c:pt>
                <c:pt idx="2">
                  <c:v>103.25</c:v>
                </c:pt>
                <c:pt idx="3">
                  <c:v>219.23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50" b="1">
                  <a:solidFill>
                    <a:srgbClr val="5A6673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 w="12700">
            <a:solidFill>
              <a:srgbClr val="DAE2EC"/>
            </a:solidFill>
          </a:ln>
        </c:spPr>
        <c:txPr>
          <a:bodyPr/>
          <a:lstStyle/>
          <a:p>
            <a:pPr>
              <a:defRPr sz="950">
                <a:solidFill>
                  <a:srgbClr val="5A6673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AE2EC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3"/>
                </a:solidFill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收盘价(元)</c:v>
                </c:pt>
              </c:strCache>
            </c:strRef>
          </c:tx>
          <c:spPr>
            <a:ln w="38100">
              <a:solidFill>
                <a:srgbClr val="5B8DC7"/>
              </a:solidFill>
            </a:ln>
          </c:spPr>
          <c:marker>
            <c:symbol val="circle"/>
            <c:size val="7"/>
            <c:spPr>
              <a:solidFill>
                <a:srgbClr val="5B8DC7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08-19</c:v>
                </c:pt>
                <c:pt idx="1">
                  <c:v>08-20</c:v>
                </c:pt>
                <c:pt idx="2">
                  <c:v>08-21</c:v>
                </c:pt>
                <c:pt idx="3">
                  <c:v>08-24</c:v>
                </c:pt>
                <c:pt idx="4">
                  <c:v>08-25</c:v>
                </c:pt>
                <c:pt idx="5">
                  <c:v>08-26</c:v>
                </c:pt>
                <c:pt idx="6">
                  <c:v>08-27</c:v>
                </c:pt>
                <c:pt idx="7">
                  <c:v>08-28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845</c:v>
                </c:pt>
                <c:pt idx="1">
                  <c:v>687</c:v>
                </c:pt>
                <c:pt idx="2">
                  <c:v>672.41</c:v>
                </c:pt>
                <c:pt idx="3">
                  <c:v>603.08</c:v>
                </c:pt>
                <c:pt idx="4">
                  <c:v>602.8</c:v>
                </c:pt>
                <c:pt idx="5">
                  <c:v>591.53</c:v>
                </c:pt>
                <c:pt idx="6">
                  <c:v>615.03</c:v>
                </c:pt>
                <c:pt idx="7">
                  <c:v>585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 w="12700">
            <a:solidFill>
              <a:srgbClr val="DAE2EC"/>
            </a:solidFill>
          </a:ln>
        </c:spPr>
        <c:txPr>
          <a:bodyPr/>
          <a:lstStyle/>
          <a:p>
            <a:pPr>
              <a:defRPr sz="1000">
                <a:solidFill>
                  <a:srgbClr val="5A6673"/>
                </a:solidFill>
                <a:latin typeface="微软雅黑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00.0"/>
          <c:min val="500.0"/>
        </c:scaling>
        <c:delete val="0"/>
        <c:axPos val="l"/>
        <c:majorGridlines>
          <c:spPr>
            <a:ln w="6350">
              <a:solidFill>
                <a:srgbClr val="DAE2EC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3"/>
                </a:solidFill>
                <a:latin typeface="微软雅黑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2026H1 营业收入(万元)</c:v>
                </c:pt>
              </c:strCache>
            </c:strRef>
          </c:tx>
          <c:spPr>
            <a:solidFill>
              <a:srgbClr val="F2C14E"/>
            </a:solidFill>
            <a:ln>
              <a:noFill/>
            </a:ln>
          </c:spPr>
          <c:dPt>
            <c:idx val="0"/>
            <c:spPr>
              <a:solidFill>
                <a:srgbClr val="F2C14E"/>
              </a:solidFill>
            </c:spPr>
          </c:dPt>
          <c:dPt>
            <c:idx val="1"/>
            <c:spPr>
              <a:solidFill>
                <a:srgbClr val="F2C14E"/>
              </a:solidFill>
            </c:spPr>
          </c:dPt>
          <c:dPt>
            <c:idx val="2"/>
            <c:spPr>
              <a:solidFill>
                <a:srgbClr val="2E75B6"/>
              </a:solidFill>
            </c:spPr>
          </c:dPt>
          <c:cat>
            <c:strRef>
              <c:f>Sheet1!$A$2:$A$4</c:f>
              <c:strCache>
                <c:ptCount val="3"/>
                <c:pt idx="0">
                  <c:v>预计下限(D)</c:v>
                </c:pt>
                <c:pt idx="1">
                  <c:v>预计上限(D)</c:v>
                </c:pt>
                <c:pt idx="2">
                  <c:v>已实现(C)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105200.0</c:v>
                </c:pt>
                <c:pt idx="1">
                  <c:v>112800.0</c:v>
                </c:pt>
                <c:pt idx="2">
                  <c:v>115224.56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50" b="1">
                  <a:solidFill>
                    <a:srgbClr val="5A6673"/>
                  </a:solidFill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 w="12700">
            <a:solidFill>
              <a:srgbClr val="DAE2EC"/>
            </a:solidFill>
          </a:ln>
        </c:spPr>
        <c:txPr>
          <a:bodyPr/>
          <a:lstStyle/>
          <a:p>
            <a:pPr>
              <a:defRPr sz="1050">
                <a:solidFill>
                  <a:srgbClr val="5A6673"/>
                </a:solidFill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AE2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3"/>
                </a:solidFill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E38"/>
              </a:gs>
              <a:gs pos="100000">
                <a:srgbClr val="1F3864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2194560"/>
            <a:ext cx="6583680" cy="6583680"/>
          </a:xfrm>
          <a:prstGeom prst="ellipse">
            <a:avLst/>
          </a:prstGeom>
          <a:solidFill>
            <a:srgbClr val="2E75B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-822960"/>
            <a:ext cx="3840480" cy="3840480"/>
          </a:xfrm>
          <a:prstGeom prst="ellipse">
            <a:avLst/>
          </a:prstGeom>
          <a:solidFill>
            <a:srgbClr val="17A29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0" y="182880"/>
            <a:ext cx="1828800" cy="1828800"/>
          </a:xfrm>
          <a:prstGeom prst="ellipse">
            <a:avLst/>
          </a:prstGeom>
          <a:solidFill>
            <a:srgbClr val="E0A83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5B8DC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626864"/>
            <a:ext cx="2926080" cy="32004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658368"/>
            <a:ext cx="1403604" cy="310896"/>
          </a:xfrm>
          <a:prstGeom prst="roundRect">
            <a:avLst>
              <a:gd name="adj" fmla="val 50000"/>
            </a:avLst>
          </a:prstGeom>
          <a:solidFill>
            <a:srgbClr val="2A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"/>
            <a:ext cx="140360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FDDF0"/>
                </a:solidFill>
                <a:latin typeface="微软雅黑"/>
                <a:ea typeface="微软雅黑"/>
                <a:cs typeface="微软雅黑"/>
              </a:rPr>
              <a:t>内部汇报 · 机密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0008" y="658368"/>
            <a:ext cx="2144268" cy="310896"/>
          </a:xfrm>
          <a:prstGeom prst="roundRect">
            <a:avLst>
              <a:gd name="adj" fmla="val 50000"/>
            </a:avLst>
          </a:prstGeom>
          <a:solidFill>
            <a:srgbClr val="2A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0008" y="647395"/>
            <a:ext cx="2144268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FDDF0"/>
                </a:solidFill>
                <a:latin typeface="微软雅黑"/>
                <a:ea typeface="微软雅黑"/>
                <a:cs typeface="微软雅黑"/>
              </a:rPr>
              <a:t>资料截止 2026-08-30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84708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12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宇树科技股份有限公司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304288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经营与财务表现分析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529584"/>
            <a:ext cx="107899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688836.SH</a:t>
            </a:r>
            <a:r>
              <a:rPr sz="1400" b="0" i="0">
                <a:solidFill>
                  <a:srgbClr val="C5D5E8"/>
                </a:solidFill>
                <a:latin typeface="微软雅黑"/>
                <a:ea typeface="微软雅黑"/>
                <a:cs typeface="微软雅黑"/>
              </a:rPr>
              <a:t>   ｜   上海证券交易所 · 科创板   ｜   保荐人 中信证券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828032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6C6DA"/>
                </a:solidFill>
                <a:latin typeface="微软雅黑"/>
                <a:ea typeface="微软雅黑"/>
                <a:cs typeface="微软雅黑"/>
              </a:rPr>
              <a:t>本报告全部数据经 Excel 分析底稿公式实时核验，逐格可追溯至上交所披露文件（S1–S8）与第三方行情（S9）。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6C6DA"/>
                </a:solidFill>
                <a:latin typeface="微软雅黑"/>
                <a:ea typeface="微软雅黑"/>
                <a:cs typeface="微软雅黑"/>
              </a:rPr>
              <a:t>严格区分已审计事实（A）、经审阅（B）、未经审计（C）、管理层预计（D）与本底稿测算（E），不将预测表述为已发生事实。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27278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93AC"/>
                </a:solidFill>
                <a:latin typeface="微软雅黑"/>
                <a:ea typeface="微软雅黑"/>
                <a:cs typeface="微软雅黑"/>
              </a:rPr>
              <a:t>配套文件：《经营与财务分析底稿》(xlsx) · 《公司研究报告》(docx) · 本汇报 (pptx)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执行摘要  ｜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高成长与高估值并存，2026 上半年出现盈利与现金流背离预警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报告期内完成从四足到人形主导的结构跃迁；账面利润受一次性股份支付压低，须以扣非口径评估真实盈利。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底稿表3-1、表7-1/7-2/7-7、表3-3（性质A/C）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03120"/>
            <a:ext cx="3503066" cy="13350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103120"/>
            <a:ext cx="3503066" cy="685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340863"/>
            <a:ext cx="319217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169,926.93</a:t>
            </a:r>
            <a:r>
              <a:rPr sz="11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 万元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51760"/>
            <a:ext cx="319217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2025 营业收入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962656"/>
            <a:ext cx="319217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同比 +332.6%｜两年 CAGR 226.78%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4314" y="2103120"/>
            <a:ext cx="3503066" cy="13350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4314" y="2103120"/>
            <a:ext cx="3503066" cy="68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7194" y="2340863"/>
            <a:ext cx="319217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60.44%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7194" y="2651760"/>
            <a:ext cx="319217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2025 综合毛利率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7194" y="2962656"/>
            <a:ext cx="319217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高于同业均值 16.00个百分点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1700" y="2103120"/>
            <a:ext cx="3503066" cy="13350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1700" y="2103120"/>
            <a:ext cx="3503066" cy="68580"/>
          </a:xfrm>
          <a:prstGeom prst="rect">
            <a:avLst/>
          </a:prstGeom>
          <a:solidFill>
            <a:srgbClr val="17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4580" y="2340863"/>
            <a:ext cx="319217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A29A"/>
                </a:solidFill>
                <a:latin typeface="微软雅黑"/>
                <a:ea typeface="微软雅黑"/>
                <a:cs typeface="微软雅黑"/>
              </a:rPr>
              <a:t>59,075.28</a:t>
            </a:r>
            <a:r>
              <a:rPr sz="1150" b="1" i="0">
                <a:solidFill>
                  <a:srgbClr val="17A29A"/>
                </a:solidFill>
                <a:latin typeface="微软雅黑"/>
                <a:ea typeface="微软雅黑"/>
                <a:cs typeface="微软雅黑"/>
              </a:rPr>
              <a:t> 万元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4580" y="2651760"/>
            <a:ext cx="319217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2025 扣非归母净利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4580" y="2962656"/>
            <a:ext cx="319217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归母仅 27,821.05 万元（股份支付扰动）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675887"/>
            <a:ext cx="3503066" cy="13350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675887"/>
            <a:ext cx="3503066" cy="68580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913631"/>
            <a:ext cx="319217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219.23倍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224527"/>
            <a:ext cx="319217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发行市盈率（孰低口径）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535423"/>
            <a:ext cx="319217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为行业均值 5.69倍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4314" y="3675887"/>
            <a:ext cx="3503066" cy="13350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4314" y="3675887"/>
            <a:ext cx="3503066" cy="68580"/>
          </a:xfrm>
          <a:prstGeom prst="rect">
            <a:avLst/>
          </a:prstGeom>
          <a:solidFill>
            <a:srgbClr val="5B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7194" y="3913631"/>
            <a:ext cx="319217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B8DC7"/>
                </a:solidFill>
                <a:latin typeface="微软雅黑"/>
                <a:ea typeface="微软雅黑"/>
                <a:cs typeface="微软雅黑"/>
              </a:rPr>
              <a:t>171,543.80</a:t>
            </a:r>
            <a:r>
              <a:rPr sz="1150" b="1" i="0">
                <a:solidFill>
                  <a:srgbClr val="5B8DC7"/>
                </a:solidFill>
                <a:latin typeface="微软雅黑"/>
                <a:ea typeface="微软雅黑"/>
                <a:cs typeface="微软雅黑"/>
              </a:rPr>
              <a:t> 万元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7194" y="4224527"/>
            <a:ext cx="319217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本次发行超募金额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7194" y="4535423"/>
            <a:ext cx="319217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超募比例 40.83%｜≈2025营收 1.01倍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1700" y="3675887"/>
            <a:ext cx="3503066" cy="13350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1700" y="3675887"/>
            <a:ext cx="3503066" cy="685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4580" y="3913631"/>
            <a:ext cx="319217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115,224.56</a:t>
            </a:r>
            <a:r>
              <a:rPr sz="11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 万元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4580" y="4224527"/>
            <a:ext cx="319217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2026H1 营业总收入(未审)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4580" y="4535423"/>
            <a:ext cx="319217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同比 +48.5%｜但扣非净利 -19.3%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230368"/>
            <a:ext cx="11057839" cy="85953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230368"/>
            <a:ext cx="54864" cy="85953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321807"/>
            <a:ext cx="10509199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三项核心判断   </a:t>
            </a:r>
            <a:r>
              <a:rPr sz="110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① 结构跃迁是最强事实性发现；② 账面利润 ≠ 真实盈利，扣非口径 2025 年反高出归母 3.13 亿元；③ 2026H1 收入高增但扣非净利与经营现金流同步走弱，为最需跟踪的先行预警。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目录  ｜ 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本次汇报的八个部分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结构对应《公司研究报告》正文十节与四个附录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55648"/>
            <a:ext cx="2572435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55648"/>
            <a:ext cx="2572435" cy="82296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75104"/>
            <a:ext cx="22066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96896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业务与产品结构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62656"/>
            <a:ext cx="21883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结构跃迁 · 以价换量 · 市场渠道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5395" y="1755648"/>
            <a:ext cx="2572435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5395" y="1755648"/>
            <a:ext cx="2572435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6563" y="1975104"/>
            <a:ext cx="22066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6563" y="2596896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收入与盈利变化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6563" y="2962656"/>
            <a:ext cx="21883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规模成长 · 毛利率 · 利润质量 · 现金流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863" y="1755648"/>
            <a:ext cx="2572435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3863" y="1755648"/>
            <a:ext cx="2572435" cy="82296"/>
          </a:xfrm>
          <a:prstGeom prst="rect">
            <a:avLst/>
          </a:prstGeom>
          <a:solidFill>
            <a:srgbClr val="17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5031" y="1975104"/>
            <a:ext cx="22066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A29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031" y="2596896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研发投入与科创属性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031" y="2962656"/>
            <a:ext cx="21883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研发强度 · 四项指标达标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331" y="1755648"/>
            <a:ext cx="2572435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331" y="1755648"/>
            <a:ext cx="257243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3499" y="1975104"/>
            <a:ext cx="22066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499" y="2596896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竞争优势与同业地位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499" y="2962656"/>
            <a:ext cx="21883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同业对标 · 护城河来源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730752"/>
            <a:ext cx="2572435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730752"/>
            <a:ext cx="2572435" cy="8229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950208"/>
            <a:ext cx="22066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9E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4572000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增长变量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4937760"/>
            <a:ext cx="21883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销量产能 · 单价 · 渠道 · 研发转化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95395" y="3730752"/>
            <a:ext cx="2572435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95395" y="3730752"/>
            <a:ext cx="2572435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6563" y="3950208"/>
            <a:ext cx="22066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96563" y="4572000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主要风险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96563" y="4937760"/>
            <a:ext cx="21883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14 项风险 · 3 项高优先级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3863" y="3730752"/>
            <a:ext cx="2572435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3863" y="3730752"/>
            <a:ext cx="2572435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5031" y="3950208"/>
            <a:ext cx="22066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5031" y="4572000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发行估值与二级市场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5031" y="4937760"/>
            <a:ext cx="21883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定价 · 超募 · 上市后表现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331" y="3730752"/>
            <a:ext cx="2572435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52331" y="3730752"/>
            <a:ext cx="2572435" cy="82296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53499" y="3950208"/>
            <a:ext cx="22066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3499" y="4572000"/>
            <a:ext cx="22066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事实边界与待核验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53499" y="4937760"/>
            <a:ext cx="21883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预测≠事实 · 18 项核验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01  ｜  业务与产品结构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人形机器人两年内从 1.88% 跃升为第一大收入来源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2025 年人形机器人占主营业务收入 51.78%，四足由 75.78% 降至 41.62%，完成结构反转。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底稿表4-1、表8数据区3（性质A，S1 招股说明书）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2148839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66928" y="5760720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主营业务收入产品构成（占比，性质A）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2121408"/>
            <a:ext cx="4291279" cy="65836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51.78%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779776"/>
            <a:ext cx="42912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2025 人形机器人收入占比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3273552"/>
            <a:ext cx="4291279" cy="2194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收入贡献：</a:t>
            </a:r>
            <a:r>
              <a:rPr sz="11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人形 86,783.19 万元、四足 69,762.56 万元、组件 10,373.67 万元。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增长倍数：</a:t>
            </a:r>
            <a:r>
              <a:rPr sz="11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人形两年增长 291.5倍，四足 4.8倍。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1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毛利率反向：</a:t>
            </a:r>
            <a:r>
              <a:rPr sz="11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人形毛利率 87.67%→63.18%（放量降价），四足 43.71%→56.72%（规模效应）。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5413248"/>
            <a:ext cx="4291279" cy="658368"/>
          </a:xfrm>
          <a:prstGeom prst="roundRect">
            <a:avLst>
              <a:gd name="adj" fmla="val 6000"/>
            </a:avLst>
          </a:prstGeom>
          <a:solidFill>
            <a:srgbClr val="FD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33488" y="5413248"/>
            <a:ext cx="50292" cy="658368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5504688"/>
            <a:ext cx="3888943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口径提醒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招股书概览称 2025 年人形“出货量超 5,500 台、全球第一”，与收入口径销量 5,215 台相差约 300 台，两者不可混用。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01  ｜  业务与产品结构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增长由销量驱动、被单价下行抵消，属典型“以价换量”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人形机器人单价由 59.34 万元/台降至 16.64 万元/台，销量由 5 台升至 5,215 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底稿表7-4、表4-3、表8数据区5（销量性质A，单价性质E测算）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2194560"/>
          <a:ext cx="64922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ectangle 13"/>
          <p:cNvSpPr/>
          <p:nvPr/>
        </p:nvSpPr>
        <p:spPr>
          <a:xfrm>
            <a:off x="2441448" y="5458968"/>
            <a:ext cx="182880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1" y="5385816"/>
            <a:ext cx="128016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人形机器人销量(台)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95928" y="5504688"/>
            <a:ext cx="201168" cy="41148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64508" y="5463540"/>
            <a:ext cx="68580" cy="68580"/>
          </a:xfrm>
          <a:prstGeom prst="ellipse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5385816"/>
            <a:ext cx="128016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人形平均单价(万元/台)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687568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人形机器人：销量（柱，左轴）与平均单价（线，右轴）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121408"/>
            <a:ext cx="42912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2025 年收入变动的量价拆解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3488" y="2523744"/>
            <a:ext cx="4291279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7" y="2633472"/>
            <a:ext cx="392551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人形机器人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7" y="2962656"/>
            <a:ext cx="19627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销量贡献 </a:t>
            </a:r>
            <a:r>
              <a:rPr sz="1300" b="1" i="0">
                <a:solidFill>
                  <a:srgbClr val="2E9E6B"/>
                </a:solidFill>
                <a:latin typeface="微软雅黑"/>
                <a:ea typeface="微软雅黑"/>
                <a:cs typeface="微软雅黑"/>
              </a:rPr>
              <a:t>+125,085.04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127" y="2962656"/>
            <a:ext cx="19627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单价拖累 </a:t>
            </a:r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-49,031.61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7" y="3255263"/>
            <a:ext cx="392551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销量贡献占收入变动额 164.47%（&gt;100% 表示单价为负向拖累）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33488" y="3621024"/>
            <a:ext cx="4291279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6367" y="3730752"/>
            <a:ext cx="392551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四足机器人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7" y="4059935"/>
            <a:ext cx="19627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销量贡献 </a:t>
            </a:r>
            <a:r>
              <a:rPr sz="1300" b="1" i="0">
                <a:solidFill>
                  <a:srgbClr val="2E9E6B"/>
                </a:solidFill>
                <a:latin typeface="微软雅黑"/>
                <a:ea typeface="微软雅黑"/>
                <a:cs typeface="微软雅黑"/>
              </a:rPr>
              <a:t>+51,371.57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9127" y="4059935"/>
            <a:ext cx="19627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单价拖累 </a:t>
            </a:r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-4,663.38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4352544"/>
            <a:ext cx="392551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销量贡献占收入变动额 109.98%（&gt;100% 表示单价为负向拖累）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33488" y="4736592"/>
            <a:ext cx="4291279" cy="859536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33488" y="4736592"/>
            <a:ext cx="50292" cy="85953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2944" y="4828031"/>
            <a:ext cx="3888943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两大产品线 2025 年增长均由销量驱动。人形单价累计降幅约 72%，是公司主动价格下探以换取市场规模的结果。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01  ｜  业务与产品结构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2025 年境内收入首次反超境外，第四季度季节性显著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境内占比由 44.37% 升至 56.35%，招股书归因于春晚演出提升品牌知名度与国内产业政策带动。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底稿表4-4、表4-5、表4-6（性质A，S1）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2148839"/>
          <a:ext cx="64922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66928" y="5760720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主营业务收入境内外结构（万元，性质A）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3488" y="2121408"/>
            <a:ext cx="4291279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33488" y="2121408"/>
            <a:ext cx="4291279" cy="68580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7" y="2359152"/>
            <a:ext cx="3980383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31.12%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7" y="2395727"/>
            <a:ext cx="398038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2025 第四季度收入占比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2706623"/>
            <a:ext cx="3980383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季节性：新品下半年放量、客户集中验收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3488" y="3310128"/>
            <a:ext cx="4291279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33488" y="3310128"/>
            <a:ext cx="4291279" cy="68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7" y="3547872"/>
            <a:ext cx="3980383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10.72%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7" y="3584448"/>
            <a:ext cx="398038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2025 线上销售占比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7" y="3895344"/>
            <a:ext cx="3980383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首现“电商入仓”4,885.16 万元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4535424"/>
            <a:ext cx="4291279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05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05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线下为主：</a:t>
            </a:r>
            <a:r>
              <a:rPr sz="10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线下占比常年 86.9%→89.3%，其中经销升至 38.2%。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05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05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解读风险：</a:t>
            </a:r>
            <a:r>
              <a:rPr sz="10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Q4 集中会放大单季数据的解读风险，半年/季度数不宜简单年化。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02  ｜  收入与盈利变化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营业收入三年增长约 9.7 倍，两年 CAGR 226.78%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营业收入由 1.59 亿元增至 16.99 亿元；科创属性“最近三年营收复合增长率”指标远超门槛。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底稿表3-1、表7-1、表8数据区1（性质A，S1）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2194560"/>
          <a:ext cx="68580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ectangle 13"/>
          <p:cNvSpPr/>
          <p:nvPr/>
        </p:nvSpPr>
        <p:spPr>
          <a:xfrm>
            <a:off x="2624328" y="5550407"/>
            <a:ext cx="182880" cy="11887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072" y="5477255"/>
            <a:ext cx="128016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营业收入(万元)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8808" y="5596127"/>
            <a:ext cx="201168" cy="41148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47388" y="5554979"/>
            <a:ext cx="68580" cy="68580"/>
          </a:xfrm>
          <a:prstGeom prst="ellipse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5477255"/>
            <a:ext cx="128016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同比增速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7607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营业收入（柱，左轴，万元）与同比增速（线，右轴）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148839"/>
            <a:ext cx="3925519" cy="65836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16.99</a:t>
            </a: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 亿元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2807207"/>
            <a:ext cx="392551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2025 营业收入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3273552"/>
            <a:ext cx="3925519" cy="658368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226.78%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3931920"/>
            <a:ext cx="392551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2023→2025 两年 CAGR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99248" y="4498848"/>
            <a:ext cx="3925519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4498848"/>
            <a:ext cx="3925519" cy="68580"/>
          </a:xfrm>
          <a:prstGeom prst="rect">
            <a:avLst/>
          </a:prstGeom>
          <a:solidFill>
            <a:srgbClr val="17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2127" y="4736592"/>
            <a:ext cx="3614623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A29A"/>
                </a:solidFill>
                <a:latin typeface="微软雅黑"/>
                <a:ea typeface="微软雅黑"/>
                <a:cs typeface="微软雅黑"/>
              </a:rPr>
              <a:t>59,075.28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5084064"/>
            <a:ext cx="361462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2025 扣非归母净利润(万元)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5394960"/>
            <a:ext cx="3614623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2023 年为亏损 -1,801.91 万元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02  ｜  收入与盈利变化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综合毛利率三年升至 60.44%，持续高于同业均值 16 个百分点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公司是可比公司中唯一连续三年毛利率上升者；但提升主要来自人形占比上升的产品结构效应。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底稿表5-2、表7-10、表8数据区8（性质A，S1）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2148839"/>
          <a:ext cx="68580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66928" y="57607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综合毛利率对比（性质A）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699248" y="2157984"/>
          <a:ext cx="3925517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72069"/>
                <a:gridCol w="1472069"/>
                <a:gridCol w="98137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公司(2025)</a:t>
                      </a:r>
                    </a:p>
                  </a:txBody>
                  <a:tcPr marL="82296" marR="8229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营收(万元)</a:t>
                      </a:r>
                    </a:p>
                  </a:txBody>
                  <a:tcPr marL="82296" marR="8229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毛利率</a:t>
                      </a:r>
                    </a:p>
                  </a:txBody>
                  <a:tcPr marL="82296" marR="82296" marT="18288" marB="18288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宇树科技（公司）</a:t>
                      </a:r>
                    </a:p>
                  </a:txBody>
                  <a:tcPr marL="82296" marR="82296" marT="18288" marB="18288" anchor="ctr">
                    <a:solidFill>
                      <a:srgbClr val="FDF4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169,926.93</a:t>
                      </a:r>
                    </a:p>
                  </a:txBody>
                  <a:tcPr marL="82296" marR="82296" marT="18288" marB="18288" anchor="ctr">
                    <a:solidFill>
                      <a:srgbClr val="FDF4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60.44%</a:t>
                      </a:r>
                    </a:p>
                  </a:txBody>
                  <a:tcPr marL="82296" marR="82296" marT="18288" marB="18288" anchor="ctr">
                    <a:solidFill>
                      <a:srgbClr val="FDF4E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优必选</a:t>
                      </a:r>
                    </a:p>
                  </a:txBody>
                  <a:tcPr marL="82296" marR="8229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200,099.90</a:t>
                      </a:r>
                    </a:p>
                  </a:txBody>
                  <a:tcPr marL="82296" marR="8229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37.67%</a:t>
                      </a:r>
                    </a:p>
                  </a:txBody>
                  <a:tcPr marL="82296" marR="82296" marT="18288" marB="18288" anchor="ctr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越疆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49,348.30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46.49%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云深处</a:t>
                      </a:r>
                    </a:p>
                  </a:txBody>
                  <a:tcPr marL="82296" marR="8229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33,749.06</a:t>
                      </a:r>
                    </a:p>
                  </a:txBody>
                  <a:tcPr marL="82296" marR="8229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52.83%</a:t>
                      </a:r>
                    </a:p>
                  </a:txBody>
                  <a:tcPr marL="82296" marR="82296" marT="18288" marB="18288" anchor="ctr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乐聚智能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25,818.79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40.78%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699248" y="4535424"/>
            <a:ext cx="3925519" cy="1133856"/>
          </a:xfrm>
          <a:prstGeom prst="roundRect">
            <a:avLst>
              <a:gd name="adj" fmla="val 6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9248" y="4535424"/>
            <a:ext cx="50292" cy="113385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18704" y="4626864"/>
            <a:ext cx="3523183" cy="9509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2E9E6B"/>
                </a:solidFill>
                <a:latin typeface="微软雅黑"/>
                <a:ea typeface="微软雅黑"/>
                <a:cs typeface="微软雅黑"/>
              </a:rPr>
              <a:t>同业地位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宇树 2025 营收为可比公司均值的 2.20倍，毛利率高出均值 16.00个百分点；四家中营收排名第二、毛利率与成长性排名第一。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02  ｜  收入与盈利变化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一次性股份支付压低账面利润，须以扣非口径评估真实盈利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2025 年扣非归母净利 59,075.28 万元，反高于归母 27,821.05 万元；差额来自股份支付费用 34,906.55 万元。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底稿表3-1、表7-2（性质A，S1）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2148839"/>
          <a:ext cx="68580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66928" y="57607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归母净利润 vs 扣非归母净利润（万元，性质A）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2121408"/>
            <a:ext cx="3925519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9248" y="2121408"/>
            <a:ext cx="3925519" cy="68580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7" y="2359152"/>
            <a:ext cx="3614623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34,906.55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2395727"/>
            <a:ext cx="361462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股份支付费用(万元)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2706623"/>
            <a:ext cx="3614623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2025-06 上海宇翼增资一次性确认，计入管理费用、无现金流出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9248" y="3291839"/>
            <a:ext cx="3925519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99248" y="3291839"/>
            <a:ext cx="3925519" cy="685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3529583"/>
            <a:ext cx="3614623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-31,254.23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3566160"/>
            <a:ext cx="361462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非经常性损益净额(万元)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3877056"/>
            <a:ext cx="3614623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负值即非经常项目净损失，主因股份支付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99248" y="4498848"/>
            <a:ext cx="3925519" cy="117043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4498848"/>
            <a:ext cx="50292" cy="11704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8704" y="4590288"/>
            <a:ext cx="3523183" cy="987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为何要看扣非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剔除股份支付后 2025 年管理费用率仅 2.97%（含股份支付为 23.52%）；扣非加权 ROE 28.70% 显著高于扣非前 13.52%。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02  ｜  收入与盈利变化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2026 上半年收入 +48.54%，但扣非净利与经营现金流双双转负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收入高增与盈利、现金流走弱形成三项背离，是本底稿识别出的最需跟踪的先行预警信号。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底稿表3-3、表7-1、表7-5（性质C，未经审计，S2 上市公告书）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2286000"/>
          <a:ext cx="66751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66928" y="5413248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2026 年 1-6 月主要指标同比（性质C·未经审计）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16367" y="2121408"/>
            <a:ext cx="4108399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16367" y="2121408"/>
            <a:ext cx="4108399" cy="685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7" y="2359152"/>
            <a:ext cx="3797503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115,224.56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7" y="2304288"/>
            <a:ext cx="379750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2026H1 营业总收入(万元)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7" y="2615184"/>
            <a:ext cx="3797503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上年同期 77,571.92 万元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16367" y="3200400"/>
            <a:ext cx="4108399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16367" y="3200400"/>
            <a:ext cx="4108399" cy="685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7" y="3438144"/>
            <a:ext cx="3797503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8.90%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7" y="3383280"/>
            <a:ext cx="379750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2026H1 扣非加权 ROE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7" y="3694176"/>
            <a:ext cx="3797503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上年同期 21.02%，回落 12.12个百分点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6367" y="4315968"/>
            <a:ext cx="4108399" cy="137160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16367" y="4315968"/>
            <a:ext cx="50292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35823" y="4407407"/>
            <a:ext cx="3706063" cy="11887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重要提示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A62A1E"/>
                </a:solidFill>
                <a:latin typeface="微软雅黑"/>
                <a:ea typeface="微软雅黑"/>
                <a:cs typeface="微软雅黑"/>
              </a:rPr>
              <a:t>公司明示上市后不再单独披露 2026 年半年报，故该期间数据不存在经审计版本；归母净利润因上年同期为亏损（受股份支付影响）不具可比性，公告以“-”列示。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17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17A29A"/>
                </a:solidFill>
                <a:latin typeface="微软雅黑"/>
                <a:ea typeface="微软雅黑"/>
                <a:cs typeface="微软雅黑"/>
              </a:rPr>
              <a:t>03  ｜  研发投入与科创属性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四项科创属性指标全部达标，但研发费用率被收入放大快速稀释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17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A29A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研发费用由 4,995.18 万元增至 14,496.56 万元，费用率却由 31.39% 降至 8.53%。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底稿表3-1、表7-6、表8数据区7（性质A，S1）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2194560"/>
          <a:ext cx="66751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ectangle 13"/>
          <p:cNvSpPr/>
          <p:nvPr/>
        </p:nvSpPr>
        <p:spPr>
          <a:xfrm>
            <a:off x="2532887" y="5458968"/>
            <a:ext cx="182880" cy="118872"/>
          </a:xfrm>
          <a:prstGeom prst="rect">
            <a:avLst/>
          </a:prstGeom>
          <a:solidFill>
            <a:srgbClr val="17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1" y="5385816"/>
            <a:ext cx="128016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研发费用(万元)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87368" y="5504688"/>
            <a:ext cx="201168" cy="41148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55948" y="5463540"/>
            <a:ext cx="68580" cy="68580"/>
          </a:xfrm>
          <a:prstGeom prst="ellipse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5385816"/>
            <a:ext cx="128016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研发费用率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687568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研发费用（柱，左轴）与研发费用率（线，右轴）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2103120"/>
            <a:ext cx="4108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科创属性四项指标校验（均达标）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16367" y="2487168"/>
            <a:ext cx="4108399" cy="6583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16367" y="2487168"/>
            <a:ext cx="50292" cy="65836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2487168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A29A"/>
                </a:solidFill>
                <a:latin typeface="微软雅黑"/>
                <a:ea typeface="微软雅黑"/>
                <a:cs typeface="微软雅黑"/>
              </a:rPr>
              <a:t>26,493.44 万元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7" y="2487168"/>
            <a:ext cx="1913839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三年累计研发费用 &gt; 8,000 万元门槛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6367" y="3236975"/>
            <a:ext cx="4108399" cy="6583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16367" y="3236975"/>
            <a:ext cx="50292" cy="65836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17536" y="3236975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A29A"/>
                </a:solidFill>
                <a:latin typeface="微软雅黑"/>
                <a:ea typeface="微软雅黑"/>
                <a:cs typeface="微软雅黑"/>
              </a:rPr>
              <a:t>35.66%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7" y="3236975"/>
            <a:ext cx="1913839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研发人员占员工总数 &gt; 10% 门槛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16367" y="3986783"/>
            <a:ext cx="4108399" cy="6583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16367" y="3986783"/>
            <a:ext cx="50292" cy="65836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7536" y="3986783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A29A"/>
                </a:solidFill>
                <a:latin typeface="微软雅黑"/>
                <a:ea typeface="微软雅黑"/>
                <a:cs typeface="微软雅黑"/>
              </a:rPr>
              <a:t>20 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7" y="3986783"/>
            <a:ext cx="1913839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境内发明专利（境内外注册专利合计 262 项）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16367" y="4736592"/>
            <a:ext cx="4108399" cy="6583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16367" y="4736592"/>
            <a:ext cx="50292" cy="65836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17536" y="4736592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A29A"/>
                </a:solidFill>
                <a:latin typeface="微软雅黑"/>
                <a:ea typeface="微软雅黑"/>
                <a:cs typeface="微软雅黑"/>
              </a:rPr>
              <a:t>226.78%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8047" y="4736592"/>
            <a:ext cx="1913839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最近三年营业收入复合增长率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7" y="5504688"/>
            <a:ext cx="410839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人均研发费用约 78.79 万元/人（研发人员 184 人）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04  ｜  竞争优势与同业地位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四家可比公司中营收第二、毛利率与成长性均第一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2025 年营收 169,926.93 万元，仅次于优必选；毛利率 60.44% 与 CAGR 226.78% 均居首。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底稿表5-2、表7-10（性质A，S1）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2240279"/>
          <a:ext cx="66751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66928" y="5541264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2025 年营业收入对比（万元，性质A）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516367" y="2157984"/>
          <a:ext cx="4108398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97710"/>
                <a:gridCol w="1255344"/>
                <a:gridCol w="125534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公司</a:t>
                      </a:r>
                    </a:p>
                  </a:txBody>
                  <a:tcPr marL="82296" marR="8229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2025毛利率</a:t>
                      </a:r>
                    </a:p>
                  </a:txBody>
                  <a:tcPr marL="82296" marR="8229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营收CAGR</a:t>
                      </a:r>
                    </a:p>
                  </a:txBody>
                  <a:tcPr marL="82296" marR="82296" marT="18288" marB="18288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宇树科技（公司）</a:t>
                      </a:r>
                    </a:p>
                  </a:txBody>
                  <a:tcPr marL="82296" marR="82296" marT="18288" marB="18288" anchor="ctr">
                    <a:solidFill>
                      <a:srgbClr val="FDF4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60.44%</a:t>
                      </a:r>
                    </a:p>
                  </a:txBody>
                  <a:tcPr marL="82296" marR="82296" marT="18288" marB="18288" anchor="ctr">
                    <a:solidFill>
                      <a:srgbClr val="FDF4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226.78%</a:t>
                      </a:r>
                    </a:p>
                  </a:txBody>
                  <a:tcPr marL="82296" marR="82296" marT="18288" marB="18288" anchor="ctr">
                    <a:solidFill>
                      <a:srgbClr val="FDF4E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云深处</a:t>
                      </a:r>
                    </a:p>
                  </a:txBody>
                  <a:tcPr marL="82296" marR="8229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52.83%</a:t>
                      </a:r>
                    </a:p>
                  </a:txBody>
                  <a:tcPr marL="82296" marR="8229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159.51%</a:t>
                      </a:r>
                    </a:p>
                  </a:txBody>
                  <a:tcPr marL="82296" marR="82296" marT="18288" marB="18288" anchor="ctr"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越疆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46.49%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31.13%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优必选</a:t>
                      </a:r>
                    </a:p>
                  </a:txBody>
                  <a:tcPr marL="82296" marR="8229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37.67%</a:t>
                      </a:r>
                    </a:p>
                  </a:txBody>
                  <a:tcPr marL="82296" marR="8229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37.67%</a:t>
                      </a:r>
                    </a:p>
                  </a:txBody>
                  <a:tcPr marL="82296" marR="82296" marT="18288" marB="18288" anchor="ctr"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E2A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乐聚智能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40.78%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5A667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118.68%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516367" y="4645152"/>
            <a:ext cx="4108399" cy="1024128"/>
          </a:xfrm>
          <a:prstGeom prst="roundRect">
            <a:avLst>
              <a:gd name="adj" fmla="val 6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16367" y="4645152"/>
            <a:ext cx="50292" cy="102412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4736592"/>
            <a:ext cx="3706063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2E9E6B"/>
                </a:solidFill>
                <a:latin typeface="微软雅黑"/>
                <a:ea typeface="微软雅黑"/>
                <a:cs typeface="微软雅黑"/>
              </a:rPr>
              <a:t>对标结论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宇树营收为可比公司均值（77,254.01 万元）的 2.20倍；毛利率高出均值 16.00个百分点。业务结构差异限制精确排序，本节为方向性判断。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04  ｜  竞争优势与同业地位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护城河来自全栈自研的成本结构、领先赛道与长期资本绑定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招股书将高毛利归因于“全栈自研自产降低硬件成本、规模效应及产品构成差异”。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底稿表4-7、表5-2、表6-2、表7-11（性质A/E）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03120"/>
            <a:ext cx="5391759" cy="1773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103120"/>
            <a:ext cx="68580" cy="1773936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286000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全栈自研 · 成本优势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761487"/>
            <a:ext cx="488883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直接材料占成本 81.73%（规模化拉高），四足毛利率仍升至 56.72%；剔除股份支付管理费用率仅 2.97%。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2103120"/>
            <a:ext cx="5391759" cy="1773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2103120"/>
            <a:ext cx="68580" cy="177393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7327" y="2286000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细分赛道 · 商业化领先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2761487"/>
            <a:ext cx="488883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人形收入占比 51.78%；同业中优必选由上年 2.7% 升至 41.1%（引自底稿文本），越疆、云深处均未超 5%。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96511"/>
            <a:ext cx="5391759" cy="1773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096511"/>
            <a:ext cx="68580" cy="177393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279392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长期资本 · 战配深度参与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754879"/>
            <a:ext cx="488883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战略配售 8,089,286 股、占发行 20.00%，社保、DeepSeek、中石油昆仑、南网、腾讯等在列。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4096511"/>
            <a:ext cx="5391759" cy="1773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4096511"/>
            <a:ext cx="68580" cy="177393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7327" y="4279392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控制权 · 特别表决权稳定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7327" y="4754879"/>
            <a:ext cx="488883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王兴兴发行后直接持股 21.44%，合计控制表决权 65.31%；实控人不因发行变更。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2E9E6B"/>
                </a:solidFill>
                <a:latin typeface="微软雅黑"/>
                <a:ea typeface="微软雅黑"/>
                <a:cs typeface="微软雅黑"/>
              </a:rPr>
              <a:t>05  ｜  增长变量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增长取决于销量爬坡能否跑赢单价下行，研发转化效率是关键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9E6B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四个可跟踪的增长变量与其对应的底稿度量口径。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底稿表7-4、表4-4、表6-3、表7-6（性质A/E）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48839"/>
            <a:ext cx="2586151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148839"/>
            <a:ext cx="2586151" cy="457200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148839"/>
            <a:ext cx="25861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22203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销量与产能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182111"/>
            <a:ext cx="2183815" cy="18287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人形销量 5,215 台；募投“制造基地建设”拟投入 62,411.39 万元（占 14.85%）支撑产能爬坡。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0823" y="2148839"/>
            <a:ext cx="2586151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90823" y="2148839"/>
            <a:ext cx="2586151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0823" y="2148839"/>
            <a:ext cx="25861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3703" y="2724912"/>
            <a:ext cx="22203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单价双向性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1991" y="3182111"/>
            <a:ext cx="2183815" cy="18287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人形单价 16.64 万元/台，较 2023 年 59.34 万元累计降约 72%；降价换量能否持续放量待观察。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4719" y="2148839"/>
            <a:ext cx="2586151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4719" y="2148839"/>
            <a:ext cx="2586151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4719" y="2148839"/>
            <a:ext cx="25861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7599" y="2724912"/>
            <a:ext cx="22203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市场与渠道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5887" y="3182111"/>
            <a:ext cx="2183815" cy="18287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境内占比 56.35% 首次反超；线上新增“电商入仓”4,885.16 万元，渠道多元化。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8615" y="2148839"/>
            <a:ext cx="2586151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38615" y="2148839"/>
            <a:ext cx="2586151" cy="457200"/>
          </a:xfrm>
          <a:prstGeom prst="rect">
            <a:avLst/>
          </a:prstGeom>
          <a:solidFill>
            <a:srgbClr val="17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38615" y="2148839"/>
            <a:ext cx="2586151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1495" y="2724912"/>
            <a:ext cx="22203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研发转化效率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9783" y="3182111"/>
            <a:ext cx="2183815" cy="18287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2025 研发费用为扣非归母净利的 24.54%；研发类募投占比 85.15%，转化效率决定中长期毛利。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49240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5349240"/>
            <a:ext cx="50292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5440679"/>
            <a:ext cx="10655503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建议按季跟踪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跟踪指标清单：季度销量与单价、境内外与线上占比、扣非净利率、经营现金流/营收、研发费用率、坏账计提比例、超募资金使用安排。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06  ｜  主要风险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识别 14 项风险，其中 3 项为高优先级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高优先级风险均涉及核心结论或事实/预测边界，需优先跟踪。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底稿表7-1/7-5、表5-3、表7-9（性质A/C/E）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48839"/>
            <a:ext cx="3515258" cy="192024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148839"/>
            <a:ext cx="3515258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2322576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311603"/>
            <a:ext cx="786384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670048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62A1E"/>
                </a:solidFill>
                <a:latin typeface="微软雅黑"/>
                <a:ea typeface="微软雅黑"/>
                <a:cs typeface="微软雅黑"/>
              </a:rPr>
              <a:t>盈利与现金流背离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127248"/>
            <a:ext cx="316778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2026H1 营收 +48.5%，但扣非净利 -19.3%、经营现金流 -32.5%（性质C·未审）。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8218" y="2148839"/>
            <a:ext cx="3515258" cy="192024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8218" y="2148839"/>
            <a:ext cx="3515258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21098" y="2322576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1098" y="2311603"/>
            <a:ext cx="786384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R-03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098" y="2670048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62A1E"/>
                </a:solidFill>
                <a:latin typeface="微软雅黑"/>
                <a:ea typeface="微软雅黑"/>
                <a:cs typeface="微软雅黑"/>
              </a:rPr>
              <a:t>坏账计提低于同业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1098" y="3127248"/>
            <a:ext cx="316778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2025 公司计提 5.13% vs 同业均值 14.07%，低 8.94个百分点；优必选高达 29.29%。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9508" y="2148839"/>
            <a:ext cx="3515258" cy="192024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9508" y="2148839"/>
            <a:ext cx="3515258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92388" y="2322576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2388" y="2311603"/>
            <a:ext cx="786384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R-06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2388" y="2670048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62A1E"/>
                </a:solidFill>
                <a:latin typeface="微软雅黑"/>
                <a:ea typeface="微软雅黑"/>
                <a:cs typeface="微软雅黑"/>
              </a:rPr>
              <a:t>二级市场高估值波动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2388" y="3127248"/>
            <a:ext cx="316778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按 8-28 收盘价静态市盈率约 850倍（扣非约 401倍），行业均值 38.56倍；较首日高点回落 46.8%。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2519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其余需关注风险（详见底稿风险表与《研究报告》第七节）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636008"/>
            <a:ext cx="5391759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R-01  </a:t>
            </a: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单价持续下行侵蚀毛利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946904"/>
            <a:ext cx="5391759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R-04  </a:t>
            </a: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匿名境外客户最终销售难核实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257800"/>
            <a:ext cx="5391759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R-05  </a:t>
            </a: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存货跌价（计提率约6.26%）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568696"/>
            <a:ext cx="5391759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R-07  </a:t>
            </a: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特别表决权下公众股东制衡弱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879592"/>
            <a:ext cx="5391759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R-09  </a:t>
            </a: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Q4季节性与未审数据解读风险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3007" y="4636008"/>
            <a:ext cx="5391759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R-10  </a:t>
            </a: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管理层预计被误引为事实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3007" y="4946904"/>
            <a:ext cx="5391759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R-11  </a:t>
            </a: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战配限售解禁与供给冲击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3007" y="5257800"/>
            <a:ext cx="5391759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R-14  </a:t>
            </a: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研发费用率快速稀释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3007" y="5568696"/>
            <a:ext cx="5391759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R-16  </a:t>
            </a: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大额超募资金治理安排未明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3007" y="5879592"/>
            <a:ext cx="5391759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R-08  </a:t>
            </a: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新增渠道客户持续性待验证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07  ｜  发行估值与二级市场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发行市盈率 219.23 倍（孰低口径），并存在大额超募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发行市盈率四口径介于 92.92倍 至 219.23倍，引用必须指明口径；公告对外以孰低 219.23倍 为准。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底稿表2-1、表7-7（性质A/E，S2/S5）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2194560"/>
          <a:ext cx="6400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66928" y="55046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发行市盈率四种口径（倍，性质A；右一为公告对外孰低口径）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2121408"/>
            <a:ext cx="2081631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42048" y="2121408"/>
            <a:ext cx="2081631" cy="68580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4927" y="2359152"/>
            <a:ext cx="1770735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5.69倍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2395727"/>
            <a:ext cx="177073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较行业均值(倍)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2706623"/>
            <a:ext cx="1770735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行业静态市盈率 38.56倍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43135" y="2121408"/>
            <a:ext cx="2081631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43135" y="2121408"/>
            <a:ext cx="2081631" cy="68580"/>
          </a:xfrm>
          <a:prstGeom prst="rect">
            <a:avLst/>
          </a:prstGeom>
          <a:solidFill>
            <a:srgbClr val="5B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6015" y="2359152"/>
            <a:ext cx="1770735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B8DC7"/>
                </a:solidFill>
                <a:latin typeface="微软雅黑"/>
                <a:ea typeface="微软雅黑"/>
                <a:cs typeface="微软雅黑"/>
              </a:rPr>
              <a:t>1.82倍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6015" y="2395727"/>
            <a:ext cx="177073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较可比市销率(倍)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6015" y="2706623"/>
            <a:ext cx="1770735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溢价约 82%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42048" y="3328415"/>
            <a:ext cx="4382719" cy="2340864"/>
          </a:xfrm>
          <a:prstGeom prst="roundRect">
            <a:avLst>
              <a:gd name="adj" fmla="val 5000"/>
            </a:avLst>
          </a:prstGeom>
          <a:solidFill>
            <a:srgbClr val="FD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42048" y="3328415"/>
            <a:ext cx="64008" cy="2340864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9792" y="3474720"/>
            <a:ext cx="392551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6D1F"/>
                </a:solidFill>
                <a:latin typeface="微软雅黑"/>
                <a:ea typeface="微软雅黑"/>
                <a:cs typeface="微软雅黑"/>
              </a:rPr>
              <a:t>本次发行超募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3877056"/>
            <a:ext cx="3925519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超募金额  </a:t>
            </a:r>
            <a:r>
              <a:rPr sz="1500" b="1" i="0">
                <a:solidFill>
                  <a:srgbClr val="A62A1E"/>
                </a:solidFill>
                <a:latin typeface="微软雅黑"/>
                <a:ea typeface="微软雅黑"/>
                <a:cs typeface="微软雅黑"/>
              </a:rPr>
              <a:t>171,543.80 万元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募资净额 591,714.92 万元 − 募投计划 420,171.12 万元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超募比例  </a:t>
            </a:r>
            <a:r>
              <a:rPr sz="1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40.83%</a:t>
            </a:r>
            <a:r>
              <a:rPr sz="10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　≈2025营收 1.01倍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招股书与公告书未对超募部分作项目化安排，属上市后治理跟踪事项。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5B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5B8DC7"/>
                </a:solidFill>
                <a:latin typeface="微软雅黑"/>
                <a:ea typeface="微软雅黑"/>
                <a:cs typeface="微软雅黑"/>
              </a:rPr>
              <a:t>07  ｜  发行估值与二级市场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首日暴涨 460% 后回落，截至 8-28 仍较发行价上涨约 288%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5B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8DC7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股价经历“首日暴涨—快速回落—低位震荡”，8 个交易日累计成交约 561 亿元。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底稿表2-2、表7-9（性质E，第三方行情 S9，非法定披露）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2194560"/>
          <a:ext cx="6858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66928" y="550468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上市后收盘价走势（2026-08-19 至 08-28，元/股，性质E·第三方行情）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2121408"/>
            <a:ext cx="1862175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99248" y="2121408"/>
            <a:ext cx="1862175" cy="68580"/>
          </a:xfrm>
          <a:prstGeom prst="rect">
            <a:avLst/>
          </a:prstGeom>
          <a:solidFill>
            <a:srgbClr val="7FB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7" y="2359152"/>
            <a:ext cx="155127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FB2E5"/>
                </a:solidFill>
                <a:latin typeface="微软雅黑"/>
                <a:ea typeface="微软雅黑"/>
                <a:cs typeface="微软雅黑"/>
              </a:rPr>
              <a:t>150.80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2157984"/>
            <a:ext cx="15512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发行价(元)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62591" y="2121408"/>
            <a:ext cx="1862175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62591" y="2121408"/>
            <a:ext cx="1862175" cy="68580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5471" y="2359152"/>
            <a:ext cx="155127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1,100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5471" y="2157984"/>
            <a:ext cx="15512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首日盘中最高(元)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99248" y="3054096"/>
            <a:ext cx="1862175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3054096"/>
            <a:ext cx="1862175" cy="685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82127" y="3291839"/>
            <a:ext cx="155127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845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7" y="3090672"/>
            <a:ext cx="15512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首日收盘(元)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62591" y="3054096"/>
            <a:ext cx="1862175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62591" y="3054096"/>
            <a:ext cx="1862175" cy="68580"/>
          </a:xfrm>
          <a:prstGeom prst="rect">
            <a:avLst/>
          </a:prstGeom>
          <a:solidFill>
            <a:srgbClr val="5B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45471" y="3291839"/>
            <a:ext cx="155127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5B8DC7"/>
                </a:solidFill>
                <a:latin typeface="微软雅黑"/>
                <a:ea typeface="微软雅黑"/>
                <a:cs typeface="微软雅黑"/>
              </a:rPr>
              <a:t>585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45471" y="3090672"/>
            <a:ext cx="15512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8-28 收盘(元)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9248" y="4059935"/>
            <a:ext cx="3925519" cy="1609344"/>
          </a:xfrm>
          <a:prstGeom prst="roundRect">
            <a:avLst>
              <a:gd name="adj" fmla="val 6000"/>
            </a:avLst>
          </a:prstGeom>
          <a:solidFill>
            <a:srgbClr val="FD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99248" y="4059935"/>
            <a:ext cx="50292" cy="1609344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18704" y="4151375"/>
            <a:ext cx="3523183" cy="1426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市值与估值（性质E·测算）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首日收盘市值约 3,417.72 亿元、盘中最高约 4,449.11 亿元，8-28 收盘约 2,366.12 亿元；对应静态市销率约 139.2倍、静态市盈率（扣非）约 401倍。行情为第三方数据（S9），不得与发行估值倍数混用。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08  ｜  事实边界与待核验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2026H1 实际营收超管理层预计上限约 2.15%，但不得称“兑现盈利预测”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预计数（性质D）与实际数（性质C）严格分列，任何场合不得将预计表述为已发生事实。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底稿表3-4、表7-8（预计性质D / 实际性质C）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2240279"/>
          <a:ext cx="64008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66928" y="54498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2026H1 营业收入：管理层预计区间 vs 已实现（万元）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2148839"/>
            <a:ext cx="4382719" cy="1371600"/>
          </a:xfrm>
          <a:prstGeom prst="roundRect">
            <a:avLst>
              <a:gd name="adj" fmla="val 5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42048" y="2148839"/>
            <a:ext cx="54864" cy="13716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2267712"/>
            <a:ext cx="39712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9E6B"/>
                </a:solidFill>
                <a:latin typeface="微软雅黑"/>
                <a:ea typeface="微软雅黑"/>
                <a:cs typeface="微软雅黑"/>
              </a:rPr>
              <a:t>可以说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1504" y="2615184"/>
            <a:ext cx="397123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“实际营业收入高于管理层预计上限约 2.15%”；“归母、扣非实际值落在预计区间内”。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3657600"/>
            <a:ext cx="4382719" cy="137160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42048" y="365760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1504" y="3776472"/>
            <a:ext cx="39712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不可以说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4123944"/>
            <a:ext cx="397123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“公司完成了盈利预测”“业绩超预期兑现”——招股书明示预计数不构成盈利预测或业绩承诺。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742431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数据性质分级（全程标注，严禁混用）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6071616"/>
            <a:ext cx="2094524" cy="5669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6071616"/>
            <a:ext cx="45720" cy="56692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6071616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9E6B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6144768"/>
            <a:ext cx="145444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经审计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2023-25年度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07756" y="6071616"/>
            <a:ext cx="2094524" cy="5669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07756" y="6071616"/>
            <a:ext cx="45720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4060" y="6071616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74684" y="6144768"/>
            <a:ext cx="145444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经审阅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2026Q1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48585" y="6071616"/>
            <a:ext cx="2094524" cy="5669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48585" y="6071616"/>
            <a:ext cx="45720" cy="566928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4889" y="6071616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15513" y="6144768"/>
            <a:ext cx="145444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未经审计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2026H1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89413" y="6071616"/>
            <a:ext cx="2094524" cy="5669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89413" y="6071616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35717" y="6071616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56341" y="6144768"/>
            <a:ext cx="145444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管理层预计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预计区间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30242" y="6071616"/>
            <a:ext cx="2094524" cy="5669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30242" y="6071616"/>
            <a:ext cx="45720" cy="566928"/>
          </a:xfrm>
          <a:prstGeom prst="rect">
            <a:avLst/>
          </a:prstGeom>
          <a:solidFill>
            <a:srgbClr val="5A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76546" y="6071616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7170" y="6144768"/>
            <a:ext cx="145444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本底稿测算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比率/市值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12064"/>
            <a:ext cx="91440" cy="713232"/>
          </a:xfrm>
          <a:prstGeom prst="rect">
            <a:avLst/>
          </a:prstGeom>
          <a:solidFill>
            <a:srgbClr val="A6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75488"/>
            <a:ext cx="83146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A62A1E"/>
                </a:solidFill>
                <a:latin typeface="微软雅黑"/>
                <a:ea typeface="微软雅黑"/>
                <a:cs typeface="微软雅黑"/>
              </a:rPr>
              <a:t>08  ｜  事实边界与待核验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0"/>
            <a:ext cx="8314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18 项待人工核验事项，其中高优先级影响核心结论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8687" y="51206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宇树科技 · 688836.SH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26464"/>
            <a:ext cx="11057839" cy="512064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26464"/>
            <a:ext cx="50292" cy="512064"/>
          </a:xfrm>
          <a:prstGeom prst="rect">
            <a:avLst/>
          </a:prstGeom>
          <a:solidFill>
            <a:srgbClr val="A6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26464"/>
            <a:ext cx="1060063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2A1E"/>
                </a:solidFill>
                <a:latin typeface="微软雅黑"/>
                <a:ea typeface="微软雅黑"/>
                <a:cs typeface="微软雅黑"/>
              </a:rPr>
              <a:t>核心观点  </a:t>
            </a: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本汇报不提供任何前瞻性盈利预测、估值目标或投资建议。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55080"/>
            <a:ext cx="11057839" cy="10972"/>
          </a:xfrm>
          <a:prstGeom prst="rect">
            <a:avLst/>
          </a:prstGeom>
          <a:solidFill>
            <a:srgbClr val="DA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794887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800" b="0" i="0">
                <a:solidFill>
                  <a:srgbClr val="5A6673"/>
                </a:solidFill>
                <a:latin typeface="微软雅黑"/>
                <a:ea typeface="微软雅黑"/>
                <a:cs typeface="微软雅黑"/>
              </a:rPr>
              <a:t>底稿表10（待人工核验清单，共18项）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8687" y="64008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3A0AE"/>
                </a:solidFill>
                <a:latin typeface="微软雅黑"/>
                <a:ea typeface="微软雅黑"/>
                <a:cs typeface="微软雅黑"/>
              </a:rPr>
              <a:t>内部资料 · 请勿外传    </a:t>
            </a:r>
            <a:r>
              <a:rPr sz="100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48839"/>
            <a:ext cx="539175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148839"/>
            <a:ext cx="50292" cy="6949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350008"/>
            <a:ext cx="761695" cy="274320"/>
          </a:xfrm>
          <a:prstGeom prst="roundRect">
            <a:avLst>
              <a:gd name="adj" fmla="val 50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339035"/>
            <a:ext cx="76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V-01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1759" y="2350008"/>
            <a:ext cx="409879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1759" y="2339035"/>
            <a:ext cx="40987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203703"/>
            <a:ext cx="383727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核心 PDF 取自东方财富披露镜像而非上交所官网原件，需回原件核对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935223"/>
            <a:ext cx="539175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935223"/>
            <a:ext cx="50292" cy="6949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136391"/>
            <a:ext cx="761695" cy="274320"/>
          </a:xfrm>
          <a:prstGeom prst="roundRect">
            <a:avLst>
              <a:gd name="adj" fmla="val 50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125419"/>
            <a:ext cx="76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V-02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1759" y="3136391"/>
            <a:ext cx="409879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1759" y="3125419"/>
            <a:ext cx="40987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2990087"/>
            <a:ext cx="383727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2026H1 数据未经审计，且不会有后续半年报验证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721607"/>
            <a:ext cx="539175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721607"/>
            <a:ext cx="50292" cy="6949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3922775"/>
            <a:ext cx="761695" cy="274320"/>
          </a:xfrm>
          <a:prstGeom prst="roundRect">
            <a:avLst>
              <a:gd name="adj" fmla="val 50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911803"/>
            <a:ext cx="76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V-03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1759" y="3922775"/>
            <a:ext cx="409879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1759" y="3911803"/>
            <a:ext cx="40987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776471"/>
            <a:ext cx="383727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招股书 2026H1“预计数”属性质D，存在被误引为事实的风险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507992"/>
            <a:ext cx="539175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507992"/>
            <a:ext cx="50292" cy="694944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4709159"/>
            <a:ext cx="761695" cy="274320"/>
          </a:xfrm>
          <a:prstGeom prst="roundRect">
            <a:avLst>
              <a:gd name="adj" fmla="val 50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698187"/>
            <a:ext cx="76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V-04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91759" y="4709159"/>
            <a:ext cx="409879" cy="274320"/>
          </a:xfrm>
          <a:prstGeom prst="roundRect">
            <a:avLst>
              <a:gd name="adj" fmla="val 50000"/>
            </a:avLst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1759" y="4698187"/>
            <a:ext cx="40987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4562855"/>
            <a:ext cx="383727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人形“出货量超5,500台”与“销量5,215台”口径差异约300台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3007" y="2148839"/>
            <a:ext cx="539175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3007" y="2148839"/>
            <a:ext cx="50292" cy="6949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97599" y="2350008"/>
            <a:ext cx="761695" cy="274320"/>
          </a:xfrm>
          <a:prstGeom prst="roundRect">
            <a:avLst>
              <a:gd name="adj" fmla="val 50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97599" y="2339035"/>
            <a:ext cx="76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V-06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057839" y="2350008"/>
            <a:ext cx="409879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57839" y="2339035"/>
            <a:ext cx="40987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29119" y="2203703"/>
            <a:ext cx="383727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坏账计提比例显著低于同业，缺乏可独立验证的解释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33007" y="2935223"/>
            <a:ext cx="539175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33007" y="2935223"/>
            <a:ext cx="50292" cy="694944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97599" y="3136391"/>
            <a:ext cx="761695" cy="274320"/>
          </a:xfrm>
          <a:prstGeom prst="roundRect">
            <a:avLst>
              <a:gd name="adj" fmla="val 50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97599" y="3125419"/>
            <a:ext cx="76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V-15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057839" y="3136391"/>
            <a:ext cx="409879" cy="274320"/>
          </a:xfrm>
          <a:prstGeom prst="roundRect">
            <a:avLst>
              <a:gd name="adj" fmla="val 50000"/>
            </a:avLst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57839" y="3125419"/>
            <a:ext cx="40987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29119" y="2990087"/>
            <a:ext cx="383727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股份支付费用34,906.55万元的公允价值假设未提取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33007" y="3721607"/>
            <a:ext cx="539175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33007" y="3721607"/>
            <a:ext cx="50292" cy="694944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397599" y="3922775"/>
            <a:ext cx="761695" cy="274320"/>
          </a:xfrm>
          <a:prstGeom prst="roundRect">
            <a:avLst>
              <a:gd name="adj" fmla="val 50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97599" y="3911803"/>
            <a:ext cx="76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V-16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057839" y="3922775"/>
            <a:ext cx="409879" cy="274320"/>
          </a:xfrm>
          <a:prstGeom prst="roundRect">
            <a:avLst>
              <a:gd name="adj" fmla="val 50000"/>
            </a:avLst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057839" y="3911803"/>
            <a:ext cx="40987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29119" y="3776471"/>
            <a:ext cx="383727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超募171,543.80万元的使用安排未见项目化披露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33007" y="4507992"/>
            <a:ext cx="539175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33007" y="4507992"/>
            <a:ext cx="50292" cy="694944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97599" y="4709159"/>
            <a:ext cx="761695" cy="274320"/>
          </a:xfrm>
          <a:prstGeom prst="roundRect">
            <a:avLst>
              <a:gd name="adj" fmla="val 50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97599" y="4698187"/>
            <a:ext cx="76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V-10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057839" y="4709159"/>
            <a:ext cx="409879" cy="274320"/>
          </a:xfrm>
          <a:prstGeom prst="roundRect">
            <a:avLst>
              <a:gd name="adj" fmla="val 50000"/>
            </a:avLst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57839" y="4698187"/>
            <a:ext cx="40987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29119" y="4562855"/>
            <a:ext cx="383727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行情数据来自第三方接口（S9），非法定披露内容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6928" y="5413248"/>
            <a:ext cx="11057839" cy="603504"/>
          </a:xfrm>
          <a:prstGeom prst="roundRect">
            <a:avLst>
              <a:gd name="adj" fmla="val 6000"/>
            </a:avLst>
          </a:prstGeom>
          <a:solidFill>
            <a:srgbClr val="FD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6928" y="5413248"/>
            <a:ext cx="50292" cy="603504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6384" y="5504688"/>
            <a:ext cx="10655503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未包含内容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0E2A47"/>
                </a:solidFill>
                <a:latin typeface="微软雅黑"/>
                <a:ea typeface="微软雅黑"/>
                <a:cs typeface="微软雅黑"/>
              </a:rPr>
              <a:t>另据资料截止日限制，本底稿未包含：完整三表及附注明细、2026-07-01 至 08-30 经营事项、08-31 及之后行情与公告、官网非披露类信息，以及任何盈利预测或投资建议。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E38"/>
              </a:gs>
              <a:gs pos="100000">
                <a:srgbClr val="1F3864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828800"/>
            <a:ext cx="5486400" cy="5486400"/>
          </a:xfrm>
          <a:prstGeom prst="ellipse">
            <a:avLst/>
          </a:prstGeom>
          <a:solidFill>
            <a:srgbClr val="2E75B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17A29A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2194560" cy="32004"/>
          </a:xfrm>
          <a:prstGeom prst="rect">
            <a:avLst/>
          </a:prstGeom>
          <a:solidFill>
            <a:srgbClr val="E0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669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数据来源与可追溯性声明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3502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SOURCES &amp; TRACEABILITY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75104"/>
            <a:ext cx="5346039" cy="566928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039112"/>
            <a:ext cx="44316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DE6F2"/>
                </a:solidFill>
                <a:latin typeface="微软雅黑"/>
                <a:ea typeface="微软雅黑"/>
                <a:cs typeface="微软雅黑"/>
              </a:rPr>
              <a:t>招股说明书（2026-08-14，382页）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A6C2"/>
                </a:solidFill>
                <a:latin typeface="微软雅黑"/>
                <a:ea typeface="微软雅黑"/>
                <a:cs typeface="微软雅黑"/>
              </a:rPr>
              <a:t>一手·法定披露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33472"/>
            <a:ext cx="5346039" cy="566928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334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697479"/>
            <a:ext cx="44316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DE6F2"/>
                </a:solidFill>
                <a:latin typeface="微软雅黑"/>
                <a:ea typeface="微软雅黑"/>
                <a:cs typeface="微软雅黑"/>
              </a:rPr>
              <a:t>上市公告书（2026-08-18，90页）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A6C2"/>
                </a:solidFill>
                <a:latin typeface="微软雅黑"/>
                <a:ea typeface="微软雅黑"/>
                <a:cs typeface="微软雅黑"/>
              </a:rPr>
              <a:t>一手·法定披露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91840"/>
            <a:ext cx="5346039" cy="566928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3355848"/>
            <a:ext cx="44316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DE6F2"/>
                </a:solidFill>
                <a:latin typeface="微软雅黑"/>
                <a:ea typeface="微软雅黑"/>
                <a:cs typeface="微软雅黑"/>
              </a:rPr>
              <a:t>上市公告书提示性公告（2026-08-18）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A6C2"/>
                </a:solidFill>
                <a:latin typeface="微软雅黑"/>
                <a:ea typeface="微软雅黑"/>
                <a:cs typeface="微软雅黑"/>
              </a:rPr>
              <a:t>一手·法定披露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50208"/>
            <a:ext cx="5346039" cy="566928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502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014216"/>
            <a:ext cx="44316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DE6F2"/>
                </a:solidFill>
                <a:latin typeface="微软雅黑"/>
                <a:ea typeface="微软雅黑"/>
                <a:cs typeface="微软雅黑"/>
              </a:rPr>
              <a:t>发行结果公告（2026-08-14）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A6C2"/>
                </a:solidFill>
                <a:latin typeface="微软雅黑"/>
                <a:ea typeface="微软雅黑"/>
                <a:cs typeface="微软雅黑"/>
              </a:rPr>
              <a:t>一手·法定披露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608576"/>
            <a:ext cx="5346039" cy="566928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085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S5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672584"/>
            <a:ext cx="44316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DE6F2"/>
                </a:solidFill>
                <a:latin typeface="微软雅黑"/>
                <a:ea typeface="微软雅黑"/>
                <a:cs typeface="微软雅黑"/>
              </a:rPr>
              <a:t>发行公告（2026-08-07）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A6C2"/>
                </a:solidFill>
                <a:latin typeface="微软雅黑"/>
                <a:ea typeface="微软雅黑"/>
                <a:cs typeface="微软雅黑"/>
              </a:rPr>
              <a:t>一手·法定披露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1975104"/>
            <a:ext cx="5346039" cy="566928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3319" y="19751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S6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5111" y="2039112"/>
            <a:ext cx="44316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DE6F2"/>
                </a:solidFill>
                <a:latin typeface="微软雅黑"/>
                <a:ea typeface="微软雅黑"/>
                <a:cs typeface="微软雅黑"/>
              </a:rPr>
              <a:t>招股意向书（2026-07-31）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A6C2"/>
                </a:solidFill>
                <a:latin typeface="微软雅黑"/>
                <a:ea typeface="微软雅黑"/>
                <a:cs typeface="微软雅黑"/>
              </a:rPr>
              <a:t>一手·法定披露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8727" y="2633472"/>
            <a:ext cx="5346039" cy="566928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3319" y="26334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S7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5111" y="2697479"/>
            <a:ext cx="44316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DE6F2"/>
                </a:solidFill>
                <a:latin typeface="微软雅黑"/>
                <a:ea typeface="微软雅黑"/>
                <a:cs typeface="微软雅黑"/>
              </a:rPr>
              <a:t>证监会同意注册批复（2026-07-02）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A6C2"/>
                </a:solidFill>
                <a:latin typeface="微软雅黑"/>
                <a:ea typeface="微软雅黑"/>
                <a:cs typeface="微软雅黑"/>
              </a:rPr>
              <a:t>一手·监管文件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8727" y="3291840"/>
            <a:ext cx="5346039" cy="566928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3319" y="3291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S8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5111" y="3355848"/>
            <a:ext cx="44316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DE6F2"/>
                </a:solidFill>
                <a:latin typeface="微软雅黑"/>
                <a:ea typeface="微软雅黑"/>
                <a:cs typeface="微软雅黑"/>
              </a:rPr>
              <a:t>上交所上市委审议结果公告（2026-06-01）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A6C2"/>
                </a:solidFill>
                <a:latin typeface="微软雅黑"/>
                <a:ea typeface="微软雅黑"/>
                <a:cs typeface="微软雅黑"/>
              </a:rPr>
              <a:t>一手·监管文件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8727" y="3950208"/>
            <a:ext cx="5346039" cy="566928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3319" y="39502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S9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5111" y="4014216"/>
            <a:ext cx="44316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DE6F2"/>
                </a:solidFill>
                <a:latin typeface="微软雅黑"/>
                <a:ea typeface="微软雅黑"/>
                <a:cs typeface="微软雅黑"/>
              </a:rPr>
              <a:t>688836 日K线行情（东方财富，至2026-08-28）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A6C2"/>
                </a:solidFill>
                <a:latin typeface="微软雅黑"/>
                <a:ea typeface="微软雅黑"/>
                <a:cs typeface="微软雅黑"/>
              </a:rPr>
              <a:t>第三方·行情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8727" y="4608576"/>
            <a:ext cx="5346039" cy="566928"/>
          </a:xfrm>
          <a:prstGeom prst="roundRect">
            <a:avLst>
              <a:gd name="adj" fmla="val 8000"/>
            </a:avLst>
          </a:prstGeom>
          <a:solidFill>
            <a:srgbClr val="16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3319" y="46085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S10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5111" y="4672584"/>
            <a:ext cx="44316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DE6F2"/>
                </a:solidFill>
                <a:latin typeface="微软雅黑"/>
                <a:ea typeface="微软雅黑"/>
                <a:cs typeface="微软雅黑"/>
              </a:rPr>
              <a:t>宇树科技官网/公众号（本次未直接引用）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A6C2"/>
                </a:solidFill>
                <a:latin typeface="微软雅黑"/>
                <a:ea typeface="微软雅黑"/>
                <a:cs typeface="微软雅黑"/>
              </a:rPr>
              <a:t>公司官方·待补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5431536"/>
            <a:ext cx="11057839" cy="10972"/>
          </a:xfrm>
          <a:prstGeom prst="rect">
            <a:avLst/>
          </a:prstGeom>
          <a:solidFill>
            <a:srgbClr val="33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559552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A83C"/>
                </a:solidFill>
                <a:latin typeface="微软雅黑"/>
                <a:ea typeface="微软雅黑"/>
                <a:cs typeface="微软雅黑"/>
              </a:rPr>
              <a:t>口径与免责声明　</a:t>
            </a:r>
            <a:r>
              <a:rPr sz="1050" b="0" i="0">
                <a:solidFill>
                  <a:srgbClr val="C2D0E2"/>
                </a:solidFill>
                <a:latin typeface="微软雅黑"/>
                <a:ea typeface="微软雅黑"/>
                <a:cs typeface="微软雅黑"/>
              </a:rPr>
              <a:t>金额单位除注明外为人民币万元；比率以小数存储、百分比显示；行情与市值测算为性质E，不得与发行估值倍数混用。本汇报基于资料截止日 2026-08-30 前的披露文件，其后事项一律未纳入，不构成遗漏；不含任何投资建议。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E93AC"/>
                </a:solidFill>
                <a:latin typeface="微软雅黑"/>
                <a:ea typeface="微软雅黑"/>
                <a:cs typeface="微软雅黑"/>
              </a:rPr>
              <a:t>配套：Excel 分析底稿 · Word 公司研究报告 · 本 PPT 汇报　｜　内部资料 · 请勿外传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