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presentation.xml" ContentType="application/vnd.openxmlformats-officedocument.presentationml.presentation.main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slides/charts/chart3.xml" ContentType="application/vnd.openxmlformats-officedocument.drawingml.chart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charts/chart6.xml" ContentType="application/vnd.openxmlformats-officedocument.drawingml.chart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9" Type="http://schemas.openxmlformats.org/officeDocument/2006/relationships/slide" Target="slides/slide9.xml" /><Relationship Id="rId19" Type="http://schemas.openxmlformats.org/officeDocument/2006/relationships/tableStyles" Target="tableStyles.xml" /><Relationship Id="rId16" Type="http://schemas.openxmlformats.org/officeDocument/2006/relationships/slide" Target="slides/slide16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20" Type="http://schemas.openxmlformats.org/officeDocument/2006/relationships/viewProps" Target="viewProps.xml" /><Relationship Id="rId18" Type="http://schemas.openxmlformats.org/officeDocument/2006/relationships/presProps" Target="presProps.xml" /><Relationship Id="rId17" Type="http://schemas.openxmlformats.org/officeDocument/2006/relationships/notesMaster" Target="notesMasters/notesMaster1.xml" /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2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3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.xml" /><Relationship Id="rId1" Type="http://schemas.openxmlformats.org/officeDocument/2006/relationships/chart" Target="charts/chart5.xml" /><Relationship Id="rId0" Type="http://schemas.openxmlformats.org/officeDocument/2006/relationships/chart" Target="charts/chart4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6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pPr>
              <a:defRPr sz="1350">
                <a:solidFill>
                  <a:srgbClr val="061F32"/>
                </a:solidFill>
              </a:defRPr>
            </a:pPr>
            <a:r>
              <a:rPr sz="1350">
                <a:solidFill>
                  <a:srgbClr val="061F32"/>
                </a:solidFill>
              </a:rPr>
              <a:t>研发费用（万元）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61F32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研发费用</c:v>
                </c:pt>
              </c:strCache>
            </c:strRef>
          </c:tx>
          <c:spPr>
            <a:solidFill>
              <a:srgbClr val="001965"/>
            </a:solidFill>
          </c:spPr>
          <c:dLbls>
            <c:txPr>
              <a:bodyPr/>
              <a:p>
                <a:pPr>
                  <a:defRPr sz="750">
                    <a:solidFill>
                      <a:srgbClr val="061F32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4"/>
                <c:pt idx="0">
                  <c:v>2023</c:v>
                </c:pt>
                <c:pt idx="1">
                  <c:v>2024*</c:v>
                </c:pt>
                <c:pt idx="2">
                  <c:v>2025</c:v>
                </c:pt>
                <c:pt idx="3">
                  <c:v>2026H1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4995</c:v>
                </c:pt>
                <c:pt idx="1">
                  <c:v>6983</c:v>
                </c:pt>
                <c:pt idx="2">
                  <c:v>14497</c:v>
                </c:pt>
                <c:pt idx="3">
                  <c:v>13591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pPr>
              <a:defRPr sz="1350">
                <a:solidFill>
                  <a:srgbClr val="061F32"/>
                </a:solidFill>
              </a:defRPr>
            </a:pPr>
            <a:r>
              <a:rPr sz="1350">
                <a:solidFill>
                  <a:srgbClr val="061F32"/>
                </a:solidFill>
              </a:rPr>
              <a:t>营业收入（亿元）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61F32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营业收入</c:v>
                </c:pt>
              </c:strCache>
            </c:strRef>
          </c:tx>
          <c:spPr>
            <a:solidFill>
              <a:srgbClr val="061F32"/>
            </a:solidFill>
          </c:spPr>
          <c:dLbls>
            <c:txPr>
              <a:bodyPr/>
              <a:p>
                <a:pPr>
                  <a:defRPr sz="750">
                    <a:solidFill>
                      <a:srgbClr val="061F32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2026H1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1.23</c:v>
                </c:pt>
                <c:pt idx="1">
                  <c:v>1.59</c:v>
                </c:pt>
                <c:pt idx="2">
                  <c:v>3.92</c:v>
                </c:pt>
                <c:pt idx="3">
                  <c:v>16.99</c:v>
                </c:pt>
                <c:pt idx="4">
                  <c:v>11.52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pPr>
              <a:defRPr sz="1350">
                <a:solidFill>
                  <a:srgbClr val="061F32"/>
                </a:solidFill>
              </a:defRPr>
            </a:pPr>
            <a:r>
              <a:rPr sz="1350">
                <a:solidFill>
                  <a:srgbClr val="061F32"/>
                </a:solidFill>
              </a:rPr>
              <a:t>人形机器人收入占主营收入比重（%）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61F32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收入占比</c:v>
                </c:pt>
              </c:strCache>
            </c:strRef>
          </c:tx>
          <c:spPr>
            <a:solidFill>
              <a:srgbClr val="08A6F6"/>
            </a:solidFill>
          </c:spPr>
          <c:dLbls>
            <c:txPr>
              <a:bodyPr/>
              <a:p>
                <a:pPr>
                  <a:defRPr sz="750">
                    <a:solidFill>
                      <a:srgbClr val="061F32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1.88</c:v>
                </c:pt>
                <c:pt idx="1">
                  <c:v>27.6</c:v>
                </c:pt>
                <c:pt idx="2">
                  <c:v>51.07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pPr>
              <a:defRPr sz="1350">
                <a:solidFill>
                  <a:srgbClr val="061F32"/>
                </a:solidFill>
              </a:defRPr>
            </a:pPr>
            <a:r>
              <a:rPr sz="1350">
                <a:solidFill>
                  <a:srgbClr val="061F32"/>
                </a:solidFill>
              </a:rPr>
              <a:t>2025年主营收入结构：分产品（亿元）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61F32"/>
              </a:solidFill>
            </a:defRPr>
          </a:pPr>
        </a:p>
      </c:txPr>
    </c:title>
    <c:plotArea>
      <c:doughnutChart>
        <c:varyColors val="1"/>
        <c:ser>
          <c:idx val="0"/>
          <c:order val="0"/>
          <c:tx>
            <c:strRef>
              <c:f>sheet</c:f>
              <c:strCache>
                <c:ptCount val="1"/>
                <c:pt idx="0">
                  <c:v>收入</c:v>
                </c:pt>
              </c:strCache>
            </c:strRef>
          </c:tx>
          <c:spPr/>
          <c:dPt>
            <c:idx val="0"/>
            <c:spPr>
              <a:solidFill>
                <a:srgbClr val="061F32"/>
              </a:solidFill>
            </c:spPr>
          </c:dPt>
          <c:dPt>
            <c:idx val="1"/>
            <c:spPr>
              <a:solidFill>
                <a:srgbClr val="08A6F6"/>
              </a:solidFill>
            </c:spPr>
          </c:dPt>
          <c:dPt>
            <c:idx val="2"/>
            <c:spPr>
              <a:solidFill>
                <a:srgbClr val="99BDED"/>
              </a:solidFill>
            </c:spPr>
          </c:dPt>
          <c:dLbls>
            <c:txPr>
              <a:bodyPr/>
              <a:p>
                <a:pPr>
                  <a:defRPr sz="750">
                    <a:solidFill>
                      <a:srgbClr val="FFFFFF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人形机器人 8.68</c:v>
                </c:pt>
                <c:pt idx="1">
                  <c:v>四足机器人 6.98</c:v>
                </c:pt>
                <c:pt idx="2">
                  <c:v>机器人组件 1.04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8.68</c:v>
                </c:pt>
                <c:pt idx="1">
                  <c:v>6.98</c:v>
                </c:pt>
                <c:pt idx="2">
                  <c:v>1.04</c:v>
                </c:pt>
              </c:numCache>
            </c:numRef>
          </c:val>
        </c:ser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44546A"/>
              </a:solidFill>
            </a:defRPr>
          </a:pPr>
        </a:p>
      </c:txPr>
    </c:legend>
    <c:dispBlanksAs val="gap"/>
  </c:chart>
</c:chartSpace>
</file>

<file path=ppt/slides/charts/chart5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pPr>
              <a:defRPr sz="1350">
                <a:solidFill>
                  <a:srgbClr val="061F32"/>
                </a:solidFill>
              </a:defRPr>
            </a:pPr>
            <a:r>
              <a:rPr sz="1350">
                <a:solidFill>
                  <a:srgbClr val="061F32"/>
                </a:solidFill>
              </a:rPr>
              <a:t>2025年主营收入结构：分地域（亿元）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61F32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001965"/>
            </a:solidFill>
          </c:spPr>
          <c:dLbls>
            <c:txPr>
              <a:bodyPr/>
              <a:p>
                <a:pPr>
                  <a:defRPr sz="750">
                    <a:solidFill>
                      <a:srgbClr val="061F32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2"/>
                <c:pt idx="0">
                  <c:v>境内 55.58%</c:v>
                </c:pt>
                <c:pt idx="1">
                  <c:v>境外 43.06%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9.44</c:v>
                </c:pt>
                <c:pt idx="1">
                  <c:v>7.32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charts/chart6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pPr>
              <a:defRPr sz="1350">
                <a:solidFill>
                  <a:srgbClr val="061F32"/>
                </a:solidFill>
              </a:defRPr>
            </a:pPr>
            <a:r>
              <a:rPr sz="1350">
                <a:solidFill>
                  <a:srgbClr val="061F32"/>
                </a:solidFill>
              </a:rPr>
              <a:t>归母净利润 vs 扣非归母净利润（亿元）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61F32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归母净利润</c:v>
                </c:pt>
              </c:strCache>
            </c:strRef>
          </c:tx>
          <c:spPr>
            <a:solidFill>
              <a:srgbClr val="99BDED"/>
            </a:solidFill>
          </c:spPr>
          <c:dLbls>
            <c:txPr>
              <a:bodyPr/>
              <a:p>
                <a:pPr>
                  <a:defRPr sz="750">
                    <a:solidFill>
                      <a:srgbClr val="061F32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-0.22</c:v>
                </c:pt>
                <c:pt idx="1">
                  <c:v>-0.11</c:v>
                </c:pt>
                <c:pt idx="2">
                  <c:v>0.95</c:v>
                </c:pt>
                <c:pt idx="3">
                  <c:v>2.78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扣非归母净利润</c:v>
                </c:pt>
              </c:strCache>
            </c:strRef>
          </c:tx>
          <c:spPr>
            <a:solidFill>
              <a:srgbClr val="061F32"/>
            </a:solidFill>
          </c:spPr>
          <c:dLbls>
            <c:txPr>
              <a:bodyPr/>
              <a:p>
                <a:pPr>
                  <a:defRPr sz="750">
                    <a:solidFill>
                      <a:srgbClr val="061F32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-0.08</c:v>
                </c:pt>
                <c:pt idx="1">
                  <c:v>-0.18</c:v>
                </c:pt>
                <c:pt idx="2">
                  <c:v>0.78</c:v>
                </c:pt>
                <c:pt idx="3">
                  <c:v>5.91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44546A"/>
              </a:solidFill>
            </a:defRPr>
          </a:pPr>
        </a:p>
      </c:txPr>
    </c:legend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width: '1280px', height: '720px', background: '#061F32', padding: '72px 88px 56px 88px', flexDirection: 'column', justifyContent: 'space-between' }}&gt;&#10;    &lt;Box style={{ flexDirection: 'column' }}&gt;&#10;        &lt;Box style={{ flexDirection: 'row', alignItems: 'center', gap: 16, marginBottom: 40 }}&gt;&#10;            &lt;Box style={{ width: 48, height: 4, background: '#08A6F6' }} /&gt;&#10;            &lt;Text style={{ fontSize: 18, color: '#08A6F6', letterSpacing: 4, fontFamily: 'Arial, &quot;PingFang SC&quot;, &quot;Microsoft YaHei&quot;, sans-serif' }}&gt;公司研究 · 内部汇报&lt;/Text&gt;&#10;        &lt;/Box&gt;&#10;        &lt;Text style={{ fontSize: 26, color: '#99BDED', fontWeight: 'bold', marginBottom: 20, fontFamily: 'Arial, &quot;PingFang SC&quot;, &quot;Microsoft YaHei&quot;, sans-serif' }}&gt;宇树科技（688836.SH）&lt;/Text&gt;&#10;        &lt;Text style={{ fontSize: 66, color: '#FFFFFF', fontWeight: 'bold', lineHeight: 1.25, fontFamily: 'Arial, &quot;PingFang SC&quot;, &quot;Microsoft YaHei&quot;, sans-serif' }}&gt;&#10;            人形机器人第一股的&lt;br /&gt;成长兑现与增速换挡&#10;        &lt;/Text&gt;&#10;        &lt;Text style={{ fontSize: 22, color: '#99BDED', marginTop: 28, fontFamily: 'Arial, &quot;PingFang SC&quot;, &quot;Microsoft YaHei&quot;, sans-serif' }}&gt;基于公开资料整理 · 非投资建议&lt;/Text&gt;&#10;    &lt;/Box&gt;&#10;    &lt;Box style={{ flexDirection: 'column', gap: 12 }}&gt;&#10;        &lt;Box style={{ width: '100%', height: 1, background: '#44546A' }} /&gt;&#10;        &lt;Box style={{ flexDirection: 'row', justifyContent: 'space-between', alignItems: 'center' }}&gt;&#10;            &lt;Text style={{ fontSize: 16, color: '#808080', fontFamily: 'Arial, &quot;PingFang SC&quot;, &quot;Microsoft YaHei&quot;, sans-serif' }}&gt;数据截止：2026年8月30日　|　报告日期：2026年9月4日&lt;/Text&gt;&#10;            &lt;Text style={{ fontSize: 16, color: '#808080', fontFamily: 'Arial, &quot;PingFang SC&quot;, &quot;Microsoft YaHei&quot;, sans-serif' }}&gt;来源：上交所披露文件、公司公告及公开报道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38200" y="771525"/>
            <a:ext cx="45720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447800" y="685800"/>
            <a:ext cx="194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300">
                <a:solidFill>
                  <a:srgbClr val="08A6F6"/>
                </a:solidFill>
                <a:latin typeface="Arial"/>
                <a:ea typeface="Arial"/>
              </a:rPr>
              <a:t>公司研究</a:t>
            </a:r>
            <a:r>
              <a:rPr lang="en-US" sz="1350" spc="300">
                <a:solidFill>
                  <a:srgbClr val="08A6F6"/>
                </a:solidFill>
                <a:latin typeface="Arial"/>
                <a:ea typeface="Arial"/>
              </a:rPr>
              <a:t> · </a:t>
            </a:r>
            <a:r>
              <a:rPr lang="zh-CN" sz="1350" spc="300">
                <a:solidFill>
                  <a:srgbClr val="08A6F6"/>
                </a:solidFill>
                <a:latin typeface="Arial"/>
                <a:ea typeface="Arial"/>
              </a:rPr>
              <a:t>内部汇报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1276350"/>
            <a:ext cx="10515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99BDED"/>
                </a:solidFill>
                <a:latin typeface="Arial"/>
                <a:ea typeface="Arial"/>
              </a:rPr>
              <a:t>宇树科技（</a:t>
            </a:r>
            <a:r>
              <a:rPr lang="en-US" sz="1950" b="1">
                <a:solidFill>
                  <a:srgbClr val="99BDED"/>
                </a:solidFill>
                <a:latin typeface="Arial"/>
                <a:ea typeface="Arial"/>
              </a:rPr>
              <a:t>688836.SH</a:t>
            </a:r>
            <a:r>
              <a:rPr lang="zh-CN" sz="1950" b="1">
                <a:solidFill>
                  <a:srgbClr val="99BDED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38200" y="1771650"/>
            <a:ext cx="10515600" cy="1885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950" b="1">
                <a:solidFill>
                  <a:srgbClr val="FFFFFF"/>
                </a:solidFill>
                <a:latin typeface="Arial"/>
                <a:ea typeface="Arial"/>
              </a:rPr>
              <a:t>人形机器人第一股的</a:t>
            </a:r>
            <a:endParaRPr/>
          </a:p>
          <a:p>
            <a:pPr>
              <a:lnSpc>
                <a:spcPct val="125000"/>
              </a:lnSpc>
            </a:pPr>
            <a:r>
              <a:rPr lang="zh-CN" sz="4950" b="1">
                <a:solidFill>
                  <a:srgbClr val="FFFFFF"/>
                </a:solidFill>
                <a:latin typeface="Arial"/>
                <a:ea typeface="Arial"/>
              </a:rPr>
              <a:t>成长兑现与增速换挡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3924300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99BDED"/>
                </a:solidFill>
                <a:latin typeface="Arial"/>
                <a:ea typeface="Arial"/>
              </a:rPr>
              <a:t>基于公开资料整理</a:t>
            </a:r>
            <a:r>
              <a:rPr lang="en-US" sz="1650">
                <a:solidFill>
                  <a:srgbClr val="99BDED"/>
                </a:solidFill>
                <a:latin typeface="Arial"/>
                <a:ea typeface="Arial"/>
              </a:rPr>
              <a:t> · </a:t>
            </a:r>
            <a:r>
              <a:rPr lang="zh-CN" sz="1650">
                <a:solidFill>
                  <a:srgbClr val="99BDED"/>
                </a:solidFill>
                <a:latin typeface="Arial"/>
                <a:ea typeface="Arial"/>
              </a:rPr>
              <a:t>非投资建议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38200" y="6010275"/>
            <a:ext cx="10515600" cy="952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6134100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数据截止：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2026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年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8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月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30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日　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|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　报告日期：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2026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年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9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月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4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日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05800" y="613410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来源：上交所披露文件、公司公告及公开报道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40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目录&lt;/Text&gt;&#10;        &lt;Box style={{ width: '100%', height: 1, background: '#061F32', marginTop: 12 }} /&gt;&#10;    &lt;/Box&gt;&#10;    &lt;Box style={{ flexDirection: 'column', flex: 1, justifyContent: 'center', gap: 40, marginTop: 12 }}&gt;&#10;        &lt;Box style={{ flexDirection: 'row', gap: 40 }}&gt;&#10;            &lt;Box style={{ flex: 1, flexDirection: 'row', gap: 24, alignItems: 'flex-start', borderTop: '2px solid #061F32', paddingTop: 20 }}&gt;&#10;                &lt;Text style={{ fontSize: 44, color: '#08A6F6', fontWeight: 'bold', fontFamily: 'Arial, &quot;PingFang SC&quot;, &quot;Microsoft YaHei&quot;, sans-serif' }}&gt;01&lt;/Text&gt;&#10;                &lt;Box style={{ flexDirection: 'column', gap: 8 }}&gt;&#10;                    &lt;Text style={{ fontSize: 26, color: '#061F32', fontWeight: 'bold', fontFamily: 'Arial, &quot;PingFang SC&quot;, &quot;Microsoft YaHei&quot;, sans-serif' }}&gt;成长兑现&lt;/Text&gt;&#10;                    &lt;Text style={{ fontSize: 18, color: '#808080', lineHeight: 1.5, fontFamily: 'Arial, &quot;PingFang SC&quot;, &quot;Microsoft YaHei&quot;, sans-serif' }}&gt;营收三年约14倍，2024年扭亏后盈利快速放大，2025年扣非净利率约34.8%&lt;/Text&gt;&#10;                &lt;/Box&gt;&#10;            &lt;/Box&gt;&#10;            &lt;Box style={{ flex: 1, flexDirection: 'row', gap: 24, alignItems: 'flex-start', borderTop: '2px solid #061F32', paddingTop: 20 }}&gt;&#10;                &lt;Text style={{ fontSize: 44, color: '#08A6F6', fontWeight: 'bold', fontFamily: 'Arial, &quot;PingFang SC&quot;, &quot;Microsoft YaHei&quot;, sans-serif' }}&gt;02&lt;/Text&gt;&#10;                &lt;Box style={{ flexDirection: 'column', gap: 8 }}&gt;&#10;                    &lt;Text style={{ fontSize: 26, color: '#061F32', fontWeight: 'bold', fontFamily: 'Arial, &quot;PingFang SC&quot;, &quot;Microsoft YaHei&quot;, sans-serif' }}&gt;结构切换&lt;/Text&gt;&#10;                    &lt;Text style={{ fontSize: 18, color: '#808080', lineHeight: 1.5, fontFamily: 'Arial, &quot;PingFang SC&quot;, &quot;Microsoft YaHei&quot;, sans-serif' }}&gt;人形机器人收入占比过半、反超四足；境内收入占比55.58%、反超境外&lt;/Text&gt;&#10;                &lt;/Box&gt;&#10;            &lt;/Box&gt;&#10;        &lt;/Box&gt;&#10;        &lt;Box style={{ flexDirection: 'row', gap: 40 }}&gt;&#10;            &lt;Box style={{ flex: 1, flexDirection: 'row', gap: 24, alignItems: 'flex-start', borderTop: '2px solid #061F32', paddingTop: 20 }}&gt;&#10;                &lt;Text style={{ fontSize: 44, color: '#08A6F6', fontWeight: 'bold', fontFamily: 'Arial, &quot;PingFang SC&quot;, &quot;Microsoft YaHei&quot;, sans-serif' }}&gt;03&lt;/Text&gt;&#10;                &lt;Box style={{ flexDirection: 'column', gap: 8 }}&gt;&#10;                    &lt;Text style={{ fontSize: 26, color: '#061F32', fontWeight: 'bold', fontFamily: 'Arial, &quot;PingFang SC&quot;, &quot;Microsoft YaHei&quot;, sans-serif' }}&gt;换挡与投入&lt;/Text&gt;&#10;                    &lt;Text style={{ fontSize: 18, color: '#808080', lineHeight: 1.5, fontFamily: 'Arial, &quot;PingFang SC&quot;, &quot;Microsoft YaHei&quot;, sans-serif' }}&gt;2026年增速回落至+48.54%，研发与销售费用前置，扣非阶段性回落&lt;/Text&gt;&#10;                &lt;/Box&gt;&#10;            &lt;/Box&gt;&#10;            &lt;Box style={{ flex: 1, flexDirection: 'row', gap: 24, alignItems: 'flex-start', borderTop: '2px solid #061F32', paddingTop: 20 }}&gt;&#10;                &lt;Text style={{ fontSize: 44, color: '#08A6F6', fontWeight: 'bold', fontFamily: 'Arial, &quot;PingFang SC&quot;, &quot;Microsoft YaHei&quot;, sans-serif' }}&gt;04&lt;/Text&gt;&#10;                &lt;Box style={{ flexDirection: 'column', gap: 8 }}&gt;&#10;                    &lt;Text style={{ fontSize: 26, color: '#061F32', fontWeight: 'bold', fontFamily: 'Arial, &quot;PingFang SC&quot;, &quot;Microsoft YaHei&quot;, sans-serif' }}&gt;竞争力与展望&lt;/Text&gt;&#10;                    &lt;Text style={{ fontSize: 18, color: '#808080', lineHeight: 1.5, fontFamily: 'Arial, &quot;PingFang SC&quot;, &quot;Microsoft YaHei&quot;, sans-serif' }}&gt;五大优势构成盈利护城河；增长变量、主要风险与后续跟踪指标&lt;/Text&gt;&#10;                &lt;/Box&gt;&#10;            &lt;/Box&gt;&#10;        &lt;/Box&gt;&#10;    &lt;/Box&gt;&#10;    &lt;Box style={{ flexDirection: 'row', justifyContent: 'space-between', alignItems: 'center', marginTop: 12 }}&gt;&#10;        &lt;Text style={{ fontSize: 14, color: '#808080', fontFamily: 'Arial, &quot;PingFang SC&quot;, &quot;Microsoft YaHei&quot;, sans-serif' }}&gt;宇树科技（688836.SH）公司研究 · 内部汇报&lt;/Text&gt;&#10;        &lt;Text style={{ fontSize: 14, color: '#808080', fontFamily: 'Arial, &quot;PingFang SC&quot;, &quot;Microsoft YaHei&quot;, sans-serif' }}&gt;0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目录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533400" y="2447925"/>
            <a:ext cx="5372100" cy="1228725"/>
          </a:xfrm>
          <a:custGeom>
            <a:pathLst>
              <a:path w="564" h="129">
                <a:moveTo>
                  <a:pt x="0" y="0"/>
                </a:moveTo>
                <a:lnTo>
                  <a:pt x="564" y="0"/>
                </a:lnTo>
                <a:lnTo>
                  <a:pt x="564" y="2"/>
                </a:lnTo>
                <a:lnTo>
                  <a:pt x="0" y="2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33400" y="2657475"/>
            <a:ext cx="4095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8A6F6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71575" y="2657475"/>
            <a:ext cx="4733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61F32"/>
                </a:solidFill>
                <a:latin typeface="Arial"/>
                <a:ea typeface="Arial"/>
              </a:rPr>
              <a:t>成长兑现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71575" y="3038475"/>
            <a:ext cx="47339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营收三年约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14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倍，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2024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年扭亏后盈利快速放大，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年扣非净利率约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34.8%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286500" y="2447925"/>
            <a:ext cx="5372100" cy="1228725"/>
          </a:xfrm>
          <a:custGeom>
            <a:pathLst>
              <a:path w="564" h="129">
                <a:moveTo>
                  <a:pt x="0" y="0"/>
                </a:moveTo>
                <a:lnTo>
                  <a:pt x="564" y="0"/>
                </a:lnTo>
                <a:lnTo>
                  <a:pt x="564" y="2"/>
                </a:lnTo>
                <a:lnTo>
                  <a:pt x="0" y="2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286500" y="2657475"/>
            <a:ext cx="4095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8A6F6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924675" y="2657475"/>
            <a:ext cx="4733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61F32"/>
                </a:solidFill>
                <a:latin typeface="Arial"/>
                <a:ea typeface="Arial"/>
              </a:rPr>
              <a:t>结构切换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924675" y="3038475"/>
            <a:ext cx="47339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人形机器人收入占比过半、反超四足；境内收入占比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55.58%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、反超境外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33400" y="4038600"/>
            <a:ext cx="5372100" cy="923925"/>
          </a:xfrm>
          <a:custGeom>
            <a:pathLst>
              <a:path w="564" h="97">
                <a:moveTo>
                  <a:pt x="0" y="0"/>
                </a:moveTo>
                <a:lnTo>
                  <a:pt x="564" y="0"/>
                </a:lnTo>
                <a:lnTo>
                  <a:pt x="564" y="2"/>
                </a:lnTo>
                <a:lnTo>
                  <a:pt x="0" y="2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33400" y="4248150"/>
            <a:ext cx="4286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8A6F6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90625" y="4248150"/>
            <a:ext cx="4714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61F32"/>
                </a:solidFill>
                <a:latin typeface="Arial"/>
                <a:ea typeface="Arial"/>
              </a:rPr>
              <a:t>换挡与投入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90625" y="4629150"/>
            <a:ext cx="47148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2026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年增速回落至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+48.54%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，研发与销售费用前置，扣非阶段性回落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286500" y="4038600"/>
            <a:ext cx="5372100" cy="923925"/>
          </a:xfrm>
          <a:custGeom>
            <a:pathLst>
              <a:path w="564" h="97">
                <a:moveTo>
                  <a:pt x="0" y="0"/>
                </a:moveTo>
                <a:lnTo>
                  <a:pt x="564" y="0"/>
                </a:lnTo>
                <a:lnTo>
                  <a:pt x="564" y="2"/>
                </a:lnTo>
                <a:lnTo>
                  <a:pt x="0" y="2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286500" y="4248150"/>
            <a:ext cx="457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8A6F6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972300" y="4248150"/>
            <a:ext cx="468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61F32"/>
                </a:solidFill>
                <a:latin typeface="Arial"/>
                <a:ea typeface="Arial"/>
              </a:rPr>
              <a:t>竞争力与展望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972300" y="4629150"/>
            <a:ext cx="4686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五大优势构成盈利护城河；增长变量、主要风险与后续跟踪指标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265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宇树科技（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688836.SH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）公司研究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 ·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内部汇报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5062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02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62" name="" descr="&lt;Slide style={{ width: '1280px', height: '720px', background: '#062032', padding: '0px 88px', flexDirection: 'row', alignItems: 'center' }}&gt;&#10;    &lt;Box style={{ flexDirection: 'row', alignItems: 'center', gap: 64, width: '100%' }}&gt;&#10;        &lt;Text style={{ fontSize: 260, color: '#FFFFFF', opacity: 0.14, fontWeight: 'bold', fontFamily: 'Arial, &quot;PingFang SC&quot;, &quot;Microsoft YaHei&quot;, sans-serif' }}&gt;01&lt;/Text&gt;&#10;        &lt;Box style={{ flexDirection: 'column', gap: 16 }}&gt;&#10;            &lt;Text style={{ fontSize: 48, color: '#FFFFFF', fontWeight: 'bold', fontFamily: 'Arial, &quot;PingFang SC&quot;, &quot;Microsoft YaHei&quot;, sans-serif' }}&gt;成长兑现&lt;/Text&gt;&#10;            &lt;Text style={{ fontSize: 20, color: '#99BDED', letterSpacing: 2, fontFamily: 'Arial, &quot;PingFang SC&quot;, &quot;Microsoft YaHei&quot;, sans-serif' }}&gt;Growth Delivered&lt;/Text&gt;&#10;            &lt;Text style={{ fontSize: 18, color: '#808080', lineHeight: 1.5, fontFamily: 'Arial, &quot;PingFang SC&quot;, &quot;Microsoft YaHei&quot;, sans-serif' }}&gt;营收三年约14倍，2024年扭亏为盈，2025年盈利快速放大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210050" y="2733675"/>
            <a:ext cx="439102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Arial"/>
                <a:ea typeface="Arial"/>
              </a:rPr>
              <a:t>成长兑现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210050" y="3438525"/>
            <a:ext cx="4391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9BDED"/>
                </a:solidFill>
                <a:latin typeface="Arial"/>
                <a:ea typeface="Arial"/>
              </a:rPr>
              <a:t>Growth Delivered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210050" y="3819525"/>
            <a:ext cx="43910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营收三年约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14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倍，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2024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年扭亏为盈，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年盈利快速放大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8200" y="1943100"/>
            <a:ext cx="276225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4000"/>
                  </a:srgbClr>
                </a:solidFill>
                <a:latin typeface="Arial"/>
                <a:ea typeface="Arial"/>
              </a:rPr>
              <a:t>01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68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2025年答卷：收入16.99亿元、扣非5.91亿元，盈利质量行业稀缺&lt;/Text&gt;&#10;        &lt;Box style={{ width: '100%', height: 1, background: '#061F32', marginTop: 12 }} /&gt;&#10;    &lt;/Box&gt;&#10;    &lt;Box style={{ flexDirection: 'row', flex: 1, gap: 48, alignItems: 'center', marginTop: 12 }}&gt;&#10;        &lt;Box style={{ flexDirection: 'column', gap: 44, width: '52%' }}&gt;&#10;            &lt;Box style={{ flexDirection: 'column', gap: 4 }}&gt;&#10;                &lt;Box style={{ flexDirection: 'row', alignItems: 'flex-end', gap: 12 }}&gt;&#10;                    &lt;Text style={{ fontSize: 96, color: '#061F32', fontWeight: 'bold', fontFamily: 'Arial, &quot;PingFang SC&quot;, &quot;Microsoft YaHei&quot;, sans-serif' }}&gt;16.99&lt;/Text&gt;&#10;                    &lt;Text style={{ fontSize: 28, color: '#061F32', fontWeight: 'bold', fontFamily: 'Arial, &quot;PingFang SC&quot;, &quot;Microsoft YaHei&quot;, sans-serif' }}&gt;亿元&lt;/Text&gt;&#10;                &lt;/Box&gt;&#10;                &lt;Text style={{ fontSize: 20, color: '#44546A', fontFamily: 'Arial, &quot;PingFang SC&quot;, &quot;Microsoft YaHei&quot;, sans-serif' }}&gt;2025年营业收入　&lt;span style={{ color: '#5A0E13', fontWeight: 'bold' }}&gt;同比 +333%&lt;/span&gt;&lt;/Text&gt;&#10;            &lt;/Box&gt;&#10;            &lt;Box style={{ flexDirection: 'column', gap: 4 }}&gt;&#10;                &lt;Box style={{ flexDirection: 'row', alignItems: 'flex-end', gap: 12 }}&gt;&#10;                    &lt;Text style={{ fontSize: 96, color: '#08A6F6', fontWeight: 'bold', fontFamily: 'Arial, &quot;PingFang SC&quot;, &quot;Microsoft YaHei&quot;, sans-serif' }}&gt;5.91&lt;/Text&gt;&#10;                    &lt;Text style={{ fontSize: 28, color: '#061F32', fontWeight: 'bold', fontFamily: 'Arial, &quot;PingFang SC&quot;, &quot;Microsoft YaHei&quot;, sans-serif' }}&gt;亿元&lt;/Text&gt;&#10;                &lt;/Box&gt;&#10;                &lt;Text style={{ fontSize: 20, color: '#44546A', fontFamily: 'Arial, &quot;PingFang SC&quot;, &quot;Microsoft YaHei&quot;, sans-serif' }}&gt;2025年扣非归母净利润　&lt;span style={{ color: '#5A0E13', fontWeight: 'bold' }}&gt;同比 +652.78%&lt;/span&gt;&lt;/Text&gt;&#10;            &lt;/Box&gt;&#10;        &lt;/Box&gt;&#10;        &lt;Box style={{ flexDirection: 'column', gap: 24, flex: 1 }}&gt;&#10;            &lt;Box style={{ flexDirection: 'row', gap: 24 }}&gt;&#10;                &lt;Box style={{ flex: 1, flexDirection: 'column', gap: 6, borderLeft: '3px solid #061F32', paddingLeft: 16 }}&gt;&#10;                    &lt;Text style={{ fontSize: 40, color: '#061F32', fontWeight: 'bold', fontFamily: 'Arial, &quot;PingFang SC&quot;, &quot;Microsoft YaHei&quot;, sans-serif' }}&gt;140%&lt;/Text&gt;&#10;                    &lt;Text style={{ fontSize: 16, color: '#808080', lineHeight: 1.4, fontFamily: 'Arial, &quot;PingFang SC&quot;, &quot;Microsoft YaHei&quot;, sans-serif' }}&gt;2022–2025营收复合增速&lt;/Text&gt;&#10;                &lt;/Box&gt;&#10;                &lt;Box style={{ flex: 1, flexDirection: 'column', gap: 6, borderLeft: '3px solid #061F32', paddingLeft: 16 }}&gt;&#10;                    &lt;Text style={{ fontSize: 40, color: '#061F32', fontWeight: 'bold', fontFamily: 'Arial, &quot;PingFang SC&quot;, &quot;Microsoft YaHei&quot;, sans-serif' }}&gt;34.8%&lt;/Text&gt;&#10;                    &lt;Text style={{ fontSize: 16, color: '#808080', lineHeight: 1.4, fontFamily: 'Arial, &quot;PingFang SC&quot;, &quot;Microsoft YaHei&quot;, sans-serif' }}&gt;2025年扣非净利率&lt;/Text&gt;&#10;                &lt;/Box&gt;&#10;            &lt;/Box&gt;&#10;            &lt;Box style={{ flexDirection: 'row', gap: 24 }}&gt;&#10;                &lt;Box style={{ flex: 1, flexDirection: 'column', gap: 6, borderLeft: '3px solid #061F32', paddingLeft: 16 }}&gt;&#10;                    &lt;Text style={{ fontSize: 40, color: '#061F32', fontWeight: 'bold', fontFamily: 'Arial, &quot;PingFang SC&quot;, &quot;Microsoft YaHei&quot;, sans-serif' }}&gt;51.07%&lt;/Text&gt;&#10;                    &lt;Text style={{ fontSize: 16, color: '#808080', lineHeight: 1.4, fontFamily: 'Arial, &quot;PingFang SC&quot;, &quot;Microsoft YaHei&quot;, sans-serif' }}&gt;人形机器人收入占比&lt;/Text&gt;&#10;                &lt;/Box&gt;&#10;                &lt;Box style={{ flex: 1, flexDirection: 'column', gap: 6, borderLeft: '3px solid #061F32', paddingLeft: 16 }}&gt;&#10;                    &lt;Text style={{ fontSize: 40, color: '#061F32', fontWeight: 'bold', fontFamily: 'Arial, &quot;PingFang SC&quot;, &quot;Microsoft YaHei&quot;, sans-serif' }}&gt;5,500+&lt;/Text&gt;&#10;                    &lt;Text style={{ fontSize: 16, color: '#808080', lineHeight: 1.4, fontFamily: 'Arial, &quot;PingFang SC&quot;, &quot;Microsoft YaHei&quot;, sans-serif' }}&gt;2025年人形机器人出货（台，全球第一）&lt;/Text&gt;&#10;                &lt;/Box&gt;&#10;            &lt;/Box&gt;&#10;            &lt;Box style={{ background: '#F5F5F5', padding: '16px 20px', borderLeft: '3px solid #08A6F6' }}&gt;&#10;                &lt;Text style={{ fontSize: 18, color: '#061F32', lineHeight: 1.5, fontFamily: 'Arial, &quot;PingFang SC&quot;, &quot;Microsoft YaHei&quot;, sans-serif' }}&gt;在普遍亏损的具身智能行业，公司是少数实现&lt;span style={{ fontWeight: 'bold' }}&gt;&quot;规模化销售+盈利&quot;&lt;/span&gt;的样本——高成长已兑现，且具备现金流支撑（2025年经营净流入超6.7亿元）。&lt;/Text&gt;&#10;            &lt;/Box&gt;&#10;        &lt;/Box&gt;&#10;    &lt;/Box&gt;&#10;    &lt;Box style={{ flexDirection: 'row', justifyContent: 'space-between', alignItems: 'center', marginTop: 12 }}&gt;&#10;        &lt;Text style={{ fontSize: 14, color: '#808080', fontFamily: 'Arial, &quot;PingFang SC&quot;, &quot;Microsoft YaHei&quot;, sans-serif' }}&gt;来源：公司2025年年度报告、招股说明书（申报稿），数据截至2026-08-30&lt;/Text&gt;&#10;        &lt;Text style={{ fontSize: 14, color: '#808080', fontFamily: 'Arial, &quot;PingFang SC&quot;, &quot;Microsoft YaHei&quot;, sans-serif' }}&gt;0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2025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年答卷：收入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16.99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亿元、扣非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5.91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亿元，盈利质量行业稀缺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33400" y="2114550"/>
            <a:ext cx="22955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061F32"/>
                </a:solidFill>
                <a:latin typeface="Arial"/>
                <a:ea typeface="Arial"/>
              </a:rPr>
              <a:t>16.99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2943225" y="289560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Arial"/>
                <a:ea typeface="Arial"/>
              </a:rPr>
              <a:t>亿元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33400" y="3257550"/>
            <a:ext cx="5781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500">
                <a:solidFill>
                  <a:srgbClr val="44546A"/>
                </a:solidFill>
                <a:latin typeface="Arial"/>
                <a:ea typeface="Arial"/>
              </a:rPr>
              <a:t>年营业收入　</a:t>
            </a:r>
            <a:r>
              <a:rPr lang="zh-CN" sz="1500" b="1">
                <a:solidFill>
                  <a:srgbClr val="5A0E13"/>
                </a:solidFill>
                <a:latin typeface="Arial"/>
                <a:ea typeface="Arial"/>
              </a:rPr>
              <a:t>同比</a:t>
            </a:r>
            <a:r>
              <a:rPr lang="en-US" sz="1500" b="1">
                <a:solidFill>
                  <a:srgbClr val="5A0E13"/>
                </a:solidFill>
                <a:latin typeface="Arial"/>
                <a:ea typeface="Arial"/>
              </a:rPr>
              <a:t> +333%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33400" y="3905250"/>
            <a:ext cx="1781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08A6F6"/>
                </a:solidFill>
                <a:latin typeface="Arial"/>
                <a:ea typeface="Arial"/>
              </a:rPr>
              <a:t>5.91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428875" y="468630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Arial"/>
                <a:ea typeface="Arial"/>
              </a:rPr>
              <a:t>亿元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33400" y="5048250"/>
            <a:ext cx="5781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500">
                <a:solidFill>
                  <a:srgbClr val="44546A"/>
                </a:solidFill>
                <a:latin typeface="Arial"/>
                <a:ea typeface="Arial"/>
              </a:rPr>
              <a:t>年扣非归母净利润　</a:t>
            </a:r>
            <a:r>
              <a:rPr lang="zh-CN" sz="1500" b="1">
                <a:solidFill>
                  <a:srgbClr val="5A0E13"/>
                </a:solidFill>
                <a:latin typeface="Arial"/>
                <a:ea typeface="Arial"/>
              </a:rPr>
              <a:t>同比</a:t>
            </a:r>
            <a:r>
              <a:rPr lang="en-US" sz="1500" b="1">
                <a:solidFill>
                  <a:srgbClr val="5A0E13"/>
                </a:solidFill>
                <a:latin typeface="Arial"/>
                <a:ea typeface="Arial"/>
              </a:rPr>
              <a:t> +652.78%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772275" y="2228850"/>
            <a:ext cx="2362200" cy="771525"/>
          </a:xfrm>
          <a:custGeom>
            <a:pathLst>
              <a:path w="248" h="81">
                <a:moveTo>
                  <a:pt x="0" y="0"/>
                </a:moveTo>
                <a:lnTo>
                  <a:pt x="3" y="0"/>
                </a:lnTo>
                <a:lnTo>
                  <a:pt x="3" y="81"/>
                </a:lnTo>
                <a:lnTo>
                  <a:pt x="0" y="81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953250" y="2228850"/>
            <a:ext cx="2152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61F32"/>
                </a:solidFill>
                <a:latin typeface="Arial"/>
                <a:ea typeface="Arial"/>
              </a:rPr>
              <a:t>140%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953250" y="2743200"/>
            <a:ext cx="2152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2022–2025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营收复合增速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9334500" y="2228850"/>
            <a:ext cx="2352675" cy="771525"/>
          </a:xfrm>
          <a:custGeom>
            <a:pathLst>
              <a:path w="247" h="81">
                <a:moveTo>
                  <a:pt x="0" y="0"/>
                </a:moveTo>
                <a:lnTo>
                  <a:pt x="3" y="0"/>
                </a:lnTo>
                <a:lnTo>
                  <a:pt x="3" y="81"/>
                </a:lnTo>
                <a:lnTo>
                  <a:pt x="0" y="81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9515475" y="2228850"/>
            <a:ext cx="2143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61F32"/>
                </a:solidFill>
                <a:latin typeface="Arial"/>
                <a:ea typeface="Arial"/>
              </a:rPr>
              <a:t>34.8%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515475" y="274320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年扣非净利率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772275" y="3228975"/>
            <a:ext cx="2362200" cy="1028700"/>
          </a:xfrm>
          <a:custGeom>
            <a:pathLst>
              <a:path w="248" h="108">
                <a:moveTo>
                  <a:pt x="0" y="0"/>
                </a:moveTo>
                <a:lnTo>
                  <a:pt x="3" y="0"/>
                </a:lnTo>
                <a:lnTo>
                  <a:pt x="3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953250" y="3228975"/>
            <a:ext cx="2152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61F32"/>
                </a:solidFill>
                <a:latin typeface="Arial"/>
                <a:ea typeface="Arial"/>
              </a:rPr>
              <a:t>51.07%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953250" y="3743325"/>
            <a:ext cx="2152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人形机器人收入占比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9334500" y="3228975"/>
            <a:ext cx="2352675" cy="1028700"/>
          </a:xfrm>
          <a:custGeom>
            <a:pathLst>
              <a:path w="247" h="108">
                <a:moveTo>
                  <a:pt x="0" y="0"/>
                </a:moveTo>
                <a:lnTo>
                  <a:pt x="3" y="0"/>
                </a:lnTo>
                <a:lnTo>
                  <a:pt x="3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515475" y="3228975"/>
            <a:ext cx="2143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61F32"/>
                </a:solidFill>
                <a:latin typeface="Arial"/>
                <a:ea typeface="Arial"/>
              </a:rPr>
              <a:t>5,500+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515475" y="3743325"/>
            <a:ext cx="2143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年人形机器人出货（台，全球第一）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800850" y="4486275"/>
            <a:ext cx="4886325" cy="1238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6772275" y="4486275"/>
            <a:ext cx="4914900" cy="1238250"/>
          </a:xfrm>
          <a:custGeom>
            <a:pathLst>
              <a:path w="516" h="130">
                <a:moveTo>
                  <a:pt x="0" y="0"/>
                </a:moveTo>
                <a:lnTo>
                  <a:pt x="3" y="0"/>
                </a:lnTo>
                <a:lnTo>
                  <a:pt x="3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991350" y="4638675"/>
            <a:ext cx="44767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在普遍亏损的具身智能行业，公司是少数实现</a:t>
            </a:r>
            <a:r>
              <a:rPr lang="en-US" sz="1350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1350" b="1">
                <a:solidFill>
                  <a:srgbClr val="061F32"/>
                </a:solidFill>
                <a:latin typeface="Arial"/>
                <a:ea typeface="Arial"/>
              </a:rPr>
              <a:t>规模化销售</a:t>
            </a:r>
            <a:r>
              <a:rPr lang="en-US" sz="1350" b="1">
                <a:solidFill>
                  <a:srgbClr val="061F32"/>
                </a:solidFill>
                <a:latin typeface="Arial"/>
                <a:ea typeface="Arial"/>
              </a:rPr>
              <a:t>+</a:t>
            </a:r>
            <a:r>
              <a:rPr lang="zh-CN" sz="1350" b="1">
                <a:solidFill>
                  <a:srgbClr val="061F32"/>
                </a:solidFill>
                <a:latin typeface="Arial"/>
                <a:ea typeface="Arial"/>
              </a:rPr>
              <a:t>盈利</a:t>
            </a:r>
            <a:r>
              <a:rPr lang="en-US" sz="1350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的样本——高成长已兑现，且具备现金流支撑（</a:t>
            </a:r>
            <a:r>
              <a:rPr lang="en-US" sz="1350">
                <a:solidFill>
                  <a:srgbClr val="061F32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年经营净流入超</a:t>
            </a:r>
            <a:r>
              <a:rPr lang="en-US" sz="1350">
                <a:solidFill>
                  <a:srgbClr val="061F32"/>
                </a:solidFill>
                <a:latin typeface="Arial"/>
                <a:ea typeface="Arial"/>
              </a:rPr>
              <a:t>6.7</a:t>
            </a: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亿元）。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444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来源：公司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年年度报告、招股说明书（申报稿），数据截至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2026-08-30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5062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04</a:t>
            </a:r>
            <a:endParaRPr/>
          </a:p>
        </p:txBody>
      </p:sp>
    </p:spTree>
  </p:cSld>
</p:sld>
</file>

<file path=ppt/slides/slide5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营收三年约14倍：2025年+333%后，2026年转入中高速增长&lt;/Text&gt;&#10;        &lt;Box style={{ width: '100%', height: 1, background: '#061F32', marginTop: 12 }} /&gt;&#10;    &lt;/Box&gt;&#10;    &lt;Box style={{ flexDirection: 'row', flex: 1, gap: 32, alignItems: 'center', marginTop: 12 }}&gt;&#10;        &lt;Box style={{ width: '62%', flexDirection: 'column' }}&gt;&#10;            &lt;Chart&#10;                style={{ height: 460 }}&#10;                chartType='barChart'&#10;                title='营业收入（亿元）'&#10;                titleColor='#061F32'&#10;                showLegend={false}&#10;                showDataLabels={true}&#10;                dataLabelColor='#061F32'&#10;                axisColor='#808080'&#10;                colors={['#061F32']}&#10;                background='#FFFFFF'&#10;                data={[&#10;                    ['报告期', '营业收入'],&#10;                    ['2022', 1.23],&#10;                    ['2023', 1.59],&#10;                    ['2024', 3.92],&#10;                    ['2025', 16.99],&#10;                    ['2026H1', 11.52],&#10;                ]}&#10;            /&gt;&#10;            &lt;Text style={{ fontSize: 14, color: '#808080', fontFamily: 'Arial, &quot;PingFang SC&quot;, &quot;Microsoft YaHei&quot;, sans-serif' }}&gt;注：2026H1为半年度数据；同比增速2023年+29.5%、2024年+146.6%、2025年+333%、2026H1 +48.54%。&lt;/Text&gt;&#10;        &lt;/Box&gt;&#10;        &lt;Box style={{ flex: 1, flexDirection: 'column', gap: 20 }}&gt;&#10;            &lt;Box style={{ flexDirection: 'column', gap: 6, borderLeft: '3px solid #061F32', paddingLeft: 16 }}&gt;&#10;                &lt;Text style={{ fontSize: 22, color: '#061F32', fontWeight: 'bold', fontFamily: 'Arial, &quot;PingFang SC&quot;, &quot;Microsoft YaHei&quot;, sans-serif' }}&gt;双轮驱动&lt;/Text&gt;&#10;                &lt;Text style={{ fontSize: 18, color: '#44546A', lineHeight: 1.5, fontFamily: 'Arial, &quot;PingFang SC&quot;, &quot;Microsoft YaHei&quot;, sans-serif' }}&gt;四足机器人稳步增长 + 人形机器人爆发式放量，2022–2025营收CAGR约140%。&lt;/Text&gt;&#10;            &lt;/Box&gt;&#10;            &lt;Box style={{ flexDirection: 'column', gap: 6, borderLeft: '3px solid #08A6F6', paddingLeft: 16 }}&gt;&#10;                &lt;Text style={{ fontSize: 22, color: '#061F32', fontWeight: 'bold', fontFamily: 'Arial, &quot;PingFang SC&quot;, &quot;Microsoft YaHei&quot;, sans-serif' }}&gt;增速换挡属公司自述的合理回落&lt;/Text&gt;&#10;                &lt;Text style={{ fontSize: 18, color: '#44546A', lineHeight: 1.5, fontFamily: 'Arial, &quot;PingFang SC&quot;, &quot;Microsoft YaHei&quot;, sans-serif' }}&gt;上市公告书归因：营收基数抬升、行业热度降温、竞争加剧；公司同时提示增速放缓与业绩波动风险。&lt;/Text&gt;&#10;            &lt;/Box&gt;&#10;            &lt;Box style={{ flexDirection: 'column', gap: 6, borderLeft: '3px solid #061F32', paddingLeft: 16 }}&gt;&#10;                &lt;Text style={{ fontSize: 22, color: '#061F32', fontWeight: 'bold', fontFamily: 'Arial, &quot;PingFang SC&quot;, &quot;Microsoft YaHei&quot;, sans-serif' }}&gt;+48.54%仍是中高速&lt;/Text&gt;&#10;                &lt;Text style={{ fontSize: 18, color: '#44546A', lineHeight: 1.5, fontFamily: 'Arial, &quot;PingFang SC&quot;, &quot;Microsoft YaHei&quot;, sans-serif' }}&gt;2026H1营收11.52亿元，已超出招股书业绩预告区间上限（10.52–11.28亿元）。&lt;/Text&gt;&#10;            &lt;/Box&gt;&#10;        &lt;/Box&gt;&#10;    &lt;/Box&gt;&#10;    &lt;Box style={{ flexDirection: 'row', justifyContent: 'space-between', alignItems: 'center', marginTop: 12 }}&gt;&#10;        &lt;Text style={{ fontSize: 14, color: '#808080', fontFamily: 'Arial, &quot;PingFang SC&quot;, &quot;Microsoft YaHei&quot;, sans-serif' }}&gt;来源：招股说明书、2025年年度报告、上市公告书（2026-08-17）&lt;/Text&gt;&#10;        &lt;Text style={{ fontSize: 14, color: '#808080', fontFamily: 'Arial, &quot;PingFang SC&quot;, &quot;Microsoft YaHei&quot;, sans-serif' }}&gt;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营收三年约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14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倍：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2025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年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+333%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后，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2026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年转入中高速增长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graphicFrame>
        <p:nvGraphicFramePr>
          <p:cNvPr id="199" name="199"/>
          <p:cNvGraphicFramePr/>
          <p:nvPr/>
        </p:nvGraphicFramePr>
        <p:xfrm rot="0" flipH="0" flipV="0">
          <a:off x="533400" y="1419225"/>
          <a:ext cx="6896100" cy="4381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33400" y="5800725"/>
            <a:ext cx="689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注：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2026H1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为半年度数据；同比增速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2023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+29.5%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2024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+146.6%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+333%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2026H1 +48.54%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7734300" y="2562225"/>
            <a:ext cx="3952875" cy="933450"/>
          </a:xfrm>
          <a:custGeom>
            <a:pathLst>
              <a:path w="415" h="98">
                <a:moveTo>
                  <a:pt x="0" y="0"/>
                </a:moveTo>
                <a:lnTo>
                  <a:pt x="3" y="0"/>
                </a:lnTo>
                <a:lnTo>
                  <a:pt x="3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915275" y="2562225"/>
            <a:ext cx="3743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双轮驱动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915275" y="2876550"/>
            <a:ext cx="37433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四足机器人稳步增长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 + 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人形机器人爆发式放量，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2022–2025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营收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CAGR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约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140%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7734300" y="3686175"/>
            <a:ext cx="3952875" cy="1247775"/>
          </a:xfrm>
          <a:custGeom>
            <a:pathLst>
              <a:path w="415" h="131">
                <a:moveTo>
                  <a:pt x="0" y="0"/>
                </a:moveTo>
                <a:lnTo>
                  <a:pt x="3" y="0"/>
                </a:lnTo>
                <a:lnTo>
                  <a:pt x="3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915275" y="3686175"/>
            <a:ext cx="3743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增速换挡属公司自述的合理回落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915275" y="4000500"/>
            <a:ext cx="37433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上市公告书归因：营收基数抬升、行业热度降温、竞争加剧；公司同时提示增速放缓与业绩波动风险。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7734300" y="5124450"/>
            <a:ext cx="3952875" cy="933450"/>
          </a:xfrm>
          <a:custGeom>
            <a:pathLst>
              <a:path w="415" h="98">
                <a:moveTo>
                  <a:pt x="0" y="0"/>
                </a:moveTo>
                <a:lnTo>
                  <a:pt x="3" y="0"/>
                </a:lnTo>
                <a:lnTo>
                  <a:pt x="3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915275" y="5124450"/>
            <a:ext cx="3743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1F32"/>
                </a:solidFill>
                <a:latin typeface="Arial"/>
                <a:ea typeface="Arial"/>
              </a:rPr>
              <a:t>+48.54%</a:t>
            </a: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仍是中高速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915275" y="5438775"/>
            <a:ext cx="37433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2026H1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营收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11.52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亿元，已超出招股书业绩预告区间上限（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10.52–11.28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亿元）。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3914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来源：招股说明书、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年年度报告、上市公告书（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2026-08-17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5062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05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12" name="" descr="&lt;Slide style={{ width: '1280px', height: '720px', background: '#062032', padding: '0px 88px', flexDirection: 'row', alignItems: 'center' }}&gt;&#10;    &lt;Box style={{ flexDirection: 'row', alignItems: 'center', gap: 64, width: '100%' }}&gt;&#10;        &lt;Text style={{ fontSize: 260, color: '#FFFFFF', opacity: 0.14, fontWeight: 'bold', fontFamily: 'Arial, &quot;PingFang SC&quot;, &quot;Microsoft YaHei&quot;, sans-serif' }}&gt;02&lt;/Text&gt;&#10;        &lt;Box style={{ flexDirection: 'column', gap: 16 }}&gt;&#10;            &lt;Text style={{ fontSize: 48, color: '#FFFFFF', fontWeight: 'bold', fontFamily: 'Arial, &quot;PingFang SC&quot;, &quot;Microsoft YaHei&quot;, sans-serif' }}&gt;结构切换&lt;/Text&gt;&#10;            &lt;Text style={{ fontSize: 20, color: '#99BDED', letterSpacing: 2, fontFamily: 'Arial, &quot;PingFang SC&quot;, &quot;Microsoft YaHei&quot;, sans-serif' }}&gt;Structural Shift&lt;/Text&gt;&#10;            &lt;Text style={{ fontSize: 18, color: '#808080', lineHeight: 1.5, fontFamily: 'Arial, &quot;PingFang SC&quot;, &quot;Microsoft YaHei&quot;, sans-serif' }}&gt;人形反超四足成为第一引擎，境内反超境外成为第一市场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210050" y="2733675"/>
            <a:ext cx="42862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Arial"/>
                <a:ea typeface="Arial"/>
              </a:rPr>
              <a:t>结构切换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210050" y="3438525"/>
            <a:ext cx="4286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9BDED"/>
                </a:solidFill>
                <a:latin typeface="Arial"/>
                <a:ea typeface="Arial"/>
              </a:rPr>
              <a:t>Structural Shift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210050" y="3819525"/>
            <a:ext cx="42862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人形反超四足成为第一引擎，境内反超境外成为第一市场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38200" y="1943100"/>
            <a:ext cx="276225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4000"/>
                  </a:srgbClr>
                </a:solidFill>
                <a:latin typeface="Arial"/>
                <a:ea typeface="Arial"/>
              </a:rPr>
              <a:t>02</a:t>
            </a:r>
            <a:endParaRPr/>
          </a:p>
        </p:txBody>
      </p:sp>
    </p:spTree>
  </p:cSld>
</p:sld>
</file>

<file path=ppt/slides/slide7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人形机器人收入占比两年从1.88%升至51.07%，完成第一引擎切换&lt;/Text&gt;&#10;        &lt;Box style={{ width: '100%', height: 1, background: '#061F32', marginTop: 12 }} /&gt;&#10;    &lt;/Box&gt;&#10;    &lt;Box style={{ flexDirection: 'row', flex: 1, gap: 32, alignItems: 'center', marginTop: 12 }}&gt;&#10;        &lt;Box style={{ width: '58%', flexDirection: 'column' }}&gt;&#10;            &lt;Chart&#10;                style={{ height: 460 }}&#10;                chartType='barChart'&#10;                title='人形机器人收入占主营收入比重（%）'&#10;                titleColor='#061F32'&#10;                showLegend={false}&#10;                showDataLabels={true}&#10;                dataLabelColor='#061F32'&#10;                axisColor='#808080'&#10;                colors={['#08A6F6']}&#10;                background='#FFFFFF'&#10;                data={[&#10;                    ['年份', '收入占比'],&#10;                    ['2023', 1.88],&#10;                    ['2024', 27.6],&#10;                    ['2025', 51.07],&#10;                ]}&#10;            /&gt;&#10;            &lt;Text style={{ fontSize: 14, color: '#808080', fontFamily: 'Arial, &quot;PingFang SC&quot;, &quot;Microsoft YaHei&quot;, sans-serif' }}&gt;注：2023年为H1上市当年；2025年前三季度占比51.53%，全年51.07%。&lt;/Text&gt;&#10;        &lt;/Box&gt;&#10;        &lt;Box style={{ flex: 1, flexDirection: 'column', gap: 22 }}&gt;&#10;            &lt;Box style={{ flexDirection: 'column', gap: 6, borderLeft: '3px solid #061F32', paddingLeft: 16 }}&gt;&#10;                &lt;Text style={{ fontSize: 22, color: '#061F32', fontWeight: 'bold', fontFamily: 'Arial, &quot;PingFang SC&quot;, &quot;Microsoft YaHei&quot;, sans-serif' }}&gt;反超四足&lt;/Text&gt;&#10;                &lt;Text style={{ fontSize: 18, color: '#44546A', lineHeight: 1.5, fontFamily: 'Arial, &quot;PingFang SC&quot;, &quot;Microsoft YaHei&quot;, sans-serif' }}&gt;2025年人形收入8.68亿元 vs 四足6.98亿元；增长逻辑已从&quot;四足龙头&quot;切换为&quot;人形第一股&quot;。&lt;/Text&gt;&#10;            &lt;/Box&gt;&#10;            &lt;Box style={{ flexDirection: 'column', gap: 6, borderLeft: '3px solid #061F32', paddingLeft: 16 }}&gt;&#10;                &lt;Text style={{ fontSize: 22, color: '#061F32', fontWeight: 'bold', fontFamily: 'Arial, &quot;PingFang SC&quot;, &quot;Microsoft YaHei&quot;, sans-serif' }}&gt;出货全球第一&lt;/Text&gt;&#10;                &lt;Text style={{ fontSize: 18, color: '#44546A', lineHeight: 1.5, fontFamily: 'Arial, &quot;PingFang SC&quot;, &quot;Microsoft YaHei&quot;, sans-serif' }}&gt;2025年人形出货超5,500台（纯人形、不含轮式）；四足累计销量超3万台（2022–2025.9）。&lt;/Text&gt;&#10;            &lt;/Box&gt;&#10;            &lt;Box style={{ flexDirection: 'column', gap: 6, borderLeft: '3px solid #08A6F6', paddingLeft: 16 }}&gt;&#10;                &lt;Text style={{ fontSize: 22, color: '#061F32', fontWeight: 'bold', fontFamily: 'Arial, &quot;PingFang SC&quot;, &quot;Microsoft YaHei&quot;, sans-serif' }}&gt;以价换量是主动策略&lt;/Text&gt;&#10;                &lt;Text style={{ fontSize: 18, color: '#44546A', lineHeight: 1.5, fontFamily: 'Arial, &quot;PingFang SC&quot;, &quot;Microsoft YaHei&quot;, sans-serif' }}&gt;G1等中低价位产品放量 + 主动下调价格，均价连降是为做大规模、摊薄成本，而非被动降价。&lt;/Text&gt;&#10;            &lt;/Box&gt;&#10;        &lt;/Box&gt;&#10;    &lt;/Box&gt;&#10;    &lt;Box style={{ flexDirection: 'row', justifyContent: 'space-between', alignItems: 'center', marginTop: 12 }}&gt;&#10;        &lt;Text style={{ fontSize: 14, color: '#808080', fontFamily: 'Arial, &quot;PingFang SC&quot;, &quot;Microsoft YaHei&quot;, sans-serif' }}&gt;来源：招股说明书、2025年年度报告&lt;/Text&gt;&#10;        &lt;Text style={{ fontSize: 14, color: '#808080', fontFamily: 'Arial, &quot;PingFang SC&quot;, &quot;Microsoft YaHei&quot;, sans-serif' }}&gt;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人形机器人收入占比两年从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1.88%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升至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51.07%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，完成第一引擎切换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graphicFrame>
        <p:nvGraphicFramePr>
          <p:cNvPr id="222" name="222"/>
          <p:cNvGraphicFramePr/>
          <p:nvPr/>
        </p:nvGraphicFramePr>
        <p:xfrm rot="0" flipH="0" flipV="0">
          <a:off x="533400" y="1419225"/>
          <a:ext cx="6448425" cy="4381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33400" y="5800725"/>
            <a:ext cx="6448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注：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2023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年为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H1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上市当年；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年前三季度占比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51.53%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，全年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51.07%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7286625" y="2543175"/>
            <a:ext cx="4400550" cy="933450"/>
          </a:xfrm>
          <a:custGeom>
            <a:pathLst>
              <a:path w="462" h="98">
                <a:moveTo>
                  <a:pt x="0" y="0"/>
                </a:moveTo>
                <a:lnTo>
                  <a:pt x="3" y="0"/>
                </a:lnTo>
                <a:lnTo>
                  <a:pt x="3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467600" y="25431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反超四足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467600" y="2857500"/>
            <a:ext cx="4191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年人形收入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8.68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 vs 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四足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6.98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亿元；增长逻辑已从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四足龙头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切换为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人形第一股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7286625" y="3686175"/>
            <a:ext cx="4400550" cy="933450"/>
          </a:xfrm>
          <a:custGeom>
            <a:pathLst>
              <a:path w="462" h="98">
                <a:moveTo>
                  <a:pt x="0" y="0"/>
                </a:moveTo>
                <a:lnTo>
                  <a:pt x="3" y="0"/>
                </a:lnTo>
                <a:lnTo>
                  <a:pt x="3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467600" y="36861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出货全球第一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467600" y="4000500"/>
            <a:ext cx="4191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年人形出货超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5,500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台（纯人形、不含轮式）；四足累计销量超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3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万台（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2022–2025.9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）。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7286625" y="4829175"/>
            <a:ext cx="4400550" cy="933450"/>
          </a:xfrm>
          <a:custGeom>
            <a:pathLst>
              <a:path w="462" h="98">
                <a:moveTo>
                  <a:pt x="0" y="0"/>
                </a:moveTo>
                <a:lnTo>
                  <a:pt x="3" y="0"/>
                </a:lnTo>
                <a:lnTo>
                  <a:pt x="3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67600" y="48291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以价换量是主动策略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467600" y="5143500"/>
            <a:ext cx="4191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G1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等中低价位产品放量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 + 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主动下调价格，均价连降是为做大规模、摊薄成本，而非被动降价。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来源：招股说明书、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年年度报告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5062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07</a:t>
            </a:r>
            <a:endParaRPr/>
          </a:p>
        </p:txBody>
      </p:sp>
    </p:spTree>
  </p:cSld>
</p:sld>
</file>

<file path=ppt/slides/slide8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2025年收入结构：人形过半、境内反超，市场重心转回国内&lt;/Text&gt;&#10;        &lt;Box style={{ width: '100%', height: 1, background: '#061F32', marginTop: 12 }} /&gt;&#10;    &lt;/Box&gt;&#10;    &lt;Box style={{ flexDirection: 'row', flex: 1, gap: 32, alignItems: 'center', marginTop: 12 }}&gt;&#10;        &lt;Box style={{ width: '50%', flexDirection: 'column' }}&gt;&#10;            &lt;Chart&#10;                style={{ height: 440 }}&#10;                chartType='doughnutChart'&#10;                title='2025年主营收入结构：分产品（亿元）'&#10;                titleColor='#061F32'&#10;                showLegend={true}&#10;                showDataLabels={true}&#10;                legendColor='#44546A'&#10;                dataLabelColor='#FFFFFF'&#10;                colors={['#061F32', '#08A6F6', '#99BDED']}&#10;                background='#FFFFFF'&#10;                data={[&#10;                    ['产品', '收入'],&#10;                    ['人形机器人 8.68', 8.68],&#10;                    ['四足机器人 6.98', 6.98],&#10;                    ['机器人组件 1.04', 1.04],&#10;                ]}&#10;            /&gt;&#10;        &lt;/Box&gt;&#10;        &lt;Box style={{ flex: 1, flexDirection: 'column', gap: 16 }}&gt;&#10;            &lt;Chart&#10;                style={{ height: 250 }}&#10;                chartType='barChart'&#10;                barDirection='bar'&#10;                title='2025年主营收入结构：分地域（亿元）'&#10;                titleColor='#061F32'&#10;                showLegend={false}&#10;                showDataLabels={true}&#10;                dataLabelColor='#061F32'&#10;                axisColor='#808080'&#10;                colors={['#001965']}&#10;                background='#FFFFFF'&#10;                data={[&#10;                    ['地域', '收入'],&#10;                    ['境内 55.58%', 9.44],&#10;                    ['境外 43.06%', 7.32],&#10;                ]}&#10;            /&gt;&#10;            &lt;Box style={{ background: '#F5F5F5', padding: '16px 20px', borderLeft: '3px solid #08A6F6' }}&gt;&#10;                &lt;Text style={{ fontSize: 18, color: '#061F32', lineHeight: 1.5, fontFamily: 'Arial, &quot;PingFang SC&quot;, &quot;Microsoft YaHei&quot;, sans-serif' }}&gt;2022–2024年境外占比均超50%；&lt;span style={{ fontWeight: 'bold' }}&gt;央视春晚演出后国内品牌势能兑现&lt;/span&gt;，2025年境内占比升至55.58%——同时也意味着对国内科研教育采购的依赖上升。&lt;/Text&gt;&#10;            &lt;/Box&gt;&#10;        &lt;/Box&gt;&#10;    &lt;/Box&gt;&#10;    &lt;Box style={{ flexDirection: 'row', justifyContent: 'space-between', alignItems: 'center', marginTop: 12 }}&gt;&#10;        &lt;Text style={{ fontSize: 14, color: '#808080', fontFamily: 'Arial, &quot;PingFang SC&quot;, &quot;Microsoft YaHei&quot;, sans-serif' }}&gt;来源：公司2025年年度报告（占比之和与100%的差异为其他业务收入口径所致）&lt;/Text&gt;&#10;        &lt;Text style={{ fontSize: 14, color: '#808080', fontFamily: 'Arial, &quot;PingFang SC&quot;, &quot;Microsoft YaHei&quot;, sans-serif' }}&gt;0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2025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年收入结构：人形过半、境内反超，市场重心转回国内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graphicFrame>
        <p:nvGraphicFramePr>
          <p:cNvPr id="239" name="239"/>
          <p:cNvGraphicFramePr/>
          <p:nvPr/>
        </p:nvGraphicFramePr>
        <p:xfrm rot="0" flipH="0" flipV="0">
          <a:off x="533400" y="1600200"/>
          <a:ext cx="5562600" cy="4191000"/>
        </p:xfrm>
        <a:graphic>
          <a:graphicData uri="http://schemas.openxmlformats.org/drawingml/2006/chart">
            <c:chart r:id="rId0"/>
          </a:graphicData>
        </a:graphic>
      </p:graphicFrame>
      <p:graphicFrame>
        <p:nvGraphicFramePr>
          <p:cNvPr id="240" name="240"/>
          <p:cNvGraphicFramePr/>
          <p:nvPr/>
        </p:nvGraphicFramePr>
        <p:xfrm rot="0" flipH="0" flipV="0">
          <a:off x="6400800" y="1962150"/>
          <a:ext cx="5257800" cy="2381250"/>
        </p:xfrm>
        <a:graphic>
          <a:graphicData uri="http://schemas.openxmlformats.org/drawingml/2006/chart">
            <c:chart r:id="rId1"/>
          </a:graphicData>
        </a:graphic>
      </p:graphicFrame>
      <p:sp>
        <p:nvSpPr>
          <p:cNvPr id="241" name=""/>
          <p:cNvSpPr/>
          <p:nvPr/>
        </p:nvSpPr>
        <p:spPr>
          <a:xfrm rot="0" flipH="0" flipV="0">
            <a:off x="6429375" y="4495800"/>
            <a:ext cx="5257800" cy="1238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400800" y="4495800"/>
            <a:ext cx="5286375" cy="1238250"/>
          </a:xfrm>
          <a:custGeom>
            <a:pathLst>
              <a:path w="555" h="130">
                <a:moveTo>
                  <a:pt x="0" y="0"/>
                </a:moveTo>
                <a:lnTo>
                  <a:pt x="3" y="0"/>
                </a:lnTo>
                <a:lnTo>
                  <a:pt x="3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619875" y="4648200"/>
            <a:ext cx="4848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061F32"/>
                </a:solidFill>
                <a:latin typeface="Arial"/>
                <a:ea typeface="Arial"/>
              </a:rPr>
              <a:t>2022–2024</a:t>
            </a: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年境外占比均超</a:t>
            </a:r>
            <a:r>
              <a:rPr lang="en-US" sz="1350">
                <a:solidFill>
                  <a:srgbClr val="061F32"/>
                </a:solidFill>
                <a:latin typeface="Arial"/>
                <a:ea typeface="Arial"/>
              </a:rPr>
              <a:t>50%</a:t>
            </a: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；</a:t>
            </a:r>
            <a:r>
              <a:rPr lang="zh-CN" sz="1350" b="1">
                <a:solidFill>
                  <a:srgbClr val="061F32"/>
                </a:solidFill>
                <a:latin typeface="Arial"/>
                <a:ea typeface="Arial"/>
              </a:rPr>
              <a:t>央视春晚演出后国内品牌势能兑现</a:t>
            </a: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，</a:t>
            </a:r>
            <a:r>
              <a:rPr lang="en-US" sz="1350">
                <a:solidFill>
                  <a:srgbClr val="061F32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年境内占比升至</a:t>
            </a:r>
            <a:r>
              <a:rPr lang="en-US" sz="1350">
                <a:solidFill>
                  <a:srgbClr val="061F32"/>
                </a:solidFill>
                <a:latin typeface="Arial"/>
                <a:ea typeface="Arial"/>
              </a:rPr>
              <a:t>55.58%——</a:t>
            </a: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同时也意味着对国内科研教育采购的依赖上升。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来源：公司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年年度报告（占比之和与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100%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的差异为其他业务收入口径所致）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5062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08</a:t>
            </a:r>
            <a:endParaRPr/>
          </a:p>
        </p:txBody>
      </p:sp>
    </p:spTree>
  </p:cSld>
</p:sld>
</file>

<file path=ppt/slides/slide9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盈利质量：2024年扭亏、2025年扣非5.91亿元，毛利率升至约60%&lt;/Text&gt;&#10;        &lt;Box style={{ width: '100%', height: 1, background: '#061F32', marginTop: 12 }} /&gt;&#10;    &lt;/Box&gt;&#10;    &lt;Box style={{ flexDirection: 'row', flex: 1, gap: 32, alignItems: 'center', marginTop: 12 }}&gt;&#10;        &lt;Box style={{ width: '40%', flexDirection: 'column', gap: 20 }}&gt;&#10;            &lt;Box style={{ flexDirection: 'column', gap: 6, borderLeft: '3px solid #061F32', paddingLeft: 16 }}&gt;&#10;                &lt;Text style={{ fontSize: 22, color: '#061F32', fontWeight: 'bold', fontFamily: 'Arial, &quot;PingFang SC&quot;, &quot;Microsoft YaHei&quot;, sans-serif' }}&gt;扭亏后盈利快速放大&lt;/Text&gt;&#10;                &lt;Text style={{ fontSize: 18, color: '#44546A', lineHeight: 1.5, fontFamily: 'Arial, &quot;PingFang SC&quot;, &quot;Microsoft YaHei&quot;, sans-serif' }}&gt;2024年归母净利润9,450万元实现扭亏；2025年扣非归母5.91亿元（+652.78%），扣非净利率约34.8%。&lt;/Text&gt;&#10;            &lt;/Box&gt;&#10;            &lt;Box style={{ flexDirection: 'column', gap: 6, borderLeft: '3px solid #08A6F6', paddingLeft: 16 }}&gt;&#10;                &lt;Text style={{ fontSize: 22, color: '#061F32', fontWeight: 'bold', fontFamily: 'Arial, &quot;PingFang SC&quot;, &quot;Microsoft YaHei&quot;, sans-serif' }}&gt;毛利率两年抬升约16pct&lt;/Text&gt;&#10;                &lt;Text style={{ fontSize: 18, color: '#44546A', lineHeight: 1.5, fontFamily: 'Arial, &quot;PingFang SC&quot;, &quot;Microsoft YaHei&quot;, sans-serif' }}&gt;主营毛利率44.18%（2022）→56.41%（2024）→约60.3%（2025）：人形规模效应 + 核心部组件自研降本。&lt;/Text&gt;&#10;            &lt;/Box&gt;&#10;            &lt;Box style={{ flexDirection: 'column', gap: 6, borderLeft: '3px solid #061F32', paddingLeft: 16 }}&gt;&#10;                &lt;Text style={{ fontSize: 22, color: '#061F32', fontWeight: 'bold', fontFamily: 'Arial, &quot;PingFang SC&quot;, &quot;Microsoft YaHei&quot;, sans-serif' }}&gt;读利润须区分口径&lt;/Text&gt;&#10;                &lt;Text style={{ fontSize: 18, color: '#44546A', lineHeight: 1.5, fontFamily: 'Arial, &quot;PingFang SC&quot;, &quot;Microsoft YaHei&quot;, sans-serif' }}&gt;2025年确认股份支付3.49亿元（非经常性），归母（约2.78亿）与扣非（5.91亿）差异显著。&lt;/Text&gt;&#10;            &lt;/Box&gt;&#10;        &lt;/Box&gt;&#10;        &lt;Box style={{ flex: 1, flexDirection: 'column' }}&gt;&#10;            &lt;Chart&#10;                style={{ height: 460 }}&#10;                chartType='barChart'&#10;                title='归母净利润 vs 扣非归母净利润（亿元）'&#10;                titleColor='#061F32'&#10;                showLegend={true}&#10;                showDataLabels={true}&#10;                legendColor='#44546A'&#10;                dataLabelColor='#061F32'&#10;                axisColor='#808080'&#10;                colors={['#99BDED', '#061F32']}&#10;                background='#FFFFFF'&#10;                data={[&#10;                    ['年度', '归母净利润', '扣非归母净利润'],&#10;                    ['2022', -0.22, -0.08],&#10;                    ['2023', -0.11, -0.18],&#10;                    ['2024', 0.95, 0.78],&#10;                    ['2025', 2.78, 5.91],&#10;                ]}&#10;            /&gt;&#10;            &lt;Text style={{ fontSize: 14, color: '#808080', fontFamily: 'Arial, &quot;PingFang SC&quot;, &quot;Microsoft YaHei&quot;, sans-serif' }}&gt;注：2025年归母净利润为约数（年报口径）；扣非口径剔除股份支付等非经常性损益。&lt;/Text&gt;&#10;        &lt;/Box&gt;&#10;    &lt;/Box&gt;&#10;    &lt;Box style={{ flexDirection: 'row', justifyContent: 'space-between', alignItems: 'center', marginTop: 12 }}&gt;&#10;        &lt;Text style={{ fontSize: 14, color: '#808080', fontFamily: 'Arial, &quot;PingFang SC&quot;, &quot;Microsoft YaHei&quot;, sans-serif' }}&gt;来源：招股说明书、2025年年度报告&lt;/Text&gt;&#10;        &lt;Text style={{ fontSize: 14, color: '#808080', fontFamily: 'Arial, &quot;PingFang SC&quot;, &quot;Microsoft YaHei&quot;, sans-serif' }}&gt;09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盈利质量：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2024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年扭亏、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2025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年扣非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5.91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亿元，毛利率升至约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60%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533400" y="1943100"/>
            <a:ext cx="4476750" cy="933450"/>
          </a:xfrm>
          <a:custGeom>
            <a:pathLst>
              <a:path w="470" h="98">
                <a:moveTo>
                  <a:pt x="0" y="0"/>
                </a:moveTo>
                <a:lnTo>
                  <a:pt x="3" y="0"/>
                </a:lnTo>
                <a:lnTo>
                  <a:pt x="3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14375" y="194310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扭亏后盈利快速放大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14375" y="2257425"/>
            <a:ext cx="4267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2024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年归母净利润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9,450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万元实现扭亏；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年扣非归母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5.91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+652.78%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），扣非净利率约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34.8%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533400" y="3067050"/>
            <a:ext cx="4476750" cy="1247775"/>
          </a:xfrm>
          <a:custGeom>
            <a:pathLst>
              <a:path w="470" h="131">
                <a:moveTo>
                  <a:pt x="0" y="0"/>
                </a:moveTo>
                <a:lnTo>
                  <a:pt x="3" y="0"/>
                </a:lnTo>
                <a:lnTo>
                  <a:pt x="3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14375" y="306705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毛利率两年抬升约</a:t>
            </a:r>
            <a:r>
              <a:rPr lang="en-US" sz="1650" b="1">
                <a:solidFill>
                  <a:srgbClr val="061F32"/>
                </a:solidFill>
                <a:latin typeface="Arial"/>
                <a:ea typeface="Arial"/>
              </a:rPr>
              <a:t>16pct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14375" y="3381375"/>
            <a:ext cx="42672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主营毛利率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44.18%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2022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）→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56.41%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2024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）→约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60.3%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）：人形规模效应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 + 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核心部组件自研降本。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533400" y="4505325"/>
            <a:ext cx="4476750" cy="933450"/>
          </a:xfrm>
          <a:custGeom>
            <a:pathLst>
              <a:path w="470" h="98">
                <a:moveTo>
                  <a:pt x="0" y="0"/>
                </a:moveTo>
                <a:lnTo>
                  <a:pt x="3" y="0"/>
                </a:lnTo>
                <a:lnTo>
                  <a:pt x="3" y="98"/>
                </a:lnTo>
                <a:lnTo>
                  <a:pt x="0" y="98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14375" y="450532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读利润须区分口径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14375" y="4819650"/>
            <a:ext cx="4267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年确认股份支付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3.49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亿元（非经常性），归母（约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2.78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亿）与扣非（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5.91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亿）差异显著。</a:t>
            </a:r>
            <a:endParaRPr/>
          </a:p>
        </p:txBody>
      </p:sp>
      <p:graphicFrame>
        <p:nvGraphicFramePr>
          <p:cNvPr id="259" name="259"/>
          <p:cNvGraphicFramePr/>
          <p:nvPr/>
        </p:nvGraphicFramePr>
        <p:xfrm rot="0" flipH="0" flipV="0">
          <a:off x="5286375" y="1419225"/>
          <a:ext cx="6372225" cy="4381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286375" y="5800725"/>
            <a:ext cx="637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注：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年归母净利润为约数（年报口径）；扣非口径剔除股份支付等非经常性损益。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来源：招股说明书、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年年度报告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5062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09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1" name="" descr="&lt;Slide style={{ width: '1280px', height: '720px', background: '#062032', padding: '0px 88px', flexDirection: 'row', alignItems: 'center' }}&gt;&#10;    &lt;Box style={{ flexDirection: 'row', alignItems: 'center', gap: 64, width: '100%' }}&gt;&#10;        &lt;Text style={{ fontSize: 260, color: '#FFFFFF', opacity: 0.14, fontWeight: 'bold', fontFamily: 'Arial, &quot;PingFang SC&quot;, &quot;Microsoft YaHei&quot;, sans-serif' }}&gt;03&lt;/Text&gt;&#10;        &lt;Box style={{ flexDirection: 'column', gap: 16 }}&gt;&#10;            &lt;Text style={{ fontSize: 48, color: '#FFFFFF', fontWeight: 'bold', fontFamily: 'Arial, &quot;PingFang SC&quot;, &quot;Microsoft YaHei&quot;, sans-serif' }}&gt;换挡与投入&lt;/Text&gt;&#10;            &lt;Text style={{ fontSize: 20, color: '#99BDED', letterSpacing: 2, fontFamily: 'Arial, &quot;PingFang SC&quot;, &quot;Microsoft YaHei&quot;, sans-serif' }}&gt;Gear Shift &amp;amp; Investment&lt;/Text&gt;&#10;            &lt;Text style={{ fontSize: 18, color: '#808080', lineHeight: 1.5, fontFamily: 'Arial, &quot;PingFang SC&quot;, &quot;Microsoft YaHei&quot;, sans-serif' }}&gt;增速回落与费用前置并存，研发加码补&quot;大脑&quot;短板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210050" y="2733675"/>
            <a:ext cx="372427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Arial"/>
                <a:ea typeface="Arial"/>
              </a:rPr>
              <a:t>换挡与投入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210050" y="3438525"/>
            <a:ext cx="3724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9BDED"/>
                </a:solidFill>
                <a:latin typeface="Arial"/>
                <a:ea typeface="Arial"/>
              </a:rPr>
              <a:t>Gear Shift &amp; Investment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210050" y="3819525"/>
            <a:ext cx="37242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增速回落与费用前置并存，研发加码补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"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大脑</a:t>
            </a:r>
            <a:r>
              <a:rPr lang="en-US" sz="1350">
                <a:solidFill>
                  <a:srgbClr val="808080"/>
                </a:solidFill>
                <a:latin typeface="Arial"/>
                <a:ea typeface="Arial"/>
              </a:rPr>
              <a:t>"</a:t>
            </a: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短板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38200" y="1943100"/>
            <a:ext cx="276225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4000"/>
                  </a:srgbClr>
                </a:solidFill>
                <a:latin typeface="Arial"/>
                <a:ea typeface="Arial"/>
              </a:rPr>
              <a:t>03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7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2026H1：营收+48.54%与扣非-19.34%并存，是费用前置的阶段性结果&lt;/Text&gt;&#10;        &lt;Box style={{ width: '100%', height: 1, background: '#061F32', marginTop: 12 }} /&gt;&#10;    &lt;/Box&gt;&#10;    &lt;Box style={{ flexDirection: 'row', flex: 1, gap: 40, alignItems: 'center', marginTop: 12 }}&gt;&#10;        &lt;Box style={{ width: '42%', flexDirection: 'column', gap: 30 }}&gt;&#10;            &lt;Box style={{ flexDirection: 'column', gap: 4 }}&gt;&#10;                &lt;Text style={{ fontSize: 64, color: '#5A0E13', fontWeight: 'bold', fontFamily: 'Arial, &quot;PingFang SC&quot;, &quot;Microsoft YaHei&quot;, sans-serif' }}&gt;+48.54%&lt;/Text&gt;&#10;                &lt;Text style={{ fontSize: 18, color: '#44546A', fontFamily: 'Arial, &quot;PingFang SC&quot;, &quot;Microsoft YaHei&quot;, sans-serif' }}&gt;2026H1营收同比（11.52亿元，2025年全年为+333%）&lt;/Text&gt;&#10;            &lt;/Box&gt;&#10;            &lt;Box style={{ flexDirection: 'column', gap: 4 }}&gt;&#10;                &lt;Text style={{ fontSize: 64, color: '#177B57', fontWeight: 'bold', fontFamily: 'Arial, &quot;PingFang SC&quot;, &quot;Microsoft YaHei&quot;, sans-serif' }}&gt;-19.34%&lt;/Text&gt;&#10;                &lt;Text style={{ fontSize: 18, color: '#44546A', fontFamily: 'Arial, &quot;PingFang SC&quot;, &quot;Microsoft YaHei&quot;, sans-serif' }}&gt;2026H1扣非归母净利润同比（2.44亿元）&lt;/Text&gt;&#10;            &lt;/Box&gt;&#10;            &lt;Box style={{ flexDirection: 'column', gap: 4 }}&gt;&#10;                &lt;Text style={{ fontSize: 64, color: '#061F32', fontWeight: 'bold', fontFamily: 'Arial, &quot;PingFang SC&quot;, &quot;Microsoft YaHei&quot;, sans-serif' }}&gt;56.01%&lt;/Text&gt;&#10;                &lt;Text style={{ fontSize: 18, color: '#44546A', fontFamily: 'Arial, &quot;PingFang SC&quot;, &quot;Microsoft YaHei&quot;, sans-serif' }}&gt;2026H1整体销售毛利率（2025年约60.3%）&lt;/Text&gt;&#10;            &lt;/Box&gt;&#10;        &lt;/Box&gt;&#10;        &lt;Box style={{ flex: 1, flexDirection: 'column', gap: 18 }}&gt;&#10;            &lt;Box style={{ background: '#061F32', padding: '20px 24px' }}&gt;&#10;                &lt;Text style={{ fontSize: 20, color: '#FFFFFF', fontWeight: 'bold', marginBottom: 8, fontFamily: 'Arial, &quot;PingFang SC&quot;, &quot;Microsoft YaHei&quot;, sans-serif' }}&gt;归因：费用前置，而非需求恶化&lt;/Text&gt;&#10;                &lt;Text style={{ fontSize: 18, color: '#99BDED', lineHeight: 1.5, fontFamily: 'Arial, &quot;PingFang SC&quot;, &quot;Microsoft YaHei&quot;, sans-serif' }}&gt;研发费用同比+152%、销售费用已超2025年全年；上市公告书将扣非下滑归因于期间费用同比增幅较大。&lt;/Text&gt;&#10;            &lt;/Box&gt;&#10;            &lt;Box style={{ flexDirection: 'column', gap: 6, borderLeft: '3px solid #08A6F6', paddingLeft: 16 }}&gt;&#10;                &lt;Text style={{ fontSize: 20, color: '#061F32', fontWeight: 'bold', fontFamily: 'Arial, &quot;PingFang SC&quot;, &quot;Microsoft YaHei&quot;, sans-serif' }}&gt;收入端其实超预期&lt;/Text&gt;&#10;                &lt;Text style={{ fontSize: 18, color: '#44546A', lineHeight: 1.5, fontFamily: 'Arial, &quot;PingFang SC&quot;, &quot;Microsoft YaHei&quot;, sans-serif' }}&gt;H1营收11.52亿元，超出招股书业绩预告区间上限（10.52–11.28亿元）。&lt;/Text&gt;&#10;            &lt;/Box&gt;&#10;            &lt;Box style={{ flexDirection: 'column', gap: 6, borderLeft: '3px solid #08A6F6', paddingLeft: 16 }}&gt;&#10;                &lt;Text style={{ fontSize: 20, color: '#061F32', fontWeight: 'bold', fontFamily: 'Arial, &quot;PingFang SC&quot;, &quot;Microsoft YaHei&quot;, sans-serif' }}&gt;盈利端已在修复&lt;/Text&gt;&#10;                &lt;Text style={{ fontSize: 18, color: '#44546A', lineHeight: 1.5, fontFamily: 'Arial, &quot;PingFang SC&quot;, &quot;Microsoft YaHei&quot;, sans-serif' }}&gt;据业绩预告区间推算，Q2扣非净利率回升至31.11%–34.42%，较Q1约9.5%明显修复——费用前置的影响集中在一季度。&lt;/Text&gt;&#10;            &lt;/Box&gt;&#10;        &lt;/Box&gt;&#10;    &lt;/Box&gt;&#10;    &lt;Box style={{ flexDirection: 'row', justifyContent: 'space-between', alignItems: 'center', marginTop: 12 }}&gt;&#10;        &lt;Text style={{ fontSize: 14, color: '#808080', fontFamily: 'Arial, &quot;PingFang SC&quot;, &quot;Microsoft YaHei&quot;, sans-serif' }}&gt;来源：上市公告书（2026-08-17）、2026年一季报；Q2扣非净利率为按预告区间的推算值&lt;/Text&gt;&#10;        &lt;Text style={{ fontSize: 14, color: '#808080', fontFamily: 'Arial, &quot;PingFang SC&quot;, &quot;Microsoft YaHei&quot;, sans-serif' }}&gt;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2026H1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：营收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+48.54%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与扣非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-19.34%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并存，是费用前置的阶段性结果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33400" y="1933575"/>
            <a:ext cx="46767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5A0E13"/>
                </a:solidFill>
                <a:latin typeface="Arial"/>
                <a:ea typeface="Arial"/>
              </a:rPr>
              <a:t>+48.54%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33400" y="2705100"/>
            <a:ext cx="4676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2026H1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营收同比（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11.52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亿元，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年全年为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+333%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33400" y="3200400"/>
            <a:ext cx="46767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77B57"/>
                </a:solidFill>
                <a:latin typeface="Arial"/>
                <a:ea typeface="Arial"/>
              </a:rPr>
              <a:t>-19.34%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33400" y="3971925"/>
            <a:ext cx="4676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2026H1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扣非归母净利润同比（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2.44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亿元）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33400" y="4467225"/>
            <a:ext cx="46767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61F32"/>
                </a:solidFill>
                <a:latin typeface="Arial"/>
                <a:ea typeface="Arial"/>
              </a:rPr>
              <a:t>56.01%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33400" y="5238750"/>
            <a:ext cx="4676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2026H1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整体销售毛利率（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年约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60.3%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591175" y="2419350"/>
            <a:ext cx="6067425" cy="13049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819775" y="26098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Arial"/>
                <a:ea typeface="Arial"/>
              </a:rPr>
              <a:t>归因：费用前置，而非需求恶化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819775" y="2914650"/>
            <a:ext cx="56102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99BDED"/>
                </a:solidFill>
                <a:latin typeface="Arial"/>
                <a:ea typeface="Arial"/>
              </a:rPr>
              <a:t>研发费用同比</a:t>
            </a:r>
            <a:r>
              <a:rPr lang="en-US" sz="1350">
                <a:solidFill>
                  <a:srgbClr val="99BDED"/>
                </a:solidFill>
                <a:latin typeface="Arial"/>
                <a:ea typeface="Arial"/>
              </a:rPr>
              <a:t>+152%</a:t>
            </a:r>
            <a:r>
              <a:rPr lang="zh-CN" sz="1350">
                <a:solidFill>
                  <a:srgbClr val="99BDED"/>
                </a:solidFill>
                <a:latin typeface="Arial"/>
                <a:ea typeface="Arial"/>
              </a:rPr>
              <a:t>、销售费用已超</a:t>
            </a:r>
            <a:r>
              <a:rPr lang="en-US" sz="1350">
                <a:solidFill>
                  <a:srgbClr val="99BDED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99BDED"/>
                </a:solidFill>
                <a:latin typeface="Arial"/>
                <a:ea typeface="Arial"/>
              </a:rPr>
              <a:t>年全年；上市公告书将扣非下滑归因于期间费用同比增幅较大。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591175" y="3895725"/>
            <a:ext cx="6096000" cy="600075"/>
          </a:xfrm>
          <a:custGeom>
            <a:pathLst>
              <a:path w="640" h="63">
                <a:moveTo>
                  <a:pt x="0" y="0"/>
                </a:moveTo>
                <a:lnTo>
                  <a:pt x="3" y="0"/>
                </a:lnTo>
                <a:lnTo>
                  <a:pt x="3" y="63"/>
                </a:lnTo>
                <a:lnTo>
                  <a:pt x="0" y="63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72150" y="3895725"/>
            <a:ext cx="5886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Arial"/>
                <a:ea typeface="Arial"/>
              </a:rPr>
              <a:t>收入端其实超预期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72150" y="4181475"/>
            <a:ext cx="58864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H1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营收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11.52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亿元，超出招股书业绩预告区间上限（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10.52–11.28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亿元）。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591175" y="4667250"/>
            <a:ext cx="6096000" cy="904875"/>
          </a:xfrm>
          <a:custGeom>
            <a:pathLst>
              <a:path w="640" h="95">
                <a:moveTo>
                  <a:pt x="0" y="0"/>
                </a:moveTo>
                <a:lnTo>
                  <a:pt x="3" y="0"/>
                </a:lnTo>
                <a:lnTo>
                  <a:pt x="3" y="95"/>
                </a:lnTo>
                <a:lnTo>
                  <a:pt x="0" y="95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772150" y="4667250"/>
            <a:ext cx="5886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Arial"/>
                <a:ea typeface="Arial"/>
              </a:rPr>
              <a:t>盈利端已在修复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72150" y="4953000"/>
            <a:ext cx="58864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据业绩预告区间推算，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Q2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扣非净利率回升至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31.11%–34.42%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，较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Q1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约</a:t>
            </a:r>
            <a:r>
              <a:rPr lang="en-US" sz="1350">
                <a:solidFill>
                  <a:srgbClr val="44546A"/>
                </a:solidFill>
                <a:latin typeface="Arial"/>
                <a:ea typeface="Arial"/>
              </a:rPr>
              <a:t>9.5%</a:t>
            </a:r>
            <a:r>
              <a:rPr lang="zh-CN" sz="1350">
                <a:solidFill>
                  <a:srgbClr val="44546A"/>
                </a:solidFill>
                <a:latin typeface="Arial"/>
                <a:ea typeface="Arial"/>
              </a:rPr>
              <a:t>明显修复——费用前置的影响集中在一季度。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来源：上市公告书（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2026-08-17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）、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2026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年一季报；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Q2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扣非净利率为按预告区间的推算值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515725" y="6467475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11</a:t>
            </a:r>
            <a:endParaRPr/>
          </a:p>
        </p:txBody>
      </p:sp>
    </p:spTree>
  </p:cSld>
</p:sld>
</file>

<file path=ppt/slides/slide12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研发投入加码：2026H1半年投入接近2025全年，补齐&quot;大脑&quot;短板&lt;/Text&gt;&#10;        &lt;Box style={{ width: '100%', height: 1, background: '#061F32', marginTop: 12 }} /&gt;&#10;    &lt;/Box&gt;&#10;    &lt;Box style={{ flexDirection: 'row', flex: 1, gap: 32, alignItems: 'stretch', marginTop: 12 }}&gt;&#10;        &lt;Box style={{ width: '30%', background: '#061F32', padding: '28px 24px', flexDirection: 'column', justifyContent: 'center', gap: 20 }}&gt;&#10;            &lt;Text style={{ fontSize: 72, color: '#08A6F6', fontWeight: 'bold', fontFamily: 'Arial, &quot;PingFang SC&quot;, &quot;Microsoft YaHei&quot;, sans-serif' }}&gt;+152%&lt;/Text&gt;&#10;            &lt;Text style={{ fontSize: 18, color: '#FFFFFF', lineHeight: 1.5, fontFamily: 'Arial, &quot;PingFang SC&quot;, &quot;Microsoft YaHei&quot;, sans-serif' }}&gt;2026H1研发费用同比增速，半年投入1.36亿元已接近2025全年（1.45亿元）&lt;/Text&gt;&#10;            &lt;Box style={{ width: '100%', height: 1, background: '#44546A' }} /&gt;&#10;            &lt;Text style={{ fontSize: 16, color: '#99BDED', lineHeight: 1.5, fontFamily: 'Arial, &quot;PingFang SC&quot;, &quot;Microsoft YaHei&quot;, sans-serif' }}&gt;投向：具身智能大模型、运动控制算法、本体与结构研发；2025年前三季度云算力租赁费835万元，为2024全年的近8倍。&lt;/Text&gt;&#10;        &lt;/Box&gt;&#10;        &lt;Box style={{ flex: 1, flexDirection: 'column', justifyContent: 'center', gap: 12 }}&gt;&#10;            &lt;Chart&#10;                style={{ height: 380 }}&#10;                chartType='barChart'&#10;                title='研发费用（万元）'&#10;                titleColor='#061F32'&#10;                showLegend={false}&#10;                showDataLabels={true}&#10;                dataLabelColor='#061F32'&#10;                axisColor='#808080'&#10;                colors={['#001965']}&#10;                background='#FFFFFF'&#10;                data={[&#10;                    ['报告期', '研发费用'],&#10;                    ['2023', 4995],&#10;                    ['2024*', 6983],&#10;                    ['2025', 14497],&#10;                    ['2026H1', 13591],&#10;                ]}&#10;            /&gt;&#10;            &lt;Box style={{ background: '#F5F5F5', padding: '14px 20px', borderLeft: '3px solid #08A6F6' }}&gt;&#10;                &lt;Text style={{ fontSize: 17, color: '#061F32', lineHeight: 1.5, fontFamily: 'Arial, &quot;PingFang SC&quot;, &quot;Microsoft YaHei&quot;, sans-serif' }}&gt;2025年研发费用率8.53%，低于优必选（&amp;gt;25%）与科创板中位数（12.5%）——&lt;span style={{ fontWeight: 'bold' }}&gt;强项在&quot;小脑&quot;（本体/电机/运控），&quot;大脑&quot;（具身大模型）需要补课&lt;/span&gt;；IPO募投约36亿元投向三个研发项目提供资金保障。&lt;/Text&gt;&#10;            &lt;/Box&gt;&#10;        &lt;/Box&gt;&#10;    &lt;/Box&gt;&#10;    &lt;Box style={{ flexDirection: 'row', justifyContent: 'space-between', alignItems: 'center', marginTop: 12 }}&gt;&#10;        &lt;Text style={{ fontSize: 14, color: '#808080', fontFamily: 'Arial, &quot;PingFang SC&quot;, &quot;Microsoft YaHei&quot;, sans-serif' }}&gt;来源：招股说明书、上市公告书；*2024年研发费用为按17.8%费用率的推算值；可比公司数据为证券时报转引&lt;/Text&gt;&#10;        &lt;Text style={{ fontSize: 14, color: '#808080', fontFamily: 'Arial, &quot;PingFang SC&quot;, &quot;Microsoft YaHei&quot;, sans-serif' }}&gt;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研发投入加码：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2026H1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半年投入接近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2025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全年，补齐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大脑</a:t>
            </a:r>
            <a:r>
              <a:rPr lang="en-US" sz="2400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短板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533400" y="1028700"/>
            <a:ext cx="3333750" cy="532447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62000" y="2105025"/>
            <a:ext cx="28765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8A6F6"/>
                </a:solidFill>
                <a:latin typeface="Arial"/>
                <a:ea typeface="Arial"/>
              </a:rPr>
              <a:t>+152%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62000" y="3124200"/>
            <a:ext cx="28765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</a:rPr>
              <a:t>2026H1</a:t>
            </a:r>
            <a:r>
              <a:rPr lang="zh-CN" sz="1350">
                <a:solidFill>
                  <a:srgbClr val="FFFFFF"/>
                </a:solidFill>
                <a:latin typeface="Arial"/>
                <a:ea typeface="Arial"/>
              </a:rPr>
              <a:t>研发费用同比增速，半年投入</a:t>
            </a:r>
            <a:r>
              <a:rPr lang="en-US" sz="1350">
                <a:solidFill>
                  <a:srgbClr val="FFFFFF"/>
                </a:solidFill>
                <a:latin typeface="Arial"/>
                <a:ea typeface="Arial"/>
              </a:rPr>
              <a:t>1.36</a:t>
            </a:r>
            <a:r>
              <a:rPr lang="zh-CN" sz="1350">
                <a:solidFill>
                  <a:srgbClr val="FFFFFF"/>
                </a:solidFill>
                <a:latin typeface="Arial"/>
                <a:ea typeface="Arial"/>
              </a:rPr>
              <a:t>亿元已接近</a:t>
            </a:r>
            <a:r>
              <a:rPr lang="en-US" sz="1350">
                <a:solidFill>
                  <a:srgbClr val="FFFFFF"/>
                </a:solidFill>
                <a:latin typeface="Arial"/>
                <a:ea typeface="Arial"/>
              </a:rPr>
              <a:t>2025</a:t>
            </a:r>
            <a:r>
              <a:rPr lang="zh-CN" sz="1350">
                <a:solidFill>
                  <a:srgbClr val="FFFFFF"/>
                </a:solidFill>
                <a:latin typeface="Arial"/>
                <a:ea typeface="Arial"/>
              </a:rPr>
              <a:t>全年（</a:t>
            </a:r>
            <a:r>
              <a:rPr lang="en-US" sz="1350">
                <a:solidFill>
                  <a:srgbClr val="FFFFFF"/>
                </a:solidFill>
                <a:latin typeface="Arial"/>
                <a:ea typeface="Arial"/>
              </a:rPr>
              <a:t>1.45</a:t>
            </a:r>
            <a:r>
              <a:rPr lang="zh-CN" sz="1350">
                <a:solidFill>
                  <a:srgbClr val="FFFFFF"/>
                </a:solidFill>
                <a:latin typeface="Arial"/>
                <a:ea typeface="Arial"/>
              </a:rPr>
              <a:t>亿元）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762000" y="4248150"/>
            <a:ext cx="2876550" cy="952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62000" y="4448175"/>
            <a:ext cx="28765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投向：具身智能大模型、运动控制算法、本体与结构研发；</a:t>
            </a: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2025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年前三季度云算力租赁费</a:t>
            </a: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835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万元，为</a:t>
            </a: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2024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全年的近</a:t>
            </a: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8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倍。</a:t>
            </a:r>
            <a:endParaRPr/>
          </a:p>
        </p:txBody>
      </p:sp>
      <p:graphicFrame>
        <p:nvGraphicFramePr>
          <p:cNvPr id="47" name="47"/>
          <p:cNvGraphicFramePr/>
          <p:nvPr/>
        </p:nvGraphicFramePr>
        <p:xfrm rot="0" flipH="0" flipV="0">
          <a:off x="4171950" y="1257300"/>
          <a:ext cx="7486650" cy="3619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48" name=""/>
          <p:cNvSpPr/>
          <p:nvPr/>
        </p:nvSpPr>
        <p:spPr>
          <a:xfrm rot="0" flipH="0" flipV="0">
            <a:off x="4200525" y="4991100"/>
            <a:ext cx="7486650" cy="1143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4171950" y="4991100"/>
            <a:ext cx="7515225" cy="1143000"/>
          </a:xfrm>
          <a:custGeom>
            <a:pathLst>
              <a:path w="789" h="120">
                <a:moveTo>
                  <a:pt x="0" y="0"/>
                </a:moveTo>
                <a:lnTo>
                  <a:pt x="3" y="0"/>
                </a:lnTo>
                <a:lnTo>
                  <a:pt x="3" y="120"/>
                </a:lnTo>
                <a:lnTo>
                  <a:pt x="0" y="120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391025" y="5124450"/>
            <a:ext cx="70770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061F32"/>
                </a:solidFill>
                <a:latin typeface="Arial"/>
                <a:ea typeface="Arial"/>
              </a:rPr>
              <a:t>2025</a:t>
            </a:r>
            <a:r>
              <a:rPr lang="zh-CN" sz="1275">
                <a:solidFill>
                  <a:srgbClr val="061F32"/>
                </a:solidFill>
                <a:latin typeface="Arial"/>
                <a:ea typeface="Arial"/>
              </a:rPr>
              <a:t>年研发费用率</a:t>
            </a:r>
            <a:r>
              <a:rPr lang="en-US" sz="1275">
                <a:solidFill>
                  <a:srgbClr val="061F32"/>
                </a:solidFill>
                <a:latin typeface="Arial"/>
                <a:ea typeface="Arial"/>
              </a:rPr>
              <a:t>8.53%</a:t>
            </a:r>
            <a:r>
              <a:rPr lang="zh-CN" sz="1275">
                <a:solidFill>
                  <a:srgbClr val="061F32"/>
                </a:solidFill>
                <a:latin typeface="Arial"/>
                <a:ea typeface="Arial"/>
              </a:rPr>
              <a:t>，低于优必选（</a:t>
            </a:r>
            <a:r>
              <a:rPr lang="en-US" sz="1275">
                <a:solidFill>
                  <a:srgbClr val="061F32"/>
                </a:solidFill>
                <a:latin typeface="Arial"/>
                <a:ea typeface="Arial"/>
              </a:rPr>
              <a:t>&gt;25%</a:t>
            </a:r>
            <a:r>
              <a:rPr lang="zh-CN" sz="1275">
                <a:solidFill>
                  <a:srgbClr val="061F32"/>
                </a:solidFill>
                <a:latin typeface="Arial"/>
                <a:ea typeface="Arial"/>
              </a:rPr>
              <a:t>）与科创板中位数（</a:t>
            </a:r>
            <a:r>
              <a:rPr lang="en-US" sz="1275">
                <a:solidFill>
                  <a:srgbClr val="061F32"/>
                </a:solidFill>
                <a:latin typeface="Arial"/>
                <a:ea typeface="Arial"/>
              </a:rPr>
              <a:t>12.5%</a:t>
            </a:r>
            <a:r>
              <a:rPr lang="zh-CN" sz="1275">
                <a:solidFill>
                  <a:srgbClr val="061F32"/>
                </a:solidFill>
                <a:latin typeface="Arial"/>
                <a:ea typeface="Arial"/>
              </a:rPr>
              <a:t>）——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强项在</a:t>
            </a:r>
            <a:r>
              <a:rPr lang="en-US" sz="1275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小脑</a:t>
            </a:r>
            <a:r>
              <a:rPr lang="en-US" sz="1275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（本体</a:t>
            </a:r>
            <a:r>
              <a:rPr lang="en-US" sz="1275" b="1">
                <a:solidFill>
                  <a:srgbClr val="061F32"/>
                </a:solidFill>
                <a:latin typeface="Arial"/>
                <a:ea typeface="Arial"/>
              </a:rPr>
              <a:t>/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电机</a:t>
            </a:r>
            <a:r>
              <a:rPr lang="en-US" sz="1275" b="1">
                <a:solidFill>
                  <a:srgbClr val="061F32"/>
                </a:solidFill>
                <a:latin typeface="Arial"/>
                <a:ea typeface="Arial"/>
              </a:rPr>
              <a:t>/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运控），</a:t>
            </a:r>
            <a:r>
              <a:rPr lang="en-US" sz="1275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大脑</a:t>
            </a:r>
            <a:r>
              <a:rPr lang="en-US" sz="1275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（具身大模型）需要补课</a:t>
            </a:r>
            <a:r>
              <a:rPr lang="zh-CN" sz="1275">
                <a:solidFill>
                  <a:srgbClr val="061F32"/>
                </a:solidFill>
                <a:latin typeface="Arial"/>
                <a:ea typeface="Arial"/>
              </a:rPr>
              <a:t>；</a:t>
            </a:r>
            <a:r>
              <a:rPr lang="en-US" sz="1275">
                <a:solidFill>
                  <a:srgbClr val="061F32"/>
                </a:solidFill>
                <a:latin typeface="Arial"/>
                <a:ea typeface="Arial"/>
              </a:rPr>
              <a:t>IPO</a:t>
            </a:r>
            <a:r>
              <a:rPr lang="zh-CN" sz="1275">
                <a:solidFill>
                  <a:srgbClr val="061F32"/>
                </a:solidFill>
                <a:latin typeface="Arial"/>
                <a:ea typeface="Arial"/>
              </a:rPr>
              <a:t>募投约</a:t>
            </a:r>
            <a:r>
              <a:rPr lang="en-US" sz="1275">
                <a:solidFill>
                  <a:srgbClr val="061F32"/>
                </a:solidFill>
                <a:latin typeface="Arial"/>
                <a:ea typeface="Arial"/>
              </a:rPr>
              <a:t>36</a:t>
            </a:r>
            <a:r>
              <a:rPr lang="zh-CN" sz="1275">
                <a:solidFill>
                  <a:srgbClr val="061F32"/>
                </a:solidFill>
                <a:latin typeface="Arial"/>
                <a:ea typeface="Arial"/>
              </a:rPr>
              <a:t>亿元投向三个研发项目提供资金保障。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646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来源：招股说明书、上市公告书；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*2024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年研发费用为按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17.8%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费用率的推算值；可比公司数据为证券时报转引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5062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12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53" name="" descr="&lt;Slide style={{ width: '1280px', height: '720px', background: '#062032', padding: '0px 88px', flexDirection: 'row', alignItems: 'center' }}&gt;&#10;    &lt;Box style={{ flexDirection: 'row', alignItems: 'center', gap: 64, width: '100%' }}&gt;&#10;        &lt;Text style={{ fontSize: 260, color: '#FFFFFF', opacity: 0.14, fontWeight: 'bold', fontFamily: 'Arial, &quot;PingFang SC&quot;, &quot;Microsoft YaHei&quot;, sans-serif' }}&gt;04&lt;/Text&gt;&#10;        &lt;Box style={{ flexDirection: 'column', gap: 16 }}&gt;&#10;            &lt;Text style={{ fontSize: 48, color: '#FFFFFF', fontWeight: 'bold', fontFamily: 'Arial, &quot;PingFang SC&quot;, &quot;Microsoft YaHei&quot;, sans-serif' }}&gt;竞争力与展望&lt;/Text&gt;&#10;            &lt;Text style={{ fontSize: 20, color: '#99BDED', letterSpacing: 2, fontFamily: 'Arial, &quot;PingFang SC&quot;, &quot;Microsoft YaHei&quot;, sans-serif' }}&gt;Moat &amp;amp; Outlook&lt;/Text&gt;&#10;            &lt;Text style={{ fontSize: 18, color: '#808080', lineHeight: 1.5, fontFamily: 'Arial, &quot;PingFang SC&quot;, &quot;Microsoft YaHei&quot;, sans-serif' }}&gt;五大优势构成盈利护城河，三大变量决定后续弹性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210050" y="2733675"/>
            <a:ext cx="37719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Arial"/>
                <a:ea typeface="Arial"/>
              </a:rPr>
              <a:t>竞争力与展望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210050" y="3438525"/>
            <a:ext cx="3771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9BDED"/>
                </a:solidFill>
                <a:latin typeface="Arial"/>
                <a:ea typeface="Arial"/>
              </a:rPr>
              <a:t>Moat &amp; Outlook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210050" y="3819525"/>
            <a:ext cx="37719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808080"/>
                </a:solidFill>
                <a:latin typeface="Arial"/>
                <a:ea typeface="Arial"/>
              </a:rPr>
              <a:t>五大优势构成盈利护城河，三大变量决定后续弹性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38200" y="1943100"/>
            <a:ext cx="276225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4000"/>
                  </a:srgbClr>
                </a:solidFill>
                <a:latin typeface="Arial"/>
                <a:ea typeface="Arial"/>
              </a:rPr>
              <a:t>04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9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五大优势构成盈利护城河：全栈自研是毛利率领先的根本&lt;/Text&gt;&#10;        &lt;Box style={{ width: '100%', height: 1, background: '#061F32', marginTop: 12 }} /&gt;&#10;    &lt;/Box&gt;&#10;    &lt;Box style={{ flexDirection: 'row', flex: 1, alignItems: 'center', marginTop: 4 }}&gt;&#10;        &lt;Box style={{ position: 'relative', width: '100%', height: 490 }}&gt;&#10;            &lt;svg width={1168} height={490} viewBox='0 0 1168 490' style={{ position: 'absolute', top: 0, left: 0, zIndex: 0 }}&gt;&#10;                &lt;path d='M584 250 L170 66' fill='none' stroke='#99BDED' strokeWidth='1' /&gt;&#10;                &lt;path d='M584 250 L998 66' fill='none' stroke='#99BDED' strokeWidth='1' /&gt;&#10;                &lt;path d='M584 250 L170 434' fill='none' stroke='#99BDED' strokeWidth='1' /&gt;&#10;                &lt;path d='M584 250 L998 434' fill='none' stroke='#99BDED' strokeWidth='1' /&gt;&#10;                &lt;path d='M584 250 L584 440' fill='none' stroke='#99BDED' strokeWidth='1' /&gt;&#10;            &lt;/svg&gt;&#10;            &lt;Box style={{ position: 'absolute', left: 479, top: 195, width: 210, height: 110, background: '#061F32', borderRadius: 4, zIndex: 1, justifyContent: 'center', alignItems: 'center', gap: 4 }}&gt;&#10;                &lt;Text style={{ fontSize: 24, color: '#FFFFFF', fontWeight: 'bold', fontFamily: 'Arial, &quot;PingFang SC&quot;, &quot;Microsoft YaHei&quot;, sans-serif' }}&gt;规模化盈利&lt;/Text&gt;&#10;                &lt;Text style={{ fontSize: 15, color: '#99BDED', fontFamily: 'Arial, &quot;PingFang SC&quot;, &quot;Microsoft YaHei&quot;, sans-serif' }}&gt;全球少数&quot;规模+盈利&quot;双兑现&lt;/Text&gt;&#10;            &lt;/Box&gt;&#10;            &lt;Box style={{ position: 'absolute', left: 20, top: 16, width: 300, height: 100, background: '#FFFFFF', border: '1px solid #061F32', borderRadius: 4, zIndex: 1, padding: '12px 16px', flexDirection: 'column', gap: 4 }}&gt;&#10;                &lt;Text style={{ fontSize: 19, color: '#061F32', fontWeight: 'bold', fontFamily: 'Arial, &quot;PingFang SC&quot;, &quot;Microsoft YaHei&quot;, sans-serif' }}&gt;① 全栈自研自产&lt;/Text&gt;&#10;                &lt;Text style={{ fontSize: 14, color: '#44546A', lineHeight: 1.4, fontFamily: 'Arial, &quot;PingFang SC&quot;, &quot;Microsoft YaHei&quot;, sans-serif' }}&gt;核心部组件自研+自有产线，成为产品定价锚定者；毛利率约60%显著高于可比公司的根本原因&lt;/Text&gt;&#10;            &lt;/Box&gt;&#10;            &lt;Box style={{ position: 'absolute', left: 848, top: 16, width: 300, height: 100, background: '#FFFFFF', border: '1px solid #061F32', borderRadius: 4, zIndex: 1, padding: '12px 16px', flexDirection: 'column', gap: 4 }}&gt;&#10;                &lt;Text style={{ fontSize: 19, color: '#061F32', fontWeight: 'bold', fontFamily: 'Arial, &quot;PingFang SC&quot;, &quot;Microsoft YaHei&quot;, sans-serif' }}&gt;② 盈利稀缺性&lt;/Text&gt;&#10;                &lt;Text style={{ fontSize: 14, color: '#44546A', lineHeight: 1.4, fontFamily: 'Arial, &quot;PingFang SC&quot;, &quot;Microsoft YaHei&quot;, sans-serif' }}&gt;2024年起持续盈利，2025年扣非净利率约34.8%，经营净流入超6.7亿元同步验证盈利质量&lt;/Text&gt;&#10;            &lt;/Box&gt;&#10;            &lt;Box style={{ position: 'absolute', left: 20, top: 384, width: 300, height: 100, background: '#FFFFFF', border: '1px solid #061F32', borderRadius: 4, zIndex: 1, padding: '12px 16px', flexDirection: 'column', gap: 4 }}&gt;&#10;                &lt;Text style={{ fontSize: 19, color: '#061F32', fontWeight: 'bold', fontFamily: 'Arial, &quot;PingFang SC&quot;, &quot;Microsoft YaHei&quot;, sans-serif' }}&gt;③ 出货量全球第一&lt;/Text&gt;&#10;                &lt;Text style={{ fontSize: 14, color: '#44546A', lineHeight: 1.4, fontFamily: 'Arial, &quot;PingFang SC&quot;, &quot;Microsoft YaHei&quot;, sans-serif' }}&gt;2025年人形出货5,500+台全球第一；Figure AI约150台（21世纪经济报道转引），规模-数据-成本正循环&lt;/Text&gt;&#10;            &lt;/Box&gt;&#10;            &lt;Box style={{ position: 'absolute', left: 848, top: 384, width: 300, height: 100, background: '#FFFFFF', border: '1px solid #061F32', borderRadius: 4, zIndex: 1, padding: '12px 16px', flexDirection: 'column', gap: 4 }}&gt;&#10;                &lt;Text style={{ fontSize: 19, color: '#061F32', fontWeight: 'bold', fontFamily: 'Arial, &quot;PingFang SC&quot;, &quot;Microsoft YaHei&quot;, sans-serif' }}&gt;④ 品牌与渠道势能&lt;/Text&gt;&#10;                &lt;Text style={{ fontSize: 14, color: '#44546A', lineHeight: 1.4, fontFamily: 'Arial, &quot;PingFang SC&quot;, &quot;Microsoft YaHei&quot;, sans-serif' }}&gt;2025年央视春晚人形机器人演出&quot;一战成名&quot;，境内市场快速打开，2026年延续品牌推广策略&lt;/Text&gt;&#10;            &lt;/Box&gt;&#10;            &lt;Box style={{ position: 'absolute', left: 434, top: 390, width: 300, height: 96, background: '#FFFFFF', border: '1px solid #061F32', borderRadius: 4, zIndex: 1, padding: '12px 16px', flexDirection: 'column', gap: 4 }}&gt;&#10;                &lt;Text style={{ fontSize: 19, color: '#061F32', fontWeight: 'bold', fontFamily: 'Arial, &quot;PingFang SC&quot;, &quot;Microsoft YaHei&quot;, sans-serif' }}&gt;⑤ 资金与股东资源&lt;/Text&gt;&#10;                &lt;Text style={{ fontSize: 14, color: '#44546A', lineHeight: 1.4, fontFamily: 'Arial, &quot;PingFang SC&quot;, &quot;Microsoft YaHei&quot;, sans-serif' }}&gt;IPO募资42.02亿元到账，叠加美团、蚂蚁、红杉中国、腾讯、阿里等产业与财务股东&lt;/Text&gt;&#10;            &lt;/Box&gt;&#10;        &lt;/Box&gt;&#10;    &lt;/Box&gt;&#10;    &lt;Box style={{ flexDirection: 'row', justifyContent: 'space-between', alignItems: 'center', marginTop: 8 }}&gt;&#10;        &lt;Text style={{ fontSize: 14, color: '#808080', fontFamily: 'Arial, &quot;PingFang SC&quot;, &quot;Microsoft YaHei&quot;, sans-serif' }}&gt;来源：招股说明书（含问询回复）、2025年年度报告、上市公告书；Figure AI出货量为媒体转引&lt;/Text&gt;&#10;        &lt;Text style={{ fontSize: 14, color: '#808080', fontFamily: 'Arial, &quot;PingFang SC&quot;, &quot;Microsoft YaHei&quot;, sans-serif' }}&gt;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五大优势构成盈利护城河：全栈自研是毛利率领先的根本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563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来源：招股说明书（含问询回复）、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年年度报告、上市公告书；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Figure AI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出货量为媒体转引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5062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14</a:t>
            </a:r>
            <a:endParaRPr/>
          </a:p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3400" y="1343025"/>
            <a:ext cx="11125200" cy="4667250"/>
          </a:xfrm>
          <a:prstGeom prst="rect">
            <a:avLst/>
          </a:prstGeom>
          <a:ln/>
        </p:spPr>
      </p:pic>
      <p:sp>
        <p:nvSpPr>
          <p:cNvPr id="66" name=""/>
          <p:cNvSpPr/>
          <p:nvPr/>
        </p:nvSpPr>
        <p:spPr>
          <a:xfrm rot="0" flipH="0" flipV="0">
            <a:off x="5095875" y="3200400"/>
            <a:ext cx="2000250" cy="1047750"/>
          </a:xfrm>
          <a:prstGeom prst="roundRect">
            <a:avLst>
              <a:gd name="adj" fmla="val 3636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524500" y="34861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Arial"/>
                <a:ea typeface="Arial"/>
              </a:rPr>
              <a:t>规模化盈利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219700" y="38004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全球少数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>"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规模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>+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盈利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>"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双兑现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723900" y="1495425"/>
            <a:ext cx="2857500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76300" y="1609725"/>
            <a:ext cx="2552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>① 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全栈自研自产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76300" y="1866900"/>
            <a:ext cx="2552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核心部组件自研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+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自有产线，成为产品定价锚定者；毛利率约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60%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显著高于可比公司的根本原因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8610600" y="1495425"/>
            <a:ext cx="2857500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763000" y="1609725"/>
            <a:ext cx="2552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>② 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盈利稀缺性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763000" y="1866900"/>
            <a:ext cx="2552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2024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年起持续盈利，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年扣非净利率约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34.8%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，经营净流入超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6.7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亿元同步验证盈利质量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23900" y="5000625"/>
            <a:ext cx="2857500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76300" y="5114925"/>
            <a:ext cx="2552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>③ 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出货量全球第一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76300" y="5372100"/>
            <a:ext cx="2552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年人形出货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5,500+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台全球第一；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Figure AI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约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150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台（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21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世纪经济报道转引），规模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-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数据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-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成本正循环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610600" y="5000625"/>
            <a:ext cx="2857500" cy="95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763000" y="5114925"/>
            <a:ext cx="2552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>④ 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品牌与渠道势能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763000" y="5372100"/>
            <a:ext cx="2552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年央视春晚人形机器人演出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一战成名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，境内市场快速打开，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2026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年延续品牌推广策略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4667250" y="5057775"/>
            <a:ext cx="28575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061F32"/>
            </a:solidFill>
            <a:prstDash val="solid"/>
          </a:ln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819650" y="5172075"/>
            <a:ext cx="2552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>⑤ 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资金与股东资源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819650" y="5429250"/>
            <a:ext cx="2552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IPO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募资</a:t>
            </a:r>
            <a:r>
              <a:rPr lang="en-US" sz="1050">
                <a:solidFill>
                  <a:srgbClr val="44546A"/>
                </a:solidFill>
                <a:latin typeface="Arial"/>
                <a:ea typeface="Arial"/>
              </a:rPr>
              <a:t>42.02</a:t>
            </a:r>
            <a:r>
              <a:rPr lang="zh-CN" sz="1050">
                <a:solidFill>
                  <a:srgbClr val="44546A"/>
                </a:solidFill>
                <a:latin typeface="Arial"/>
                <a:ea typeface="Arial"/>
              </a:rPr>
              <a:t>亿元到账，叠加美团、蚂蚁、红杉中国、腾讯、阿里等产业与财务股东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84" name="" descr="&lt;Slide style={{ width: '1280px', height: '720px', background: '#FFFFFF', padding: '44px 56px 24px 56px', flexDirection: 'column' }}&gt;&#10;    &lt;Box style={{ flexDirection: 'column' }}&gt;&#10;        &lt;Text style={{ fontSize: 32, color: '#061F32', fontWeight: 'bold', fontFamily: 'Arial, &quot;PingFang SC&quot;, &quot;Microsoft YaHei&quot;, sans-serif' }}&gt;展望：三大增长变量决定弹性，三类风险决定底线&lt;/Text&gt;&#10;        &lt;Box style={{ width: '100%', height: 1, background: '#061F32', marginTop: 12 }} /&gt;&#10;    &lt;/Box&gt;&#10;    &lt;Box style={{ flexDirection: 'row', flex: 1, gap: 32, marginTop: 16 }}&gt;&#10;        &lt;Box style={{ flex: 1, flexDirection: 'column', gap: 16 }}&gt;&#10;            &lt;Box style={{ background: '#061F32', padding: '10px 20px' }}&gt;&#10;                &lt;Text style={{ fontSize: 22, color: '#FFFFFF', fontWeight: 'bold', fontFamily: 'Arial, &quot;PingFang SC&quot;, &quot;Microsoft YaHei&quot;, sans-serif' }}&gt;增长变量&lt;/Text&gt;&#10;            &lt;/Box&gt;&#10;            &lt;Box style={{ flexDirection: 'row', gap: 14, alignItems: 'flex-start', borderTop: '1px solid #E7E6E6', paddingTop: 14 }}&gt;&#10;                &lt;Box style={{ width: 28, height: 28, background: '#061F32', borderRadius: 4, justifyContent: 'center', alignItems: 'center', marginTop: 2 }}&gt;&lt;Text style={{ fontSize: 16, color: '#FFFFFF', fontWeight: 'bold', fontFamily: 'Arial, &quot;PingFang SC&quot;, &quot;Microsoft YaHei&quot;, sans-serif' }}&gt;1&lt;/Text&gt;&lt;/Box&gt;&#10;                &lt;Box style={{ flex: 1, flexDirection: 'column', gap: 4 }}&gt;&#10;                    &lt;Text style={{ fontSize: 19, color: '#061F32', fontWeight: 'bold', fontFamily: 'Arial, &quot;PingFang SC&quot;, &quot;Microsoft YaHei&quot;, sans-serif' }}&gt;工业/商用订单兑现（最关键）&lt;/Text&gt;&#10;                    &lt;Text style={{ fontSize: 16, color: '#44546A', lineHeight: 1.45, fontFamily: 'Arial, &quot;PingFang SC&quot;, &quot;Microsoft YaHei&quot;, sans-serif' }}&gt;下游73.6%集中于科研教育（2025年前三季度占人形收入）；工业订单放量决定营收能否重回高增长。&lt;/Text&gt;&#10;                &lt;/Box&gt;&#10;            &lt;/Box&gt;&#10;            &lt;Box style={{ flexDirection: 'row', gap: 14, alignItems: 'flex-start', borderTop: '1px solid #E7E6E6', paddingTop: 14 }}&gt;&#10;                &lt;Box style={{ width: 28, height: 28, background: '#061F32', borderRadius: 4, justifyContent: 'center', alignItems: 'center', marginTop: 2 }}&gt;&lt;Text style={{ fontSize: 16, color: '#FFFFFF', fontWeight: 'bold', fontFamily: 'Arial, &quot;PingFang SC&quot;, &quot;Microsoft YaHei&quot;, sans-serif' }}&gt;2&lt;/Text&gt;&lt;/Box&gt;&#10;                &lt;Box style={{ flex: 1, flexDirection: 'column', gap: 4 }}&gt;&#10;                    &lt;Text style={{ fontSize: 19, color: '#061F32', fontWeight: 'bold', fontFamily: 'Arial, &quot;PingFang SC&quot;, &quot;Microsoft YaHei&quot;, sans-serif' }}&gt;&quot;大脑&quot;能力补强进度&lt;/Text&gt;&#10;                    &lt;Text style={{ fontSize: 16, color: '#44546A', lineHeight: 1.45, fontFamily: 'Arial, &quot;PingFang SC&quot;, &quot;Microsoft YaHei&quot;, sans-serif' }}&gt;募投约36亿元投向三个研发项目；具身大模型与运控融合决定产品能否从&quot;表演科研&quot;升级为&quot;可干活&quot;。&lt;/Text&gt;&#10;                &lt;/Box&gt;&#10;            &lt;/Box&gt;&#10;            &lt;Box style={{ flexDirection: 'row', gap: 14, alignItems: 'flex-start', borderTop: '1px solid #E7E6E6', paddingTop: 14 }}&gt;&#10;                &lt;Box style={{ width: 28, height: 28, background: '#061F32', borderRadius: 4, justifyContent: 'center', alignItems: 'center', marginTop: 2 }}&gt;&lt;Text style={{ fontSize: 16, color: '#FFFFFF', fontWeight: 'bold', fontFamily: 'Arial, &quot;PingFang SC&quot;, &quot;Microsoft YaHei&quot;, sans-serif' }}&gt;3&lt;/Text&gt;&lt;/Box&gt;&#10;                &lt;Box style={{ flex: 1, flexDirection: 'column', gap: 4 }}&gt;&#10;                    &lt;Text style={{ fontSize: 19, color: '#061F32', fontWeight: 'bold', fontFamily: 'Arial, &quot;PingFang SC&quot;, &quot;Microsoft YaHei&quot;, sans-serif' }}&gt;海外渗透与组件生态&lt;/Text&gt;&#10;                    &lt;Text style={{ fontSize: 16, color: '#44546A', lineHeight: 1.45, fontFamily: 'Arial, &quot;PingFang SC&quot;, &quot;Microsoft YaHei&quot;, sans-serif' }}&gt;境外收入占比43.06%仍是重要来源；组件业务毛利率60%+，有望贡献第二增长曲线。&lt;/Text&gt;&#10;                &lt;/Box&gt;&#10;            &lt;/Box&gt;&#10;        &lt;/Box&gt;&#10;        &lt;Box style={{ flex: 1, flexDirection: 'column', gap: 16 }}&gt;&#10;            &lt;Box style={{ background: '#5A0E13', padding: '10px 20px' }}&gt;&#10;                &lt;Text style={{ fontSize: 22, color: '#FFFFFF', fontWeight: 'bold', fontFamily: 'Arial, &quot;PingFang SC&quot;, &quot;Microsoft YaHei&quot;, sans-serif' }}&gt;主要风险&lt;/Text&gt;&#10;            &lt;/Box&gt;&#10;            &lt;Box style={{ flexDirection: 'row', gap: 14, alignItems: 'flex-start', borderTop: '1px solid #E7E6E6', paddingTop: 14 }}&gt;&#10;                &lt;Box style={{ width: 28, height: 28, background: '#5A0E13', borderRadius: 4, justifyContent: 'center', alignItems: 'center', marginTop: 2 }}&gt;&lt;Text style={{ fontSize: 16, color: '#FFFFFF', fontWeight: 'bold', fontFamily: 'Arial, &quot;PingFang SC&quot;, &quot;Microsoft YaHei&quot;, sans-serif' }}&gt;1&lt;/Text&gt;&lt;/Box&gt;&#10;                &lt;Box style={{ flex: 1, flexDirection: 'column', gap: 4 }}&gt;&#10;                    &lt;Text style={{ fontSize: 19, color: '#061F32', fontWeight: 'bold', fontFamily: 'Arial, &quot;PingFang SC&quot;, &quot;Microsoft YaHei&quot;, sans-serif' }}&gt;竞争加剧与场景集中&lt;/Text&gt;&#10;                    &lt;Text style={{ fontSize: 16, color: '#44546A', lineHeight: 1.45, fontFamily: 'Arial, &quot;PingFang SC&quot;, &quot;Microsoft YaHei&quot;, sans-serif' }}&gt;整车厂、消费电子企业及智元、优必选加速入局；若工业化落地慢于预期，收入持续性受影响。&lt;/Text&gt;&#10;                &lt;/Box&gt;&#10;            &lt;/Box&gt;&#10;            &lt;Box style={{ flexDirection: 'row', gap: 14, alignItems: 'flex-start', borderTop: '1px solid #E7E6E6', paddingTop: 14 }}&gt;&#10;                &lt;Box style={{ width: 28, height: 28, background: '#5A0E13', borderRadius: 4, justifyContent: 'center', alignItems: 'center', marginTop: 2 }}&gt;&lt;Text style={{ fontSize: 16, color: '#FFFFFF', fontWeight: 'bold', fontFamily: 'Arial, &quot;PingFang SC&quot;, &quot;Microsoft YaHei&quot;, sans-serif' }}&gt;2&lt;/Text&gt;&lt;/Box&gt;&#10;                &lt;Box style={{ flex: 1, flexDirection: 'column', gap: 4 }}&gt;&#10;                    &lt;Text style={{ fontSize: 19, color: '#061F32', fontWeight: 'bold', fontFamily: 'Arial, &quot;PingFang SC&quot;, &quot;Microsoft YaHei&quot;, sans-serif' }}&gt;毛利率下行&lt;/Text&gt;&#10;                    &lt;Text style={{ fontSize: 16, color: '#44546A', lineHeight: 1.45, fontFamily: 'Arial, &quot;PingFang SC&quot;, &quot;Microsoft YaHei&quot;, sans-serif' }}&gt;以价换量下人形毛利率由87.7%（2023）收窄至62.9%（2025前三季），2026H1整体毛利率降至56.01%。&lt;/Text&gt;&#10;                &lt;/Box&gt;&#10;            &lt;/Box&gt;&#10;            &lt;Box style={{ flexDirection: 'row', gap: 14, alignItems: 'flex-start', borderTop: '1px solid #E7E6E6', paddingTop: 14 }}&gt;&#10;                &lt;Box style={{ width: 28, height: 28, background: '#5A0E13', borderRadius: 4, justifyContent: 'center', alignItems: 'center', marginTop: 2 }}&gt;&lt;Text style={{ fontSize: 16, color: '#FFFFFF', fontWeight: 'bold', fontFamily: 'Arial, &quot;PingFang SC&quot;, &quot;Microsoft YaHei&quot;, sans-serif' }}&gt;3&lt;/Text&gt;&lt;/Box&gt;&#10;                &lt;Box style={{ flex: 1, flexDirection: 'column', gap: 4 }}&gt;&#10;                    &lt;Text style={{ fontSize: 19, color: '#061F32', fontWeight: 'bold', fontFamily: 'Arial, &quot;PingFang SC&quot;, &quot;Microsoft YaHei&quot;, sans-serif' }}&gt;高估值消化&lt;/Text&gt;&#10;                    &lt;Text style={{ fontSize: 16, color: '#44546A', lineHeight: 1.45, fontFamily: 'Arial, &quot;PingFang SC&quot;, &quot;Microsoft YaHei&quot;, sans-serif' }}&gt;发行市盈率约219倍；若业绩兑现低于预期，估值存在回调压力。机构预测分歧大（野村2026E营收26.87亿 vs 招商30.97亿），&lt;span style={{ fontWeight: 'bold' }}&gt;均为预测、非事实&lt;/span&gt;。&lt;/Text&gt;&#10;                &lt;/Box&gt;&#10;            &lt;/Box&gt;&#10;        &lt;/Box&gt;&#10;    &lt;/Box&gt;&#10;    &lt;Box style={{ flexDirection: 'row', justifyContent: 'space-between', alignItems: 'center', marginTop: 12 }}&gt;&#10;        &lt;Text style={{ fontSize: 14, color: '#808080', fontFamily: 'Arial, &quot;PingFang SC&quot;, &quot;Microsoft YaHei&quot;, sans-serif' }}&gt;来源：招股说明书、上市公告书、2025年年度报告；机构预测为媒体转引、未经研报原文核验&lt;/Text&gt;&#10;        &lt;Text style={{ fontSize: 14, color: '#808080', fontFamily: 'Arial, &quot;PingFang SC&quot;, &quot;Microsoft YaHei&quot;, sans-serif' }}&gt;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Arial"/>
                <a:ea typeface="Arial"/>
              </a:rPr>
              <a:t>展望：三大增长变量决定弹性，三类风险决定底线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533400" y="1066800"/>
            <a:ext cx="5410200" cy="44767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23900" y="1162050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Arial"/>
                <a:ea typeface="Arial"/>
              </a:rPr>
              <a:t>增长变量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33400" y="1666875"/>
            <a:ext cx="5410200" cy="942975"/>
          </a:xfrm>
          <a:custGeom>
            <a:pathLst>
              <a:path w="568" h="99">
                <a:moveTo>
                  <a:pt x="0" y="0"/>
                </a:moveTo>
                <a:lnTo>
                  <a:pt x="568" y="0"/>
                </a:lnTo>
                <a:lnTo>
                  <a:pt x="568" y="1"/>
                </a:lnTo>
                <a:lnTo>
                  <a:pt x="0" y="1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533400" y="18288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28650" y="18669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33450" y="1809750"/>
            <a:ext cx="501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工业</a:t>
            </a: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>/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商用订单兑现（最关键）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33450" y="2066925"/>
            <a:ext cx="5010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下游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73.6%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集中于科研教育（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年前三季度占人形收入）；工业订单放量决定营收能否重回高增长。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533400" y="2752725"/>
            <a:ext cx="5410200" cy="942975"/>
          </a:xfrm>
          <a:custGeom>
            <a:pathLst>
              <a:path w="568" h="99">
                <a:moveTo>
                  <a:pt x="0" y="0"/>
                </a:moveTo>
                <a:lnTo>
                  <a:pt x="568" y="0"/>
                </a:lnTo>
                <a:lnTo>
                  <a:pt x="568" y="1"/>
                </a:lnTo>
                <a:lnTo>
                  <a:pt x="0" y="1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533400" y="291465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28650" y="29527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33450" y="2895600"/>
            <a:ext cx="501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大脑</a:t>
            </a: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>"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能力补强进度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933450" y="3152775"/>
            <a:ext cx="5010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募投约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36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亿元投向三个研发项目；具身大模型与运控融合决定产品能否从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表演科研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升级为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可干活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533400" y="3838575"/>
            <a:ext cx="5410200" cy="942975"/>
          </a:xfrm>
          <a:custGeom>
            <a:pathLst>
              <a:path w="568" h="99">
                <a:moveTo>
                  <a:pt x="0" y="0"/>
                </a:moveTo>
                <a:lnTo>
                  <a:pt x="568" y="0"/>
                </a:lnTo>
                <a:lnTo>
                  <a:pt x="568" y="1"/>
                </a:lnTo>
                <a:lnTo>
                  <a:pt x="0" y="1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533400" y="40005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28650" y="40386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33450" y="3981450"/>
            <a:ext cx="501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海外渗透与组件生态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33450" y="4238625"/>
            <a:ext cx="5010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境外收入占比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43.06%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仍是重要来源；组件业务毛利率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60%+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，有望贡献第二增长曲线。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248400" y="1066800"/>
            <a:ext cx="5410200" cy="447675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438900" y="1162050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Arial"/>
                <a:ea typeface="Arial"/>
              </a:rPr>
              <a:t>主要风险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248400" y="1666875"/>
            <a:ext cx="5410200" cy="942975"/>
          </a:xfrm>
          <a:custGeom>
            <a:pathLst>
              <a:path w="568" h="99">
                <a:moveTo>
                  <a:pt x="0" y="0"/>
                </a:moveTo>
                <a:lnTo>
                  <a:pt x="568" y="0"/>
                </a:lnTo>
                <a:lnTo>
                  <a:pt x="568" y="1"/>
                </a:lnTo>
                <a:lnTo>
                  <a:pt x="0" y="1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6248400" y="18288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343650" y="18669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648450" y="1809750"/>
            <a:ext cx="501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竞争加剧与场景集中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648450" y="2066925"/>
            <a:ext cx="5010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整车厂、消费电子企业及智元、优必选加速入局；若工业化落地慢于预期，收入持续性受影响。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248400" y="2752725"/>
            <a:ext cx="5410200" cy="942975"/>
          </a:xfrm>
          <a:custGeom>
            <a:pathLst>
              <a:path w="568" h="99">
                <a:moveTo>
                  <a:pt x="0" y="0"/>
                </a:moveTo>
                <a:lnTo>
                  <a:pt x="568" y="0"/>
                </a:lnTo>
                <a:lnTo>
                  <a:pt x="568" y="1"/>
                </a:lnTo>
                <a:lnTo>
                  <a:pt x="0" y="1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6248400" y="291465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343650" y="29527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648450" y="2895600"/>
            <a:ext cx="501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毛利率下行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648450" y="3152775"/>
            <a:ext cx="5010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以价换量下人形毛利率由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87.7%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2023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）收窄至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62.9%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2025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前三季），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2026H1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整体毛利率降至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56.01%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248400" y="3838575"/>
            <a:ext cx="5410200" cy="942975"/>
          </a:xfrm>
          <a:custGeom>
            <a:pathLst>
              <a:path w="568" h="99">
                <a:moveTo>
                  <a:pt x="0" y="0"/>
                </a:moveTo>
                <a:lnTo>
                  <a:pt x="568" y="0"/>
                </a:lnTo>
                <a:lnTo>
                  <a:pt x="568" y="1"/>
                </a:lnTo>
                <a:lnTo>
                  <a:pt x="0" y="1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6248400" y="40005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343650" y="40386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648450" y="3981450"/>
            <a:ext cx="501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高估值消化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648450" y="4238625"/>
            <a:ext cx="5010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发行市盈率约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219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倍；若业绩兑现低于预期，估值存在回调压力。机构预测分歧大（野村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2026E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营收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26.87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亿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 vs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招商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30.97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亿），</a:t>
            </a:r>
            <a:r>
              <a:rPr lang="zh-CN" sz="1200" b="1">
                <a:solidFill>
                  <a:srgbClr val="44546A"/>
                </a:solidFill>
                <a:latin typeface="Arial"/>
                <a:ea typeface="Arial"/>
              </a:rPr>
              <a:t>均为预测、非事实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33400" y="6467475"/>
            <a:ext cx="550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来源：招股说明书、上市公告书、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2025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年年度报告；机构预测为媒体转引、未经研报原文核验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506200" y="6467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15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24" name="" descr="&lt;Slide style={{ width: '1280px', height: '720px', background: '#061F32', padding: '72px 88px 48px 88px', flexDirection: 'column', justifyContent: 'space-between' }}&gt;&#10;    &lt;Box style={{ flexDirection: 'column' }}&gt;&#10;        &lt;Box style={{ flexDirection: 'row', alignItems: 'center', gap: 16, marginBottom: 32 }}&gt;&#10;            &lt;Box style={{ width: 48, height: 4, background: '#08A6F6' }} /&gt;&#10;            &lt;Text style={{ fontSize: 18, color: '#08A6F6', letterSpacing: 4, fontFamily: 'Arial, &quot;PingFang SC&quot;, &quot;Microsoft YaHei&quot;, sans-serif' }}&gt;结论与跟踪&lt;/Text&gt;&#10;        &lt;/Box&gt;&#10;        &lt;Text style={{ fontSize: 44, color: '#FFFFFF', fontWeight: 'bold', lineHeight: 1.35, fontFamily: 'Arial, &quot;PingFang SC&quot;, &quot;Microsoft YaHei&quot;, sans-serif' }}&gt;&#10;            高成长已兑现、盈利质量稀缺；&lt;br /&gt;2026年看&quot;换挡后再加速&quot;的验证。&#10;        &lt;/Text&gt;&#10;    &lt;/Box&gt;&#10;    &lt;Box style={{ flexDirection: 'row', gap: 24 }}&gt;&#10;        &lt;Box style={{ flex: 1, borderTop: '2px solid #08A6F6', paddingTop: 16, flexDirection: 'column', gap: 8 }}&gt;&#10;            &lt;Text style={{ fontSize: 22, color: '#FFFFFF', fontWeight: 'bold', fontFamily: 'Arial, &quot;PingFang SC&quot;, &quot;Microsoft YaHei&quot;, sans-serif' }}&gt;跟踪一：工业订单&lt;/Text&gt;&#10;            &lt;Text style={{ fontSize: 16, color: '#99BDED', lineHeight: 1.5, fontFamily: 'Arial, &quot;PingFang SC&quot;, &quot;Microsoft YaHei&quot;, sans-serif' }}&gt;人形机器人从科教（占比73.6%）走向工业/商用的订单兑现节奏&lt;/Text&gt;&#10;        &lt;/Box&gt;&#10;        &lt;Box style={{ flex: 1, borderTop: '2px solid #08A6F6', paddingTop: 16, flexDirection: 'column', gap: 8 }}&gt;&#10;            &lt;Text style={{ fontSize: 22, color: '#FFFFFF', fontWeight: 'bold', fontFamily: 'Arial, &quot;PingFang SC&quot;, &quot;Microsoft YaHei&quot;, sans-serif' }}&gt;跟踪二：毛利率走势&lt;/Text&gt;&#10;            &lt;Text style={{ fontSize: 16, color: '#99BDED', lineHeight: 1.5, fontFamily: 'Arial, &quot;PingFang SC&quot;, &quot;Microsoft YaHei&quot;, sans-serif' }}&gt;2026H1已回落至56.01%，验证&quot;以价换量&quot;策略的可持续性&lt;/Text&gt;&#10;        &lt;/Box&gt;&#10;        &lt;Box style={{ flex: 1, borderTop: '2px solid #08A6F6', paddingTop: 16, flexDirection: 'column', gap: 8 }}&gt;&#10;            &lt;Text style={{ fontSize: 22, color: '#FFFFFF', fontWeight: 'bold', fontFamily: 'Arial, &quot;PingFang SC&quot;, &quot;Microsoft YaHei&quot;, sans-serif' }}&gt;跟踪三：费用率回归&lt;/Text&gt;&#10;            &lt;Text style={{ fontSize: 16, color: '#99BDED', lineHeight: 1.5, fontFamily: 'Arial, &quot;PingFang SC&quot;, &quot;Microsoft YaHei&quot;, sans-serif' }}&gt;研发与销售费用前置后的回归节奏，以及扣非净利率修复进度&lt;/Text&gt;&#10;        &lt;/Box&gt;&#10;    &lt;/Box&gt;&#10;    &lt;Box style={{ flexDirection: 'column', gap: 10 }}&gt;&#10;        &lt;Box style={{ width: '100%', height: 1, background: '#44546A' }} /&gt;&#10;        &lt;Text style={{ fontSize: 14, color: '#808080', lineHeight: 1.5, fontFamily: 'Arial, &quot;PingFang SC&quot;, &quot;Microsoft YaHei&quot;, sans-serif' }}&gt;本报告由AI基于公开信息整理生成，不构成投资建议；财务数据以《宇树科技经营与财务分析底稿.xlsx》为唯一底稿，精确数值请以交易所披露原文为准。市场有风险，投资需谨慎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838200" y="771525"/>
            <a:ext cx="45720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447800" y="68580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300">
                <a:solidFill>
                  <a:srgbClr val="08A6F6"/>
                </a:solidFill>
                <a:latin typeface="Arial"/>
                <a:ea typeface="Arial"/>
              </a:rPr>
              <a:t>结论与跟踪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38200" y="1200150"/>
            <a:ext cx="10515600" cy="1362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300" b="1">
                <a:solidFill>
                  <a:srgbClr val="FFFFFF"/>
                </a:solidFill>
                <a:latin typeface="Arial"/>
                <a:ea typeface="Arial"/>
              </a:rPr>
              <a:t>高成长已兑现、盈利质量稀缺；</a:t>
            </a:r>
            <a:endParaRPr/>
          </a:p>
          <a:p>
            <a:pPr>
              <a:lnSpc>
                <a:spcPct val="135000"/>
              </a:lnSpc>
            </a:pPr>
            <a:r>
              <a:rPr lang="en-US" sz="3300" b="1">
                <a:solidFill>
                  <a:srgbClr val="FFFFFF"/>
                </a:solidFill>
                <a:latin typeface="Arial"/>
                <a:ea typeface="Arial"/>
              </a:rPr>
              <a:t>2026</a:t>
            </a:r>
            <a:r>
              <a:rPr lang="zh-CN" sz="3300" b="1">
                <a:solidFill>
                  <a:srgbClr val="FFFFFF"/>
                </a:solidFill>
                <a:latin typeface="Arial"/>
                <a:ea typeface="Arial"/>
              </a:rPr>
              <a:t>年看</a:t>
            </a:r>
            <a:r>
              <a:rPr lang="en-US" sz="3300" b="1">
                <a:solidFill>
                  <a:srgbClr val="FFFFFF"/>
                </a:solidFill>
                <a:latin typeface="Arial"/>
                <a:ea typeface="Arial"/>
              </a:rPr>
              <a:t>"</a:t>
            </a:r>
            <a:r>
              <a:rPr lang="zh-CN" sz="3300" b="1">
                <a:solidFill>
                  <a:srgbClr val="FFFFFF"/>
                </a:solidFill>
                <a:latin typeface="Arial"/>
                <a:ea typeface="Arial"/>
              </a:rPr>
              <a:t>换挡后再加速</a:t>
            </a:r>
            <a:r>
              <a:rPr lang="en-US" sz="3300" b="1">
                <a:solidFill>
                  <a:srgbClr val="FFFFFF"/>
                </a:solidFill>
                <a:latin typeface="Arial"/>
                <a:ea typeface="Arial"/>
              </a:rPr>
              <a:t>"</a:t>
            </a:r>
            <a:r>
              <a:rPr lang="zh-CN" sz="3300" b="1">
                <a:solidFill>
                  <a:srgbClr val="FFFFFF"/>
                </a:solidFill>
                <a:latin typeface="Arial"/>
                <a:ea typeface="Arial"/>
              </a:rPr>
              <a:t>的验证。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838200" y="3657600"/>
            <a:ext cx="3352800" cy="1076325"/>
          </a:xfrm>
          <a:custGeom>
            <a:pathLst>
              <a:path w="352" h="113">
                <a:moveTo>
                  <a:pt x="0" y="0"/>
                </a:moveTo>
                <a:lnTo>
                  <a:pt x="352" y="0"/>
                </a:lnTo>
                <a:lnTo>
                  <a:pt x="352" y="2"/>
                </a:lnTo>
                <a:lnTo>
                  <a:pt x="0" y="2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38200" y="3829050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Arial"/>
                <a:ea typeface="Arial"/>
              </a:rPr>
              <a:t>跟踪一：工业订单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38200" y="4162425"/>
            <a:ext cx="3352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人形机器人从科教（占比</a:t>
            </a: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73.6%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）走向工业</a:t>
            </a: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/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商用的订单兑现节奏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419600" y="3657600"/>
            <a:ext cx="3352800" cy="1076325"/>
          </a:xfrm>
          <a:custGeom>
            <a:pathLst>
              <a:path w="352" h="113">
                <a:moveTo>
                  <a:pt x="0" y="0"/>
                </a:moveTo>
                <a:lnTo>
                  <a:pt x="352" y="0"/>
                </a:lnTo>
                <a:lnTo>
                  <a:pt x="352" y="2"/>
                </a:lnTo>
                <a:lnTo>
                  <a:pt x="0" y="2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419600" y="3829050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Arial"/>
                <a:ea typeface="Arial"/>
              </a:rPr>
              <a:t>跟踪二：毛利率走势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419600" y="4162425"/>
            <a:ext cx="3352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2026H1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已回落至</a:t>
            </a: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56.01%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，验证</a:t>
            </a: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"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以价换量</a:t>
            </a:r>
            <a:r>
              <a:rPr lang="en-US" sz="1200">
                <a:solidFill>
                  <a:srgbClr val="99BDED"/>
                </a:solidFill>
                <a:latin typeface="Arial"/>
                <a:ea typeface="Arial"/>
              </a:rPr>
              <a:t>"</a:t>
            </a: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策略的可持续性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8001000" y="3657600"/>
            <a:ext cx="3352800" cy="1076325"/>
          </a:xfrm>
          <a:custGeom>
            <a:pathLst>
              <a:path w="352" h="113">
                <a:moveTo>
                  <a:pt x="0" y="0"/>
                </a:moveTo>
                <a:lnTo>
                  <a:pt x="352" y="0"/>
                </a:lnTo>
                <a:lnTo>
                  <a:pt x="352" y="2"/>
                </a:lnTo>
                <a:lnTo>
                  <a:pt x="0" y="2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001000" y="3829050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Arial"/>
                <a:ea typeface="Arial"/>
              </a:rPr>
              <a:t>跟踪三：费用率回归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001000" y="4162425"/>
            <a:ext cx="3352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9BDED"/>
                </a:solidFill>
                <a:latin typeface="Arial"/>
                <a:ea typeface="Arial"/>
              </a:rPr>
              <a:t>研发与销售费用前置后的回归节奏，以及扣非净利率修复进度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838200" y="5810250"/>
            <a:ext cx="10515600" cy="952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5915025"/>
            <a:ext cx="10515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本报告由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AI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基于公开信息整理生成，不构成投资建议；财务数据以《宇树科技经营与财务分析底稿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.xlsx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》为唯一底稿，精确数值请以交易所披露原文为准。市场有风险，投资需谨慎。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2026-09-04T06:20:25Z</dcterms:created>
  <dcterms:modified xsi:type="dcterms:W3CDTF">2026-09-04T06:20:25Z</dcterms:modified>
</cp:coreProperties>
</file>