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人形</c:v>
                </c:pt>
              </c:strCache>
            </c:strRef>
          </c:tx>
          <c:spPr>
            <a:solidFill>
              <a:srgbClr val="13314E"/>
            </a:solidFill>
            <a:ln>
              <a:noFill/>
            </a:ln>
          </c:spP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25252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0.03</c:v>
                </c:pt>
                <c:pt idx="1">
                  <c:v>1.07</c:v>
                </c:pt>
                <c:pt idx="2">
                  <c:v>8.68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四足</c:v>
                </c:pt>
              </c:strCache>
            </c:strRef>
          </c:tx>
          <c:spPr>
            <a:solidFill>
              <a:srgbClr val="3E5E80"/>
            </a:solidFill>
            <a:ln>
              <a:noFill/>
            </a:ln>
          </c:spP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25252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1.19</c:v>
                </c:pt>
                <c:pt idx="1">
                  <c:v>2.31</c:v>
                </c:pt>
                <c:pt idx="2">
                  <c:v>6.98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组件及其他</c:v>
                </c:pt>
              </c:strCache>
            </c:strRef>
          </c:tx>
          <c:spPr>
            <a:solidFill>
              <a:srgbClr val="8AA2BC"/>
            </a:solidFill>
            <a:ln>
              <a:noFill/>
            </a:ln>
          </c:spP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25252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0.35</c:v>
                </c:pt>
                <c:pt idx="1">
                  <c:v>0.5</c:v>
                </c:pt>
                <c:pt idx="2">
                  <c:v>1.11</c:v>
                </c:pt>
              </c:numCache>
            </c:numRef>
          </c:val>
        </c:ser>
        <c:gapWidth val="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950">
                <a:solidFill>
                  <a:srgbClr val="25252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AEDF1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767676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人形销量（台）</c:v>
                </c:pt>
              </c:strCache>
            </c:strRef>
          </c:tx>
          <c:spPr>
            <a:solidFill>
              <a:srgbClr val="13314E"/>
            </a:solidFill>
            <a:ln>
              <a:noFill/>
            </a:ln>
          </c:spP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25252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412</c:v>
                </c:pt>
                <c:pt idx="2">
                  <c:v>5215</c:v>
                </c:pt>
              </c:numCache>
            </c:numRef>
          </c:val>
        </c:ser>
        <c:gapWidth val="55"/>
        <c:axId val="-2068027336"/>
        <c:axId val="-2113994440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人形平均单价（万元/台）</c:v>
                </c:pt>
              </c:strCache>
            </c:strRef>
          </c:tx>
          <c:spPr>
            <a:ln w="30480">
              <a:solidFill>
                <a:srgbClr val="B84C3A"/>
              </a:solidFill>
            </a:ln>
          </c:spPr>
          <c:marker>
            <c:symbol val="circle"/>
            <c:size val="5"/>
            <c:spPr>
              <a:solidFill>
                <a:srgbClr val="B84C3A"/>
              </a:solidFill>
              <a:ln>
                <a:solidFill>
                  <a:srgbClr val="B84C3A"/>
                </a:solidFill>
              </a:ln>
            </c:spPr>
          </c:marke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B84C3A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59.34</c:v>
                </c:pt>
                <c:pt idx="1">
                  <c:v>26.04</c:v>
                </c:pt>
                <c:pt idx="2">
                  <c:v>16.64</c:v>
                </c:pt>
              </c:numCache>
            </c:numRef>
          </c:val>
          <c:smooth val="0"/>
        </c:ser>
        <c:marker val="1"/>
        <c:smooth val="0"/>
        <c:axId val="-2068027336"/>
        <c:axId val="990099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950">
                <a:solidFill>
                  <a:srgbClr val="25252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AEDF1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  <c:valAx>
        <c:axId val="990099"/>
        <c:scaling/>
        <c:delete val="0"/>
        <c:axPos val="r"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068027336"/>
        <c:crosses val="max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767676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境内</c:v>
                </c:pt>
              </c:strCache>
            </c:strRef>
          </c:tx>
          <c:spPr>
            <a:solidFill>
              <a:srgbClr val="13314E"/>
            </a:solidFill>
            <a:ln>
              <a:noFill/>
            </a:ln>
          </c:spP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25252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</c:v>
                </c:pt>
                <c:pt idx="1">
                  <c:v>1.71</c:v>
                </c:pt>
                <c:pt idx="2">
                  <c:v>9.44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境外</c:v>
                </c:pt>
              </c:strCache>
            </c:strRef>
          </c:tx>
          <c:spPr>
            <a:solidFill>
              <a:srgbClr val="8AA2BC"/>
            </a:solidFill>
            <a:ln>
              <a:noFill/>
            </a:ln>
          </c:spP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25252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0.88</c:v>
                </c:pt>
                <c:pt idx="1">
                  <c:v>2.16</c:v>
                </c:pt>
                <c:pt idx="2">
                  <c:v>7.32</c:v>
                </c:pt>
              </c:numCache>
            </c:numRef>
          </c:val>
        </c:ser>
        <c:gapWidth val="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950">
                <a:solidFill>
                  <a:srgbClr val="25252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AEDF1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767676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营业收入（亿元）</c:v>
                </c:pt>
              </c:strCache>
            </c:strRef>
          </c:tx>
          <c:spPr>
            <a:solidFill>
              <a:srgbClr val="13314E"/>
            </a:solidFill>
            <a:ln>
              <a:noFill/>
            </a:ln>
          </c:spP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25252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1.59</c:v>
                </c:pt>
                <c:pt idx="1">
                  <c:v>3.93</c:v>
                </c:pt>
                <c:pt idx="2">
                  <c:v>16.99</c:v>
                </c:pt>
              </c:numCache>
            </c:numRef>
          </c:val>
        </c:ser>
        <c:gapWidth val="55"/>
        <c:axId val="-2068027336"/>
        <c:axId val="-2113994440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营业收入同比</c:v>
                </c:pt>
              </c:strCache>
            </c:strRef>
          </c:tx>
          <c:spPr>
            <a:ln w="30480">
              <a:solidFill>
                <a:srgbClr val="3E5E80"/>
              </a:solidFill>
            </a:ln>
          </c:spPr>
          <c:marker>
            <c:symbol val="circle"/>
            <c:size val="5"/>
            <c:spPr>
              <a:solidFill>
                <a:srgbClr val="3E5E80"/>
              </a:solidFill>
              <a:ln>
                <a:solidFill>
                  <a:srgbClr val="3E5E80"/>
                </a:solidFill>
              </a:ln>
            </c:spPr>
          </c:marke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3E5E80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1">
                  <c:v>1.4682</c:v>
                </c:pt>
                <c:pt idx="2">
                  <c:v>3.3264</c:v>
                </c:pt>
              </c:numCache>
            </c:numRef>
          </c:val>
          <c:smooth val="0"/>
        </c:ser>
        <c:marker val="1"/>
        <c:smooth val="0"/>
        <c:axId val="-2068027336"/>
        <c:axId val="990099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950">
                <a:solidFill>
                  <a:srgbClr val="25252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AEDF1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  <c:valAx>
        <c:axId val="990099"/>
        <c:scaling/>
        <c:delete val="0"/>
        <c:axPos val="r"/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068027336"/>
        <c:crosses val="max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767676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归母净利润</c:v>
                </c:pt>
              </c:strCache>
            </c:strRef>
          </c:tx>
          <c:spPr>
            <a:solidFill>
              <a:srgbClr val="8AA2BC"/>
            </a:solidFill>
            <a:ln>
              <a:noFill/>
            </a:ln>
          </c:spP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25252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-0.11</c:v>
                </c:pt>
                <c:pt idx="1">
                  <c:v>0.95</c:v>
                </c:pt>
                <c:pt idx="2">
                  <c:v>2.78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扣非归母净利润</c:v>
                </c:pt>
              </c:strCache>
            </c:strRef>
          </c:tx>
          <c:spPr>
            <a:solidFill>
              <a:srgbClr val="13314E"/>
            </a:solidFill>
            <a:ln>
              <a:noFill/>
            </a:ln>
          </c:spP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25252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-0.18</c:v>
                </c:pt>
                <c:pt idx="1">
                  <c:v>0.78</c:v>
                </c:pt>
                <c:pt idx="2">
                  <c:v>5.91</c:v>
                </c:pt>
              </c:numCache>
            </c:numRef>
          </c:val>
        </c:ser>
        <c:gapWidth val="55"/>
        <c:axId val="-2068027336"/>
        <c:axId val="-2113994440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主营毛利率</c:v>
                </c:pt>
              </c:strCache>
            </c:strRef>
          </c:tx>
          <c:spPr>
            <a:ln w="30480">
              <a:solidFill>
                <a:srgbClr val="3E5E80"/>
              </a:solidFill>
            </a:ln>
          </c:spPr>
          <c:marker>
            <c:symbol val="circle"/>
            <c:size val="5"/>
            <c:spPr>
              <a:solidFill>
                <a:srgbClr val="3E5E80"/>
              </a:solidFill>
              <a:ln>
                <a:solidFill>
                  <a:srgbClr val="3E5E80"/>
                </a:solidFill>
              </a:ln>
            </c:spPr>
          </c:marke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3E5E80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0.4422</c:v>
                </c:pt>
                <c:pt idx="1">
                  <c:v>0.5674</c:v>
                </c:pt>
                <c:pt idx="2">
                  <c:v>0.6013</c:v>
                </c:pt>
              </c:numCache>
            </c:numRef>
          </c:val>
          <c:smooth val="0"/>
        </c:ser>
        <c:marker val="1"/>
        <c:smooth val="0"/>
        <c:axId val="-2068027336"/>
        <c:axId val="990099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950">
                <a:solidFill>
                  <a:srgbClr val="25252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AEDF1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  <c:valAx>
        <c:axId val="990099"/>
        <c:scaling/>
        <c:delete val="0"/>
        <c:axPos val="r"/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068027336"/>
        <c:crosses val="max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767676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经营现金流净额（亿元）</c:v>
                </c:pt>
              </c:strCache>
            </c:strRef>
          </c:tx>
          <c:spPr>
            <a:solidFill>
              <a:srgbClr val="13314E"/>
            </a:solidFill>
            <a:ln>
              <a:noFill/>
            </a:ln>
          </c:spP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25252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0.05</c:v>
                </c:pt>
                <c:pt idx="1">
                  <c:v>1.92</c:v>
                </c:pt>
                <c:pt idx="2">
                  <c:v>6.7</c:v>
                </c:pt>
              </c:numCache>
            </c:numRef>
          </c:val>
        </c:ser>
        <c:gapWidth val="55"/>
        <c:axId val="-2068027336"/>
        <c:axId val="-2113994440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合并资产负债率</c:v>
                </c:pt>
              </c:strCache>
            </c:strRef>
          </c:tx>
          <c:spPr>
            <a:ln w="30480">
              <a:solidFill>
                <a:srgbClr val="3E5E80"/>
              </a:solidFill>
            </a:ln>
          </c:spPr>
          <c:marker>
            <c:symbol val="circle"/>
            <c:size val="5"/>
            <c:spPr>
              <a:solidFill>
                <a:srgbClr val="3E5E80"/>
              </a:solidFill>
              <a:ln>
                <a:solidFill>
                  <a:srgbClr val="3E5E80"/>
                </a:solidFill>
              </a:ln>
            </c:spPr>
          </c:marke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3E5E80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0.2357</c:v>
                </c:pt>
                <c:pt idx="1">
                  <c:v>0.1619</c:v>
                </c:pt>
                <c:pt idx="2">
                  <c:v>0.1882</c:v>
                </c:pt>
              </c:numCache>
            </c:numRef>
          </c:val>
          <c:smooth val="0"/>
        </c:ser>
        <c:marker val="1"/>
        <c:smooth val="0"/>
        <c:axId val="-2068027336"/>
        <c:axId val="990099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950">
                <a:solidFill>
                  <a:srgbClr val="25252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AEDF1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  <c:valAx>
        <c:axId val="990099"/>
        <c:scaling/>
        <c:delete val="0"/>
        <c:axPos val="r"/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068027336"/>
        <c:crosses val="max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767676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研发费用（亿元）</c:v>
                </c:pt>
              </c:strCache>
            </c:strRef>
          </c:tx>
          <c:spPr>
            <a:solidFill>
              <a:srgbClr val="13314E"/>
            </a:solidFill>
            <a:ln>
              <a:noFill/>
            </a:ln>
          </c:spP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252525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0.7</c:v>
                </c:pt>
                <c:pt idx="2">
                  <c:v>1.45</c:v>
                </c:pt>
              </c:numCache>
            </c:numRef>
          </c:val>
        </c:ser>
        <c:gapWidth val="55"/>
        <c:axId val="-2068027336"/>
        <c:axId val="-2113994440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研发费用率</c:v>
                </c:pt>
              </c:strCache>
            </c:strRef>
          </c:tx>
          <c:spPr>
            <a:ln w="30480">
              <a:solidFill>
                <a:srgbClr val="3E5E80"/>
              </a:solidFill>
            </a:ln>
          </c:spPr>
          <c:marker>
            <c:symbol val="circle"/>
            <c:size val="5"/>
            <c:spPr>
              <a:solidFill>
                <a:srgbClr val="3E5E80"/>
              </a:solidFill>
              <a:ln>
                <a:solidFill>
                  <a:srgbClr val="3E5E80"/>
                </a:solidFill>
              </a:ln>
            </c:spPr>
          </c:marker>
          <c:dLbls>
            <c:dLbl>
              <c:idx val="2"/>
              <c:spPr/>
              <c:txPr>
                <a:bodyPr/>
                <a:lstStyle/>
                <a:p>
                  <a:pPr>
                    <a:defRPr sz="900" b="1">
                      <a:solidFill>
                        <a:srgbClr val="3E5E80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0.3139</c:v>
                </c:pt>
                <c:pt idx="1">
                  <c:v>0.1783</c:v>
                </c:pt>
                <c:pt idx="2">
                  <c:v>0.0853</c:v>
                </c:pt>
              </c:numCache>
            </c:numRef>
          </c:val>
          <c:smooth val="0"/>
        </c:ser>
        <c:marker val="1"/>
        <c:smooth val="0"/>
        <c:axId val="-2068027336"/>
        <c:axId val="990099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950">
                <a:solidFill>
                  <a:srgbClr val="25252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AEDF1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  <c:valAx>
        <c:axId val="990099"/>
        <c:scaling/>
        <c:delete val="0"/>
        <c:axPos val="r"/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068027336"/>
        <c:crosses val="max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767676"/>
          </a:solidFill>
          <a:latin typeface="Helvetica Neue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solidFill>
            <a:srgbClr val="0B1E33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148840"/>
            <a:ext cx="502920" cy="64008"/>
          </a:xfrm>
          <a:prstGeom prst="rect">
            <a:avLst/>
          </a:prstGeom>
          <a:solidFill>
            <a:srgbClr val="7FB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6766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BFD3E8"/>
                </a:solidFill>
                <a:latin typeface="Helvetica Neue"/>
                <a:ea typeface="PingFang SC"/>
                <a:cs typeface="Helvetica Neue"/>
              </a:rPr>
              <a:t>宇树科技（688836.SH）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经营与财务表现分析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7E0EA"/>
                </a:solidFill>
                <a:latin typeface="Helvetica Neue"/>
                <a:ea typeface="PingFang SC"/>
                <a:cs typeface="Helvetica Neue"/>
              </a:rPr>
              <a:t>高增长换挡期：人形切换、扣非盈利与费用扩张的赛跑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8C6D8"/>
                </a:solidFill>
                <a:latin typeface="Helvetica Neue"/>
                <a:ea typeface="PingFang SC"/>
                <a:cs typeface="Helvetica Neue"/>
              </a:rPr>
              <a:t>内部汇报  |  资料截止 2026-08-30  |  金额单位：人民币万元（图表换算为亿元）  |  A=已实现，E=预测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29383"/>
            <a:ext cx="4389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业务与产品结构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主营定位 · 产品/量价/地区结构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715767"/>
            <a:ext cx="420624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246119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300983"/>
            <a:ext cx="4389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收入与盈利变化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增长换挡 · 扣非盈利 · 2026H1 · 现金流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4087367"/>
            <a:ext cx="420624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17719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672583"/>
            <a:ext cx="4389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研发与竞争力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研发投入 · 五项竞争优势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5458967"/>
            <a:ext cx="420624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74519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929383"/>
            <a:ext cx="4389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增长变量与风险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事实与计划分列 · 六项主要风险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2715767"/>
            <a:ext cx="420624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246119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300983"/>
            <a:ext cx="4389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结论与资料来源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核心判断 · 口径说明 · 来源清单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4087367"/>
            <a:ext cx="420624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来源：本汇报数据均取自上交所披露文件及公司公开资料，详见末页来源清单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核心判断：高增长仍在，但进入“收入快、扣非承压”的换挡期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两年营收 CAGR 约 226.8%，增速逐期回落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2023→2025 营收 1.59→16.99 亿元；同比由 2025 全年 +332.6% 回落至 2026H1 +48.5%。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715768"/>
            <a:ext cx="1033272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98648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98648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人形取代四足成为第一大产品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人形收入占主营 1.88%→51.78%，销量 5→5,215 台，单价 59.34→16.64 万元，量增价减。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831336"/>
            <a:ext cx="1033272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014216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14216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盈利质量看扣非：2025 扣非 5.91 亿、扣非净利率 34.8%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归母仅 2.78 亿，差额 -3.13 亿为股份支付等非经常损失；主营毛利率升至 60.13%。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4946904"/>
            <a:ext cx="1033272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129784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29784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B84C3A"/>
                </a:solidFill>
                <a:latin typeface="Helvetica Neue"/>
                <a:ea typeface="PingFang SC"/>
                <a:cs typeface="Helvetica Neue"/>
              </a:rPr>
              <a:t>2026 利润端承压，费用扩张是主因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2026H1 扣非 2.44 亿、同比 -19.34%；研发与销售费用快速增加，CFO 同比 -32.53%。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来源：上市保荐书（注册稿）、上市公告书（底稿 S2/S5）；CAGR、占比、净利率由原始数据现算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公司速览：全球通用机器人龙头，2026-08-19 登陆科创板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486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主营业务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高性能通用人形机器人、四足机器人、机器人组件及具身智能模型的研发、生产与销售，覆盖“本体—核心零部件—具身智能模型”全栈。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产品矩阵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人形：H1/G1 等系列，价格带下探至 10 万元级；四足：Go2/B2 等系列，为当前收入基本盘；另对外销售机器人组件。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治理结构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设置表决权差异安排，实控人王兴兴发行后持股 21.44%；按“预计市值≥100 亿元”科创板标准上市。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783080"/>
            <a:ext cx="5239512" cy="41605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6520" y="1783080"/>
            <a:ext cx="73152" cy="4160520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9128" y="1993392"/>
            <a:ext cx="4782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本次发行关键数据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24871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发行价格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487168"/>
            <a:ext cx="2496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150.80 元/股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303580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发行数量 / 占比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3035808"/>
            <a:ext cx="2496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4,044.6434 万股 / 发行后 10.00%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35844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募资总额 / 净额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584448"/>
            <a:ext cx="2496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60.99 / 59.17 亿元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41330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发行价对应市值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133088"/>
            <a:ext cx="2496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609.93 亿元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6817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发行市盈率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681728"/>
            <a:ext cx="2496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219.23 倍（媒体口径，待核）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2303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上市前最近一轮估值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230368"/>
            <a:ext cx="2496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2025-06 Pre-IPO 投后 127 亿元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来源：发行公告/上市公告书/上市保荐书（底稿 S2/S5/S6）；发行市盈率需以发行公告原文核验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PRODUCT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人形机器人两年间从 1.9% 升至 51.8%，取代四足成为第一大产品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28800"/>
          <a:ext cx="64008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89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图1  主营业务收入分产品（亿元，堆叠）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201168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96596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人形：第一增长曲线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296.71 万→8.68 亿元，占主营 51.78%。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297180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4072" y="292608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四足：基本盘但占比回落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6.98 亿元、占比由 75.78% 降至 41.62%。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393192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388620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组件及其他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年轧差约 1.11 亿元、占约 6.6%，精确拆分待核。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489204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2" y="484632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结论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结构切换完成，人形决定下一阶段弹性。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来源：招股说明书（注册稿）及研报转引（底稿 S1/S7/S8）；万元换算为亿元，占比以主营收入为分母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VOLUME ×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人形销量爆发至 5,215 台，平均单价降至 16.64 万元——以价换量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28800"/>
          <a:ext cx="64008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893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图2  人形机器人销量（柱，左轴）与平均单价（线，右轴，披露口径）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201168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965960"/>
            <a:ext cx="4224528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销量三年千倍级增长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5→412→5,215 台；公司称 2025 纯人形出货超 5,500 台、全球第一。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315468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4072" y="3108960"/>
            <a:ext cx="4224528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单价持续下探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59.34→26.04→16.64 万元/台，G1 下探至 10 万元级，扩大装机基数。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429768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4251960"/>
            <a:ext cx="4224528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四足同步量增价减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销量 3,121→23,037 台，单价 3.83→3.03 万元，三年累计超 3.3 万台。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来源：底稿 S1/S7/S8；销量为确认收入口径，出货量为公司口径，二者统计范围不同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GEOGRAPHY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2025 年境内收入反超：占比 56.35%，国内人形需求集中放量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28800"/>
          <a:ext cx="64008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89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图3  主营业务收入分地区（亿元，100% 堆叠）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201168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965960"/>
            <a:ext cx="4224528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2023–2024 境外为主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境外占主营 55.63%→55.74%。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315468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4072" y="3108960"/>
            <a:ext cx="4224528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2025 境内反超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境内 9.44 亿（56.35%），境外 7.32 亿（43.65%）。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429768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4251960"/>
            <a:ext cx="4224528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驱动与风险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国内人形需求与品牌外溢拉动；海外仍为重要市场，关注汇率与外销结算。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来源：招股意向书/招股说明书（底稿 S4/S1）；2024 年境内为主营减境外轧差数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REVENUE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营收两年 CAGR 约 226.8%，但同比增速已从 332.6% 换挡至 48.5%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28800"/>
          <a:ext cx="64008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893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图4  营业收入（柱，左轴）与同比增速（线，右轴）；2023 为基期无同比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201168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96596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两年复合增速 226.78%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2024、2025 同比 +146.82%、+332.64%。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297180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4072" y="292608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2026 增速继续回落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2026Q1 +68.49%、2026H1 +48.54%。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393192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388620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公司归因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基数抬高、行业热度缓和、竞争加剧。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489204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2" y="484632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含义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高斜率阶段过去，进入中高速增长区间。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来源：上市保荐书/落实函回复/上市公告书（底稿 S2/S3/S5）；2026H1 未经审计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PROFIT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扣非盈利强劲，归母被股份支付扰动：分析盈利应以扣非为主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28800"/>
          <a:ext cx="64008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893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图5  归母/扣非归母（亿元，柱）与主营毛利率（线）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201168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96596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毛利率持续抬升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44.22%→56.74%→60.13%，全栈自研与零部件自产支撑。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297180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4072" y="292608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2025 扣非净利率 34.8%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扣非加权 ROE 28.70%，经常性盈利能力强。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393192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388620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归母低于扣非 3.13 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非经常性净损失 -31,254.23 万元，主要为股份支付。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489204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2" y="484632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口径提示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基本 EPS 0.76 元；评估盈利看扣非。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来源：上市保荐书/落实函回复（底稿 S2/S3）；非经常性损益=归母-扣非现算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1H2026: FORECAST vs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2026H1 收入略超业绩预告上限，扣非落在区间内但同比 -19.34%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74519"/>
          <a:ext cx="6629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280160"/>
                <a:gridCol w="1280160"/>
                <a:gridCol w="1280160"/>
                <a:gridCol w="100584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指标（万元）</a:t>
                      </a:r>
                    </a:p>
                  </a:txBody>
                  <a:tcPr anchor="ctr" marT="38100" marB="38100">
                    <a:solidFill>
                      <a:srgbClr val="1331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预测下限(E)</a:t>
                      </a:r>
                    </a:p>
                  </a:txBody>
                  <a:tcPr anchor="ctr" marT="38100" marB="38100">
                    <a:solidFill>
                      <a:srgbClr val="1331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预测上限(E)</a:t>
                      </a:r>
                    </a:p>
                  </a:txBody>
                  <a:tcPr anchor="ctr" marT="38100" marB="38100">
                    <a:solidFill>
                      <a:srgbClr val="1331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实际(A)</a:t>
                      </a:r>
                    </a:p>
                  </a:txBody>
                  <a:tcPr anchor="ctr" marT="38100" marB="38100">
                    <a:solidFill>
                      <a:srgbClr val="1331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对照</a:t>
                      </a:r>
                    </a:p>
                  </a:txBody>
                  <a:tcPr anchor="ctr" marT="38100" marB="38100">
                    <a:solidFill>
                      <a:srgbClr val="13314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营业收入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105,200.00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112,800.00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115,224.56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略超上限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归母净利润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25,800.00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30,600.00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27,399.99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区间内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扣非归母净利润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23,600.00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28,300.00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24,393.03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52525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区间内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43400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表1  2026H1 业绩预告（2026-05 上会稿，预测）与上市公告书实际对照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214884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9832" y="2103120"/>
            <a:ext cx="385876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收入端超预期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实际 11.52 亿元，高于预测上限 11.28 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3081528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2" y="3035808"/>
            <a:ext cx="385876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利润端同比承压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扣非 2.44 亿、同比 -19.34%（2026Q1 曾 -52.55%）。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4014216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2" y="3968496"/>
            <a:ext cx="385876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费用是主因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上半年研发费用同比 +0.82 亿；销售费用 1.64 亿（品牌推广+扩编）。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4946904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2" y="4901184"/>
            <a:ext cx="385876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归母扭亏含低基数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上年同期 -3,202.45 万，含约 3.49 亿股份支付。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来源：上会稿业绩预告（E）与 2026-08-17 上市公告书（A，未经审计）；预测不作为已实现事实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CASH FLOW &amp; 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经营现金流三年抬升至 6.70 亿、低杠杆；2026H1 末负债率回升至 25.11%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28800"/>
          <a:ext cx="64008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893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图6  经营现金流净额（柱）与合并资产负债率（线）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201168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96596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现金含金量高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CFO/营收约 39.4%，现金对利润覆盖充分。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297180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4072" y="292608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整体低杠杆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2023–2025 资产负债率 23.57%/16.19%/18.82%。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393192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388620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2026H1 末变化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总资产 384,546.94 万、较年初 +19.85%；负债率 25.11%。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489204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2" y="484632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需跟踪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H1 CFO 2.32 亿、同比 -32.53%，合同/应付/租赁负债增加。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来源：上市保荐书/上市公告书（底稿 S2/S5）；2026H1 未经审计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R&amp;D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研发绝对额三年升至 1.45 亿，费率因规模放大降至 8.53%——是摊薄非收缩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28800"/>
          <a:ext cx="64008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8932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图7  研发费用（柱）与研发费用率（线）；三年累计 2.65 亿元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80" y="201168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96596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投入持续加大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4,995.18→7,001.70→14,496.56 万元。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297180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4072" y="292608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费率下降是规模效应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31.39%→17.83%→8.53%。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393192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388620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人员结构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年末 516 人，研发 184 人、占 35.66%。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4892040"/>
            <a:ext cx="64008" cy="310896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2" y="4846320"/>
            <a:ext cx="4224528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募投倾斜研发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原拟募资约 42.02 亿，模型/本体/新产品约 35.77 亿、占约 85%。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来源：上市保荐书（底稿 S2）、募投项目（底稿 S1，分项为约数、精确额待核）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COMPETITIVE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五项竞争优势：技术垂直整合 × 出货规模 × 财务弹性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10512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10512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全栈自研支撑高毛利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主营毛利率 60.13%，电机/控制器/感知算法/整机/具身模型垂直自研，为降价与再投入留出空间。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560320"/>
            <a:ext cx="102412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066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06624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出货规模全球领先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人形确认收入 5,215 台、公司称纯人形出货超 5,500 台全球第一；四足三年超 3.3 万台。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456432"/>
            <a:ext cx="102412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02736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02736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产销衔接顺畅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年前三季度人形产销率超 95%，基本满产满销，需求支撑现有产能。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352544"/>
            <a:ext cx="102412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9884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98848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价格带下探拓宽市场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人形单价降至 16.64 万元、G1 进入 10 万元级，扩大装机与开发者生态。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248656"/>
            <a:ext cx="102412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39496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AA2BC"/>
                </a:solidFill>
                <a:latin typeface="Helvetica Neue"/>
                <a:ea typeface="PingFang SC"/>
                <a:cs typeface="Helvetica Neue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6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报表稳健、弹药充足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负债率 18.82%、CFO 6.70 亿；IPO 募资净额 59.17 亿元，支撑研发与制造投入。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来源：上市保荐书/招股说明书/发行公告（底稿 S1/S2/S6）；同业量化对比数据不足，不作扩展结论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GROWTH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增长变量：已兑现的事实与待验证的计划分列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486400" cy="457200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92807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已兑现的事实（A）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人形放量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占主营 51.78%、销量 5,215 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10128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境内市场反超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境内占比升至 56.35%，境外绝对额仍增至 7.32 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51376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场景结构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四足场景较均衡；人形 2025 1-9M 科研教育占 73.6%。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92624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资金到位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IPO 募资净额 59.17 亿元，相对原拟投项目超募。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422392" cy="457200"/>
          </a:xfrm>
          <a:prstGeom prst="rect">
            <a:avLst/>
          </a:prstGeom>
          <a:solidFill>
            <a:srgbClr val="3E5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92807"/>
            <a:ext cx="5422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待验证的计划 / 变量（E）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468880"/>
            <a:ext cx="5422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场景拓宽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人形由科研教育向行业应用（当前仅约 9.01%）渗透的速度。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310128"/>
            <a:ext cx="5422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募投研发转化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模型/本体/新产品约 35.77 亿投入能否转化为产品力。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151376"/>
            <a:ext cx="5422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制造基地产能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达产规划人形 7.5 万、四足 11.5 万台/年——为规划，非已实现产能或产量。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992624"/>
            <a:ext cx="5422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海外扩张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渠道与本地化进展，及关税/汇率影响。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来源：招股说明书/上市保荐书（底稿 S1/S2/S7）；规划与预测均不作为已实现事实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292608" cy="50292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E5E80"/>
                </a:solidFill>
                <a:latin typeface="Helvetica Neue"/>
                <a:ea typeface="PingFang SC"/>
                <a:cs typeface="Helvetica Neue"/>
              </a:rPr>
              <a:t>KEY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六项主要风险：场景集中、价格下行与费用扩张最值得盯紧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611880" cy="6350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36118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B84C3A"/>
                </a:solidFill>
                <a:latin typeface="Helvetica Neue"/>
                <a:ea typeface="PingFang SC"/>
                <a:cs typeface="Helvetica Neue"/>
              </a:rPr>
              <a:t>01  商业化场景集中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人形 2025 1-9M 约 73.6% 收入来自科研教育，行业应用仅约 9.01%。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828800"/>
            <a:ext cx="3611880" cy="6350"/>
          </a:xfrm>
          <a:prstGeom prst="rect">
            <a:avLst/>
          </a:prstGeom>
          <a:solidFill>
            <a:srgbClr val="13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4528" y="1938528"/>
            <a:ext cx="36118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B84C3A"/>
                </a:solidFill>
                <a:latin typeface="Helvetica Neue"/>
                <a:ea typeface="PingFang SC"/>
                <a:cs typeface="Helvetica Neue"/>
              </a:rPr>
              <a:t>02  价格下行 / 竞争加剧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两类产品单价逐年下行，价格战或进一步压缩单价与毛利。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46136" y="1828800"/>
            <a:ext cx="36118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46136" y="1938528"/>
            <a:ext cx="36118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03  股份支付扰动表观利润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2025 非经常性净损失 -3.13 亿，后续股权激励或继续扰动归母。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23360"/>
            <a:ext cx="36118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33088"/>
            <a:ext cx="36118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04  费用扩张压制扣非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2026H1 扣非同比 -19.34%、CFO 同比 -32.53%，费用刚性下利润率承压。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4023360"/>
            <a:ext cx="36118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4133088"/>
            <a:ext cx="36118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05  高估值波动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发行市值 609.93 亿、媒体口径 PE 219.23 倍（待核），对业绩兑现高度敏感。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46136" y="4023360"/>
            <a:ext cx="3611880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46136" y="4133088"/>
            <a:ext cx="36118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3314E"/>
                </a:solidFill>
                <a:latin typeface="Helvetica Neue"/>
                <a:ea typeface="PingFang SC"/>
                <a:cs typeface="Helvetica Neue"/>
              </a:rPr>
              <a:t>06  外包/供应链与外销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52525"/>
                </a:solidFill>
                <a:latin typeface="Helvetica Neue"/>
                <a:ea typeface="PingFang SC"/>
                <a:cs typeface="Helvetica Neue"/>
              </a:rPr>
              <a:t>劳务外包费用升至 6,802.65 万；境外占比 43.65%，汇率与供应链风险并存。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55664"/>
            <a:ext cx="11185855" cy="63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来源：招股说明书/上市保荐书/上市公告书（底稿 S1/S2/S5）；暖赤为当前最需盯紧的两项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510528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7676"/>
                </a:solidFill>
                <a:latin typeface="Helvetica Neue"/>
                <a:ea typeface="PingFang SC"/>
                <a:cs typeface="Helvetica Neue"/>
              </a:rPr>
              <a:t>宇树科技 688836.SH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sin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"/>
            <a:ext cx="457200" cy="54864"/>
          </a:xfrm>
          <a:prstGeom prst="rect">
            <a:avLst/>
          </a:prstGeom>
          <a:solidFill>
            <a:srgbClr val="7FB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结论：成长仍在，重心从“增速”转向“盈利质量兑现”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DE6F0"/>
                </a:solidFill>
                <a:latin typeface="Helvetica Neue"/>
                <a:ea typeface="PingFang SC"/>
                <a:cs typeface="Helvetica Neue"/>
              </a:rPr>
              <a:t>产品：完成四足→人形的结构切换，人形是下一阶段核心弹性；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DE6F0"/>
                </a:solidFill>
                <a:latin typeface="Helvetica Neue"/>
                <a:ea typeface="PingFang SC"/>
                <a:cs typeface="Helvetica Neue"/>
              </a:rPr>
              <a:t>盈利：扣非盈利能力强（2025 扣非净利率 34.8%、毛利率 60.13%），但费用扩张使 2026 扣非承压；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DDE6F0"/>
                </a:solidFill>
                <a:latin typeface="Helvetica Neue"/>
                <a:ea typeface="PingFang SC"/>
                <a:cs typeface="Helvetica Neue"/>
              </a:rPr>
              <a:t>跟踪：人形行业场景渗透、募投与制造基地达产进度（规划非已实现）、扣非利润率能否企稳。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  <a:ea typeface="PingFang SC"/>
                <a:cs typeface="Helvetica Neue"/>
              </a:rPr>
              <a:t>资料来源与口径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2CFDF"/>
                </a:solidFill>
                <a:latin typeface="Helvetica Neue"/>
                <a:ea typeface="PingFang SC"/>
                <a:cs typeface="Helvetica Neue"/>
              </a:rPr>
              <a:t>S1 招股说明书（注册稿，上交所 auditId=2178）；S2 上市保荐书（注册稿）；S3 审核落实函回复；S4 招股意向书；S5 上市公告书；S6 发行/投资风险公告；S7 浦银国际、S8 兴业证券、S9 国信证券研报转引；S10 东方财富/证券时报数据中心（交叉核对）；S11 公司官网。
口径：金额除注明外为万元（图表换算亿元）；A=已实现（2023–2025 经审计、2026Q1 经审阅、2026H1 上市公告书披露且未经审计），E=预测；年度采用注册稿口径；资料截止 2026-08-30，其后行情不纳入。本页及全文不构成投资建议。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9FB0C4"/>
                </a:solidFill>
                <a:latin typeface="Helvetica Neue"/>
                <a:ea typeface="PingFang SC"/>
                <a:cs typeface="Helvetica Neue"/>
              </a:rPr>
              <a:t>宇树科技 688836.SH  |  内部汇报  |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