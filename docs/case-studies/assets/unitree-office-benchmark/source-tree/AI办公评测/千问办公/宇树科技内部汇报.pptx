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四足机器人</c:v>
                </c:pt>
              </c:strCache>
            </c:strRef>
          </c:tx>
          <c:spPr>
            <a:solidFill>
              <a:srgbClr val="00C2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1.1938</c:v>
                </c:pt>
                <c:pt idx="1">
                  <c:v>2.3054</c:v>
                </c:pt>
                <c:pt idx="2">
                  <c:v>6.9763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人形机器人</c:v>
                </c:pt>
              </c:strCache>
            </c:strRef>
          </c:tx>
          <c:spPr>
            <a:solidFill>
              <a:srgbClr val="F7B7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0.0297</c:v>
                </c:pt>
                <c:pt idx="1">
                  <c:v>1.073</c:v>
                </c:pt>
                <c:pt idx="2">
                  <c:v>8.6783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组件及其他</c:v>
                </c:pt>
              </c:strCache>
            </c:strRef>
          </c:tx>
          <c:spPr>
            <a:solidFill>
              <a:srgbClr val="5B7A9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0.3519</c:v>
                </c:pt>
                <c:pt idx="1">
                  <c:v>0.4983</c:v>
                </c:pt>
                <c:pt idx="2">
                  <c:v>1.1065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A3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1E3A5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CA3BF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8CA3BF"/>
                    </a:solidFill>
                    <a:latin typeface="Arial"/>
                  </a:rPr>
                  <a:t>亿元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A3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233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CA3B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四足机器人销量(台)</c:v>
                </c:pt>
              </c:strCache>
            </c:strRef>
          </c:tx>
          <c:spPr>
            <a:solidFill>
              <a:srgbClr val="00C2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5F8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3121</c:v>
                </c:pt>
                <c:pt idx="1">
                  <c:v>7136</c:v>
                </c:pt>
                <c:pt idx="2">
                  <c:v>23037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人形机器人销量(台)</c:v>
                </c:pt>
              </c:strCache>
            </c:strRef>
          </c:tx>
          <c:spPr>
            <a:solidFill>
              <a:srgbClr val="F7B7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5F8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412</c:v>
                </c:pt>
                <c:pt idx="2">
                  <c:v>5215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F5F8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A3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1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A3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233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CA3B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营业收入(亿元)</c:v>
                </c:pt>
              </c:strCache>
            </c:strRef>
          </c:tx>
          <c:spPr>
            <a:solidFill>
              <a:srgbClr val="00C2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8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1.5913</c:v>
                </c:pt>
                <c:pt idx="1">
                  <c:v>3.9277</c:v>
                </c:pt>
                <c:pt idx="2">
                  <c:v>16.9927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5F8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A3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1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A3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233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营收YoY(%)</c:v>
                </c:pt>
              </c:strCache>
            </c:strRef>
          </c:tx>
          <c:spPr>
            <a:solidFill>
              <a:srgbClr val="F7B731"/>
            </a:solidFill>
            <a:ln w="38100" cap="flat">
              <a:solidFill>
                <a:srgbClr val="F7B7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7B73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7B731"/>
              </a:solidFill>
              <a:ln w="9525" cap="flat">
                <a:solidFill>
                  <a:srgbClr val="F7B7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146.8</c:v>
                </c:pt>
                <c:pt idx="1">
                  <c:v>332.6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7B73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A3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1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A3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233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主营业务</c:v>
                </c:pt>
              </c:strCache>
            </c:strRef>
          </c:tx>
          <c:spPr>
            <a:solidFill>
              <a:srgbClr val="F5F8FC"/>
            </a:solidFill>
            <a:ln w="38100" cap="flat">
              <a:solidFill>
                <a:srgbClr val="F5F8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F8FC"/>
              </a:solidFill>
              <a:ln w="9525" cap="flat">
                <a:solidFill>
                  <a:srgbClr val="F5F8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44.22</c:v>
                </c:pt>
                <c:pt idx="1">
                  <c:v>56.74</c:v>
                </c:pt>
                <c:pt idx="2">
                  <c:v>60.13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四足机器人</c:v>
                </c:pt>
              </c:strCache>
            </c:strRef>
          </c:tx>
          <c:spPr>
            <a:solidFill>
              <a:srgbClr val="00C2FF"/>
            </a:solidFill>
            <a:ln w="38100" cap="flat">
              <a:solidFill>
                <a:srgbClr val="00C2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2FF"/>
              </a:solidFill>
              <a:ln w="9525" cap="flat">
                <a:solidFill>
                  <a:srgbClr val="00C2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43.71</c:v>
                </c:pt>
                <c:pt idx="1">
                  <c:v>51.65</c:v>
                </c:pt>
                <c:pt idx="2">
                  <c:v>56.72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人形机器人</c:v>
                </c:pt>
              </c:strCache>
            </c:strRef>
          </c:tx>
          <c:spPr>
            <a:solidFill>
              <a:srgbClr val="F7B731"/>
            </a:solidFill>
            <a:ln w="38100" cap="flat">
              <a:solidFill>
                <a:srgbClr val="F7B7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7B731"/>
              </a:solidFill>
              <a:ln w="9525" cap="flat">
                <a:solidFill>
                  <a:srgbClr val="F7B7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87.67</c:v>
                </c:pt>
                <c:pt idx="1">
                  <c:v>69.26</c:v>
                </c:pt>
                <c:pt idx="2">
                  <c:v>63.18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A3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1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A3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233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CA3B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研发费用(百万元)</c:v>
                </c:pt>
              </c:strCache>
            </c:strRef>
          </c:tx>
          <c:spPr>
            <a:solidFill>
              <a:srgbClr val="00C2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5F8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2026H1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49.95</c:v>
                </c:pt>
                <c:pt idx="1">
                  <c:v>70.02</c:v>
                </c:pt>
                <c:pt idx="2">
                  <c:v>144.97</c:v>
                </c:pt>
                <c:pt idx="3">
                  <c:v>135.91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F5F8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A3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1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A3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233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uoqingtao/Desktop/AI办公评测/千问办公/pptx_task/assets/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1F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4101F">
              <a:alpha val="7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内部研究简报　|　资料截止 2026-08-30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" y="187452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宇树科技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49808" y="28529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688836.SH　科创板 · 2026-08-19 上市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8096" y="3310128"/>
            <a:ext cx="2011680" cy="45720"/>
          </a:xfrm>
          <a:prstGeom prst="rect">
            <a:avLst/>
          </a:prstGeom>
          <a:solidFill>
            <a:srgbClr val="F7B731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520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7B7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人形机器人第一股的账本：高增长 · 高毛利 · 高投入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49808" y="40690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B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基于上海证券交易所披露的招股说明书、上市公告书及公司官方公开资料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来源：宇树科技招股说明书(上会稿)/科创板上市公告书，上交所披露　|　数据截止 2026-08-30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TAKEAWAYS · 核心结论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罕见“高增长、高毛利、正现金流”样本；短期核心矛盾是高投入与利润的取舍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F7B73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2823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来源：宇树科技招股说明书(上会稿)/科创板上市公告书，上交所披露　|　数据截止 2026-08-30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326880" y="642823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内部汇报材料 · 不构成投资建议　2/12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2651760" cy="1481328"/>
          </a:xfrm>
          <a:prstGeom prst="roundRect">
            <a:avLst>
              <a:gd name="adj" fmla="val 3704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7282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营业收入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" y="200253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16.99亿元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13232" y="269748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2023-2025 CAGR 226.8%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63163" y="1600200"/>
            <a:ext cx="2651760" cy="1481328"/>
          </a:xfrm>
          <a:prstGeom prst="roundRect">
            <a:avLst>
              <a:gd name="adj" fmla="val 3704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7755" y="17282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扣非归母净利润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27755" y="200253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5D0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5.91亿元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3527755" y="269748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扣非净利率约 34.8%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7686" y="1600200"/>
            <a:ext cx="2651760" cy="1481328"/>
          </a:xfrm>
          <a:prstGeom prst="roundRect">
            <a:avLst>
              <a:gd name="adj" fmla="val 3704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2278" y="17282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主营业务毛利率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42278" y="200253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B7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60.13%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342278" y="269748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同行业可比均值 44.44%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92210" y="1600200"/>
            <a:ext cx="2651760" cy="1481328"/>
          </a:xfrm>
          <a:prstGeom prst="roundRect">
            <a:avLst>
              <a:gd name="adj" fmla="val 3704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56802" y="17282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人形机器人出货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56802" y="200253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5,511台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9156802" y="269748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全球第一 · 销量5,215台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2026H1（未经审计）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37033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营业收入 115,224.56 万元、同比 +48.54%，增速自报告期高位中枢下移；扣非归母净利润 24,393.03 万元、同比 -19.34%。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研发费用同比 +8,203.74 万元、叠加春晚等品牌推广，高投入期利润承压；营收实际数高于招股书预计上限（105,200-112,800 万元）。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864608"/>
            <a:ext cx="11091672" cy="1298448"/>
          </a:xfrm>
          <a:prstGeom prst="roundRect">
            <a:avLst>
              <a:gd name="adj" fmla="val 4225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B7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一句话判断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" y="52852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成长逻辑（人形放量+全栈自研）清晰，估值锚定高成长预期（发行市盈率219.23倍）；跟踪重点是增速中枢、人形毛利率与具身大模型进展。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IPO &amp; CAPITAL · 发行与资本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募资净额59.17亿元、对应市值约609.93亿元，估值锚定高成长预期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F7B73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2823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来源：宇树科技招股说明书(上会稿)/科创板上市公告书，上交所披露　|　数据截止 2026-08-30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326880" y="642823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内部汇报材料 · 不构成投资建议　3/12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7282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发行价格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" y="200253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150.80元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13232" y="263347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新股4,044.6434万股·占10%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63163" y="160020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7755" y="17282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发行后市值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27755" y="200253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609.93亿元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27755" y="263347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上市标准：市值≥100亿元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7686" y="160020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2278" y="17282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发行市盈率(扣非孰低)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42278" y="200253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B7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219.23x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342278" y="263347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行业平均静态PE 38.56x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92210" y="160020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56802" y="17282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P/S (2025, 按底稿测算)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56802" y="200253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B7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≈35.9x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9156802" y="263347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市值/2025营收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6928" y="3310128"/>
            <a:ext cx="6949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募集资金总额 609,932.22 万元、净额 591,714.92 万元，高于拟使用募集资金 420,171.12 万元；募投以智能机器人模型/本体研发为主（合计约31.32亿元）。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战略配售占20%：全国社保基金、深度求索（锁定36个月）、昆仑资本、南网产融、天翼资本、启善投资（腾讯关联）、中证投资跟投、员工资管计划。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特别表决权安排：王兴兴发行前表决权68.7816%，发行后降至≤65.3090%；每股特别表决权10票。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发行前最后一轮（2025-06）投后估值127亿元；发行后市值约为其4.8倍（按底稿测算）。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63840" y="3310128"/>
            <a:ext cx="3776472" cy="2834640"/>
          </a:xfrm>
          <a:prstGeom prst="roundRect">
            <a:avLst>
              <a:gd name="adj" fmla="val 1935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34381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发行费用明细（不含税）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0" y="3767328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承销及保荐费　14,499.32 万元
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审计及验资费　1,828.30 万元
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律师费　1,100.00 万元
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信息披露费　603.77 万元
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　185.91 万元
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7B7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　18,217.31 万元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 MIX · 产品结构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2025年人形机器人收入占比51.78%，首次超越四足成为第一收入来源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F7B73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2823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来源：宇树科技招股说明书(上会稿)/科创板上市公告书，上交所披露　|　数据截止 2026-08-30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326880" y="642823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内部汇报材料 · 不构成投资建议　4/12</a:t>
            </a:r>
            <a:endParaRPr lang="en-US" sz="8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55448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498080" y="1554480"/>
            <a:ext cx="4142232" cy="4480560"/>
          </a:xfrm>
          <a:prstGeom prst="roundRect">
            <a:avLst>
              <a:gd name="adj" fmla="val 1325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主营业务收入构成（占比）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680960" y="2057400"/>
            <a:ext cx="3794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2025：人形 86,783.19 万元（51.78%）＞四足 69,762.56 万元（41.62%）＞组件 10,373.67 万元（6.19%）
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2024：四足 59.47% ＞ 人形 27.68%
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2023：四足 75.78%，人形仅 1.88%（H1首年面市，销量5台）
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7B7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结构切换是毛利率与估值叙事的核心驱动。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VOLUME &amp; PRICE · 量价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“降本—降价—放量”在两条产品线均得到验证：四足累计超33,000台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F7B73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2823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来源：宇树科技招股说明书(上会稿)/科创板上市公告书，上交所披露　|　数据截止 2026-08-30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326880" y="642823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内部汇报材料 · 不构成投资建议　5/12</a:t>
            </a:r>
            <a:endParaRPr lang="en-US" sz="8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55448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498080" y="1554480"/>
            <a:ext cx="4142232" cy="2121408"/>
          </a:xfrm>
          <a:prstGeom prst="roundRect">
            <a:avLst>
              <a:gd name="adj" fmla="val 2586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0" y="16824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平均单价走势（万元/台）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680960" y="2057400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四足：3.83 → 3.23 → 3.03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人形：59.34 → 26.04 → 16.64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98080" y="3858768"/>
            <a:ext cx="4142232" cy="2176272"/>
          </a:xfrm>
          <a:prstGeom prst="roundRect">
            <a:avLst>
              <a:gd name="adj" fmla="val 2521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0" y="3986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B7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产销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680960" y="4315968"/>
            <a:ext cx="3794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人形销量5,215台、出货5,511台（全球第一）；出货＞销量系部分尚未签收验收。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四足销量23,037台，报告期累计超33,000台。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GROWTH · 收入与盈利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营收CAGR 226.8%至16.99亿元；2025扣非归母5.91亿元，扭亏后快速放大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F7B73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2823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来源：宇树科技招股说明书(上会稿)/科创板上市公告书，上交所披露　|　数据截止 2026-08-30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326880" y="642823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内部汇报材料 · 不构成投资建议　6/12</a:t>
            </a:r>
            <a:endParaRPr lang="en-US" sz="8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554480"/>
          <a:ext cx="5486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6172200" y="1554480"/>
          <a:ext cx="5468112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口径提示：2025年归母净利润27,821.05万元与扣非59,075.28万元差异主因股份支付34,906.55万元（非经常性、无现金流出）；2024归母9,547.47万元、2023归母-1,114.51万元。盈利能力分析以扣非口径为主。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· 盈利质量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主营业务毛利率升至60.13%、普遍高于同行；2025经营现金流≈扣非净利1.13倍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F7B73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2823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来源：宇树科技招股说明书(上会稿)/科创板上市公告书，上交所披露　|　数据截止 2026-08-30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326880" y="642823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内部汇报材料 · 不构成投资建议　7/12</a:t>
            </a:r>
            <a:endParaRPr lang="en-US" sz="8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55448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7498080" y="1600200"/>
            <a:ext cx="41605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2025综合毛利率60.44% vs 同行业均值44.44%（优必选37.67%、越疆46.49%、云深处52.83%、乐聚40.78%）。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人形毛利率87.67%→63.18%：G1成为主力（单价/成本/毛利率低于H1）+主动降价巩固地位。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四足毛利率43.71%→56.72%：工艺/采购降本+B2等行业级产品占比提升。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2025销售费用率8.31% vs 行业均值23.88%，规模效应与品牌拉力突出。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2025经营活动现金流净额66,998.18万元，盈利现金含量高。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INTERIM · 中期跟踪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增速中枢下移+高投入挤压利润：2026H1营收+48.5%、扣非-19.3%（未经审计）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F7B73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2823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来源：宇树科技招股说明书(上会稿)/科创板上市公告书，上交所披露　|　数据截止 2026-08-30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326880" y="642823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内部汇报材料 · 不构成投资建议　8/12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3593592" cy="1371600"/>
          </a:xfrm>
          <a:prstGeom prst="roundRect">
            <a:avLst>
              <a:gd name="adj" fmla="val 4000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728216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2026Q1 营收YoY（审阅）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" y="2002536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+68.49%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13232" y="2587752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扣非归母 4,025.36 万元、-52.55%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25112" y="1600200"/>
            <a:ext cx="3593592" cy="1371600"/>
          </a:xfrm>
          <a:prstGeom prst="roundRect">
            <a:avLst>
              <a:gd name="adj" fmla="val 4000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9704" y="1728216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2026H1 营收（未审计）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89704" y="2002536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11.52亿元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4489704" y="2587752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 +48.54%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01584" y="1600200"/>
            <a:ext cx="3593592" cy="1371600"/>
          </a:xfrm>
          <a:prstGeom prst="roundRect">
            <a:avLst>
              <a:gd name="adj" fmla="val 4000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6176" y="1728216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2026H1 扣非归母（未审计）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66176" y="2002536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7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2.44亿元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8266176" y="2587752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 -19.34%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154680"/>
            <a:ext cx="3593592" cy="1371600"/>
          </a:xfrm>
          <a:prstGeom prst="roundRect">
            <a:avLst>
              <a:gd name="adj" fmla="val 4000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282696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2026H1 归母（未审计）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" y="3557016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5D0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2.74亿元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713232" y="4142232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上年同期 -3,202.45 万元(含股份支付)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25112" y="3154680"/>
            <a:ext cx="3593592" cy="1371600"/>
          </a:xfrm>
          <a:prstGeom prst="roundRect">
            <a:avLst>
              <a:gd name="adj" fmla="val 4000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9704" y="3282696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2026H1 经营现金流（未审计）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89704" y="3557016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B7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2.32亿元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4489704" y="4142232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 -32.53%（备货+费用付现）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01584" y="3154680"/>
            <a:ext cx="3593592" cy="1371600"/>
          </a:xfrm>
          <a:prstGeom prst="roundRect">
            <a:avLst>
              <a:gd name="adj" fmla="val 4000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66176" y="3282696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2026H1 研发费用（未审计）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66176" y="3557016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B7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1.36亿元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8266176" y="4142232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 +8,203.74 万元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4709160"/>
            <a:ext cx="11091672" cy="1463040"/>
          </a:xfrm>
          <a:prstGeom prst="roundRect">
            <a:avLst>
              <a:gd name="adj" fmla="val 3750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B7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 vs 实际（招股书预计为管理层估计，不构成盈利预测）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9808" y="51206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预计营收105,200-112,800万元 → 实际115,224.56万元，高于预计上限；预计扣非23,600-28,300万元 → 实际24,393.03万元，区间内。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利润承压主因：研发加大（本体/具身大模型/运动控制）+ 2026央视春晚等品牌推广带来的销售费用大增。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R&amp;D · 研发投入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累计研发2.65亿元、由“本体+小脑”走向“大脑”；募投42.02亿元聚焦模型与本体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F7B73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2823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来源：宇树科技招股说明书(上会稿)/科创板上市公告书，上交所披露　|　数据截止 2026-08-30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326880" y="642823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内部汇报材料 · 不构成投资建议　9/12</a:t>
            </a:r>
            <a:endParaRPr lang="en-US" sz="8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55448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309360" y="1600200"/>
            <a:ext cx="5349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研发费用率31.39%→17.83%→8.53%（收入放大）；2026H1约11.8%（按底稿测算），投入再提速。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截至2025年末研发人员184人、占516人的35.66%；截至2026-01-31注册专利262项（境内发明专利20项）。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2024年起加强具身大模型投入，2025年下半年发布自研通用WMA与VLA模型；尚未规模化应用于产品，自有工厂试点验证。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募投：模型研发202,245.93万元、本体研发110,973.80万元、新产品开发44,540.00万元、制造基地62,411.39万元。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风险口：专利数量偏少；大规模数据采集与场景实训尚未展开。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MOAT · 竞争优势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全栈自研+性能标杆+全球市场地位，构成高毛利、低销售费用率的护城河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F7B73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2823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来源：宇树科技招股说明书(上会稿)/科创板上市公告书，上交所披露　|　数据截止 2026-08-30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326880" y="642823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内部汇报材料 · 不构成投资建议　10/12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00200"/>
            <a:ext cx="6035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全栈自研：电机、减速器、灵巧手、激光雷达、关节模组、能源/计算/运动控制/感知系统，成本与集成度领先。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性能标杆：H1奔跑2025年超5米/秒、2026年达10米/秒，连续刷新全尺寸人形世界纪录；2025春晚16台H1《秧BOT》、2026年初24台G1+1台H2《武BOT》；首届世界机器人运动会11枚奖牌（金牌/总奖牌数最多）。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市场地位：四足报告期累计销量超33,000台；2025人形出货全球第一；境外收入占比超40%。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高性价比+生态：科研/消费广覆盖、客户集中度低（前五大12.08%）；战投引入社保基金、深度求索、腾讯关联等。</a:t>
            </a:r>
            <a:endParaRPr lang="en-US" sz="1200" dirty="0"/>
          </a:p>
        </p:txBody>
      </p:sp>
      <p:pic>
        <p:nvPicPr>
          <p:cNvPr id="10" name="Image 0" descr="/Users/guoqingtao/Desktop/AI办公评测/千问办公/pptx_task/assets/spri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1554480"/>
            <a:ext cx="4736592" cy="266090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903720" y="4215384"/>
            <a:ext cx="4736592" cy="2743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2" name="Text 9"/>
          <p:cNvSpPr/>
          <p:nvPr/>
        </p:nvSpPr>
        <p:spPr>
          <a:xfrm>
            <a:off x="6903720" y="4242816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H1：10米/秒奔跑速度（2026），全尺寸人形世界纪录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903720" y="4553712"/>
            <a:ext cx="4736592" cy="1618488"/>
          </a:xfrm>
          <a:prstGeom prst="roundRect">
            <a:avLst>
              <a:gd name="adj" fmla="val 3390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86600" y="466344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7B7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60.44%　</a:t>
            </a:r>
            <a:pPr indent="0" marL="0">
              <a:buNone/>
            </a:pPr>
            <a:r>
              <a:rPr lang="en-US" sz="9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2025综合毛利率，高于全部同行可比公司
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8.31%　</a:t>
            </a:r>
            <a:pPr indent="0" marL="0">
              <a:buNone/>
            </a:pPr>
            <a:r>
              <a:rPr lang="en-US" sz="9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2025销售费用率，行业均值23.88%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OUTLOOK · 增长变量与风险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成长期权在具身大模型与场景渗透；风险在增速、竞争、贸易与治理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F7B73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2823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来源：宇树科技招股说明书(上会稿)/科创板上市公告书，上交所披露　|　数据截止 2026-08-30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326880" y="642823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内部汇报材料 · 不构成投资建议　11/12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5449824" cy="4617720"/>
          </a:xfrm>
          <a:prstGeom prst="roundRect">
            <a:avLst>
              <a:gd name="adj" fmla="val 1188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6824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增长变量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2084832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人形机器人下游场景渗透（科研、表演、巡检救援、智能服务等），2026H1人形收入仍较快增长。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具身大模型（WMA/VLA）突破与数据采集、场景实训投入，决定工业/服务/家庭大市场期权。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制造基地扩产+超募资金弹性；“降本—降价—放量”路径由四足向人形复制。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0488" y="1554480"/>
            <a:ext cx="5449824" cy="4617720"/>
          </a:xfrm>
          <a:prstGeom prst="roundRect">
            <a:avLst>
              <a:gd name="adj" fmla="val 1188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16824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主要风险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91656" y="2084832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增速放缓与业绩波动：2026Q1扣非-52.55%；租赁等短期需求热度或退潮。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竞争加剧：特斯拉Optimus Gen-3小批量试产；国内整车/消费电子企业入局；人形毛利率已降至63.18%。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贸易管制：FCC 2026-07-28新规限制新型号认证；2025美国收入占13.30%；约20%原材料经代理进口。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治理与估值：特别表决权集中；后续股份支付将再增费用；上市初期流通股仅7.44%、PE 219.23倍。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 · 结论与口径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成长逻辑清晰、短期看投入与利润取舍；估值兑现要求高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F7B73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2823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来源：宇树科技招股说明书(上会稿)/科创板上市公告书，上交所披露　|　数据截止 2026-08-30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326880" y="642823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内部汇报材料 · 不构成投资建议　12/12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572768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定位：通用机器人行业少有的“高增长、高毛利、正现金流”样本；2025人形出货全球第一，全栈自研构筑成本与性能优势。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矛盾：高投入期（研发+品牌）挤压短期利润，增速中枢自226.8%下移至2026H1的48.5%；人形毛利率下行待观察。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跟踪：人形放量与毛利率企稳、具身大模型规模化进展、海外贸易政策、股份支付后续确认。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1091672" cy="1417320"/>
          </a:xfrm>
          <a:prstGeom prst="roundRect">
            <a:avLst>
              <a:gd name="adj" fmla="val 3871"/>
            </a:avLst>
          </a:prstGeom>
          <a:solidFill>
            <a:srgbClr val="10233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822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B7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数据口径（重要）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411480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2023-2025经审计（容诚审字[2026]230Z1692号）；2026Q1经审阅；2026H1未经审计；招股书2026H1预计数据仅为管理层估计、不构成盈利预测。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7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本材料仅基于上交所披露文件整理，供内部讨论，不构成投资建议。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5257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主要来源：</a:t>
            </a:r>
            <a:pPr indent="0" marL="0">
              <a:buNone/>
            </a:pPr>
            <a:r>
              <a:rPr lang="en-US" sz="950" dirty="0">
                <a:solidFill>
                  <a:srgbClr val="8CA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[1]上市公告书(2026-08-18, 上交所披露)　[2]招股说明书(上会稿, 上交所披露)　[3]注册批复 证监许可〔2026〕1612号　[4]审计/审阅报告(容诚)　[5]上市公告书附件二 2026年1-6月报表(未经审计)　[6]配套《宇树科技经营与财务分析底稿.xlsx》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宇树科技(688836.SH)内部研究简报</dc:title>
  <dc:subject>PptxGenJS Presentation</dc:subject>
  <dc:creator>QwenWork</dc:creator>
  <cp:lastModifiedBy>QwenWork</cp:lastModifiedBy>
  <cp:revision>1</cp:revision>
  <dcterms:created xsi:type="dcterms:W3CDTF">2026-09-03T22:14:57Z</dcterms:created>
  <dcterms:modified xsi:type="dcterms:W3CDTF">2026-09-03T22:14:57Z</dcterms:modified>
</cp:coreProperties>
</file>